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81" r:id="rId2"/>
    <p:sldId id="257" r:id="rId3"/>
    <p:sldId id="258" r:id="rId4"/>
    <p:sldId id="259" r:id="rId5"/>
    <p:sldId id="260" r:id="rId6"/>
    <p:sldId id="261" r:id="rId7"/>
    <p:sldId id="266" r:id="rId8"/>
    <p:sldId id="274" r:id="rId9"/>
    <p:sldId id="275" r:id="rId10"/>
    <p:sldId id="276" r:id="rId11"/>
    <p:sldId id="277" r:id="rId12"/>
    <p:sldId id="278" r:id="rId13"/>
    <p:sldId id="279" r:id="rId14"/>
    <p:sldId id="280" r:id="rId15"/>
    <p:sldId id="262" r:id="rId16"/>
    <p:sldId id="263" r:id="rId17"/>
    <p:sldId id="264" r:id="rId18"/>
    <p:sldId id="265"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0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00AF0D-2CE3-8A4A-6E6B-A2194CDB0471}"/>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F485A60D-E4D2-0715-E293-EE4040292B39}"/>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6002FA3E-4753-4B67-BB4B-9C8589300EAD}" type="datetimeFigureOut">
              <a:rPr lang="en-AU" smtClean="0"/>
              <a:t>9/05/2026</a:t>
            </a:fld>
            <a:endParaRPr lang="en-AU"/>
          </a:p>
        </p:txBody>
      </p:sp>
      <p:sp>
        <p:nvSpPr>
          <p:cNvPr id="4" name="Footer Placeholder 3">
            <a:extLst>
              <a:ext uri="{FF2B5EF4-FFF2-40B4-BE49-F238E27FC236}">
                <a16:creationId xmlns:a16="http://schemas.microsoft.com/office/drawing/2014/main" id="{76A82A76-27AC-8557-2C00-183177991CDA}"/>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C1A96B3F-3F89-6389-3F39-3AF837030C09}"/>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BB14741F-908B-449F-A5B5-7A31C22F4050}" type="slidenum">
              <a:rPr lang="en-AU" smtClean="0"/>
              <a:t>‹#›</a:t>
            </a:fld>
            <a:endParaRPr lang="en-AU"/>
          </a:p>
        </p:txBody>
      </p:sp>
    </p:spTree>
    <p:extLst>
      <p:ext uri="{BB962C8B-B14F-4D97-AF65-F5344CB8AC3E}">
        <p14:creationId xmlns:p14="http://schemas.microsoft.com/office/powerpoint/2010/main" val="42316430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311976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hyperlink" Target="https://cdn.environment.sa.gov.au/environment/docs/DEW2500515-Attachment-1.pdf%5C%3E" TargetMode="External"/><Relationship Id="rId3" Type="http://schemas.openxmlformats.org/officeDocument/2006/relationships/image" Target="../media/image20.jpeg"/><Relationship Id="rId7" Type="http://schemas.openxmlformats.org/officeDocument/2006/relationships/hyperlink" Target="https://www.bom.gov.au/climate/current/annual/aus/2025/%5C%3E"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assets.kpmg.com/content/dam/kpmgsites/au/pdf/2024/australian-retail-outlook-2024.pdf%5C%3E" TargetMode="External"/><Relationship Id="rId11" Type="http://schemas.openxmlformats.org/officeDocument/2006/relationships/hyperlink" Target="https://www.abs.gov.au/statistics/environment/environmental-accounts/water-account-australia/latest-release%5C%3E" TargetMode="External"/><Relationship Id="rId5" Type="http://schemas.openxmlformats.org/officeDocument/2006/relationships/hyperlink" Target="https://www.abs.gov.au/statistics/industry/agriculture/australian-agriculture-horticulture/latest-release%5C%3E" TargetMode="External"/><Relationship Id="rId10" Type="http://schemas.openxmlformats.org/officeDocument/2006/relationships/hyperlink" Target="https://www.climatecouncil.org.au/resources/foodsecurityreport2015/%5C%3E" TargetMode="External"/><Relationship Id="rId4" Type="http://schemas.openxmlformats.org/officeDocument/2006/relationships/hyperlink" Target="https://www.abs.gov.au/statistics/industry/retail-and-wholesale-trade/retail-trade-australia/mar-2025%5C%3E" TargetMode="External"/><Relationship Id="rId9" Type="http://schemas.openxmlformats.org/officeDocument/2006/relationships/hyperlink" Target="https://www.mdba.gov.au/publications-and-data/publications/summary-outlook-basin%5C%3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Placeholder 4" descr="Close-up of a green field">
            <a:extLst>
              <a:ext uri="{FF2B5EF4-FFF2-40B4-BE49-F238E27FC236}">
                <a16:creationId xmlns:a16="http://schemas.microsoft.com/office/drawing/2014/main" id="{78649137-55CB-B796-D072-307E1AB1D458}"/>
              </a:ext>
            </a:extLst>
          </p:cNvPr>
          <p:cNvPicPr>
            <a:picLocks noChangeAspect="1"/>
          </p:cNvPicPr>
          <p:nvPr/>
        </p:nvPicPr>
        <p:blipFill>
          <a:blip r:embed="rId2"/>
          <a:srcRect t="18"/>
          <a:stretch>
            <a:fillRect/>
          </a:stretch>
        </p:blipFill>
        <p:spPr>
          <a:xfrm>
            <a:off x="20" y="961"/>
            <a:ext cx="9143980" cy="5142539"/>
          </a:xfrm>
          <a:prstGeom prst="rect">
            <a:avLst/>
          </a:prstGeom>
        </p:spPr>
      </p:pic>
      <p:sp>
        <p:nvSpPr>
          <p:cNvPr id="3" name="TextBox 2">
            <a:extLst>
              <a:ext uri="{FF2B5EF4-FFF2-40B4-BE49-F238E27FC236}">
                <a16:creationId xmlns:a16="http://schemas.microsoft.com/office/drawing/2014/main" id="{4DFFEE69-4EB9-0021-09C7-76D7EC405F22}"/>
              </a:ext>
            </a:extLst>
          </p:cNvPr>
          <p:cNvSpPr txBox="1"/>
          <p:nvPr/>
        </p:nvSpPr>
        <p:spPr>
          <a:xfrm>
            <a:off x="196851" y="130810"/>
            <a:ext cx="3003550" cy="369332"/>
          </a:xfrm>
          <a:prstGeom prst="rect">
            <a:avLst/>
          </a:prstGeom>
          <a:solidFill>
            <a:schemeClr val="accent6">
              <a:lumMod val="75000"/>
            </a:schemeClr>
          </a:solidFill>
          <a:ln w="12700">
            <a:solidFill>
              <a:srgbClr val="92D050"/>
            </a:solidFill>
          </a:ln>
        </p:spPr>
        <p:txBody>
          <a:bodyPr wrap="square" rtlCol="0">
            <a:spAutoFit/>
          </a:bodyPr>
          <a:lstStyle/>
          <a:p>
            <a:r>
              <a:rPr lang="en-US" dirty="0">
                <a:solidFill>
                  <a:schemeClr val="bg1"/>
                </a:solidFill>
              </a:rPr>
              <a:t>KAPLAN BUSINESS SCHOOL</a:t>
            </a:r>
          </a:p>
        </p:txBody>
      </p:sp>
      <p:sp>
        <p:nvSpPr>
          <p:cNvPr id="4" name="TextBox 3">
            <a:extLst>
              <a:ext uri="{FF2B5EF4-FFF2-40B4-BE49-F238E27FC236}">
                <a16:creationId xmlns:a16="http://schemas.microsoft.com/office/drawing/2014/main" id="{B3813DC7-5884-67E8-F135-E7DE06389D66}"/>
              </a:ext>
            </a:extLst>
          </p:cNvPr>
          <p:cNvSpPr txBox="1"/>
          <p:nvPr/>
        </p:nvSpPr>
        <p:spPr>
          <a:xfrm>
            <a:off x="285509" y="1125200"/>
            <a:ext cx="8680450" cy="1446550"/>
          </a:xfrm>
          <a:prstGeom prst="rect">
            <a:avLst/>
          </a:prstGeom>
          <a:noFill/>
        </p:spPr>
        <p:txBody>
          <a:bodyPr wrap="square" rtlCol="0">
            <a:spAutoFit/>
          </a:bodyPr>
          <a:lstStyle/>
          <a:p>
            <a:r>
              <a:rPr lang="en-US" sz="4400" dirty="0">
                <a:solidFill>
                  <a:schemeClr val="bg1"/>
                </a:solidFill>
              </a:rPr>
              <a:t>Forecasting Fresh Food </a:t>
            </a:r>
          </a:p>
          <a:p>
            <a:r>
              <a:rPr lang="en-US" sz="4400" dirty="0">
                <a:solidFill>
                  <a:schemeClr val="bg1"/>
                </a:solidFill>
              </a:rPr>
              <a:t>Supply Disruptions in SA Retail</a:t>
            </a:r>
            <a:endParaRPr lang="en-AU" sz="4400" dirty="0"/>
          </a:p>
        </p:txBody>
      </p:sp>
      <p:sp>
        <p:nvSpPr>
          <p:cNvPr id="5" name="TextBox 4">
            <a:extLst>
              <a:ext uri="{FF2B5EF4-FFF2-40B4-BE49-F238E27FC236}">
                <a16:creationId xmlns:a16="http://schemas.microsoft.com/office/drawing/2014/main" id="{C6B335F8-D620-A1D8-C3DA-1C7794462BBA}"/>
              </a:ext>
            </a:extLst>
          </p:cNvPr>
          <p:cNvSpPr txBox="1"/>
          <p:nvPr/>
        </p:nvSpPr>
        <p:spPr>
          <a:xfrm>
            <a:off x="285509" y="2766322"/>
            <a:ext cx="5926315" cy="369332"/>
          </a:xfrm>
          <a:prstGeom prst="rect">
            <a:avLst/>
          </a:prstGeom>
          <a:noFill/>
        </p:spPr>
        <p:txBody>
          <a:bodyPr wrap="square" rtlCol="0">
            <a:spAutoFit/>
          </a:bodyPr>
          <a:lstStyle/>
          <a:p>
            <a:r>
              <a:rPr lang="en-AU" dirty="0">
                <a:solidFill>
                  <a:srgbClr val="92D050"/>
                </a:solidFill>
              </a:rPr>
              <a:t>Methodology Summary – DATA 6000 Capstone T1 2026 A2</a:t>
            </a:r>
          </a:p>
        </p:txBody>
      </p:sp>
      <p:cxnSp>
        <p:nvCxnSpPr>
          <p:cNvPr id="6" name="Straight Connector 5">
            <a:extLst>
              <a:ext uri="{FF2B5EF4-FFF2-40B4-BE49-F238E27FC236}">
                <a16:creationId xmlns:a16="http://schemas.microsoft.com/office/drawing/2014/main" id="{B50A6719-D079-739C-7A17-CBDA55324A74}"/>
              </a:ext>
            </a:extLst>
          </p:cNvPr>
          <p:cNvCxnSpPr>
            <a:cxnSpLocks/>
          </p:cNvCxnSpPr>
          <p:nvPr/>
        </p:nvCxnSpPr>
        <p:spPr>
          <a:xfrm>
            <a:off x="375044" y="3307080"/>
            <a:ext cx="5431396" cy="0"/>
          </a:xfrm>
          <a:prstGeom prst="line">
            <a:avLst/>
          </a:prstGeom>
          <a:ln w="28575">
            <a:solidFill>
              <a:srgbClr val="92D050"/>
            </a:solidFill>
          </a:ln>
        </p:spPr>
        <p:style>
          <a:lnRef idx="1">
            <a:schemeClr val="accent5"/>
          </a:lnRef>
          <a:fillRef idx="0">
            <a:schemeClr val="accent5"/>
          </a:fillRef>
          <a:effectRef idx="0">
            <a:schemeClr val="accent5"/>
          </a:effectRef>
          <a:fontRef idx="minor">
            <a:schemeClr val="tx1"/>
          </a:fontRef>
        </p:style>
      </p:cxnSp>
      <p:sp>
        <p:nvSpPr>
          <p:cNvPr id="8" name="TextBox 7">
            <a:extLst>
              <a:ext uri="{FF2B5EF4-FFF2-40B4-BE49-F238E27FC236}">
                <a16:creationId xmlns:a16="http://schemas.microsoft.com/office/drawing/2014/main" id="{D0A9E49D-E241-4B52-883F-BF72665B76E4}"/>
              </a:ext>
            </a:extLst>
          </p:cNvPr>
          <p:cNvSpPr txBox="1"/>
          <p:nvPr/>
        </p:nvSpPr>
        <p:spPr>
          <a:xfrm>
            <a:off x="375044" y="3528060"/>
            <a:ext cx="4993627" cy="1477328"/>
          </a:xfrm>
          <a:prstGeom prst="rect">
            <a:avLst/>
          </a:prstGeom>
          <a:noFill/>
        </p:spPr>
        <p:txBody>
          <a:bodyPr wrap="square" rtlCol="0">
            <a:spAutoFit/>
          </a:bodyPr>
          <a:lstStyle/>
          <a:p>
            <a:r>
              <a:rPr lang="en-AU" b="1" dirty="0">
                <a:solidFill>
                  <a:schemeClr val="accent6">
                    <a:lumMod val="40000"/>
                    <a:lumOff val="60000"/>
                  </a:schemeClr>
                </a:solidFill>
              </a:rPr>
              <a:t>Student Name: Amali Wariyapperuma </a:t>
            </a:r>
          </a:p>
          <a:p>
            <a:r>
              <a:rPr lang="en-AU" b="1" dirty="0">
                <a:solidFill>
                  <a:schemeClr val="accent6">
                    <a:lumMod val="40000"/>
                    <a:lumOff val="60000"/>
                  </a:schemeClr>
                </a:solidFill>
              </a:rPr>
              <a:t>Student Id: 1845046</a:t>
            </a:r>
          </a:p>
          <a:p>
            <a:r>
              <a:rPr lang="en-AU" b="1" dirty="0">
                <a:solidFill>
                  <a:schemeClr val="accent6">
                    <a:lumMod val="40000"/>
                    <a:lumOff val="60000"/>
                  </a:schemeClr>
                </a:solidFill>
              </a:rPr>
              <a:t>Lecturer/Supervisor: Dr. Indu Bala</a:t>
            </a:r>
          </a:p>
          <a:p>
            <a:r>
              <a:rPr lang="en-AU" b="1" dirty="0">
                <a:solidFill>
                  <a:schemeClr val="accent6">
                    <a:lumMod val="40000"/>
                    <a:lumOff val="60000"/>
                  </a:schemeClr>
                </a:solidFill>
              </a:rPr>
              <a:t>Submission: 09/05/2026</a:t>
            </a:r>
          </a:p>
          <a:p>
            <a:endParaRPr lang="en-AU" dirty="0"/>
          </a:p>
        </p:txBody>
      </p:sp>
      <p:sp>
        <p:nvSpPr>
          <p:cNvPr id="11" name="TextBox 10">
            <a:extLst>
              <a:ext uri="{FF2B5EF4-FFF2-40B4-BE49-F238E27FC236}">
                <a16:creationId xmlns:a16="http://schemas.microsoft.com/office/drawing/2014/main" id="{A44F0B9F-E370-0936-CED6-A5C0A53E786E}"/>
              </a:ext>
            </a:extLst>
          </p:cNvPr>
          <p:cNvSpPr txBox="1"/>
          <p:nvPr/>
        </p:nvSpPr>
        <p:spPr>
          <a:xfrm>
            <a:off x="8770620" y="4831080"/>
            <a:ext cx="114300" cy="215444"/>
          </a:xfrm>
          <a:prstGeom prst="rect">
            <a:avLst/>
          </a:prstGeom>
          <a:noFill/>
        </p:spPr>
        <p:txBody>
          <a:bodyPr wrap="square" rtlCol="0">
            <a:spAutoFit/>
          </a:bodyPr>
          <a:lstStyle/>
          <a:p>
            <a:r>
              <a:rPr lang="en-AU" sz="800" dirty="0"/>
              <a:t>1</a:t>
            </a:r>
            <a:endParaRPr lang="en-AU" dirty="0"/>
          </a:p>
        </p:txBody>
      </p:sp>
    </p:spTree>
    <p:extLst>
      <p:ext uri="{BB962C8B-B14F-4D97-AF65-F5344CB8AC3E}">
        <p14:creationId xmlns:p14="http://schemas.microsoft.com/office/powerpoint/2010/main" val="889292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8"/>
        </a:solidFill>
        <a:effectLst/>
      </p:bgPr>
    </p:bg>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9C768A7-9E53-7D12-C40F-250BBAAD82A4}"/>
              </a:ext>
            </a:extLst>
          </p:cNvPr>
          <p:cNvPicPr>
            <a:picLocks noChangeAspect="1"/>
          </p:cNvPicPr>
          <p:nvPr/>
        </p:nvPicPr>
        <p:blipFill>
          <a:blip r:embed="rId3">
            <a:alphaModFix amt="35000"/>
          </a:blip>
          <a:stretch>
            <a:fillRect/>
          </a:stretch>
        </p:blipFill>
        <p:spPr>
          <a:xfrm>
            <a:off x="0" y="0"/>
            <a:ext cx="9144000" cy="5143500"/>
          </a:xfrm>
          <a:prstGeom prst="rect">
            <a:avLst/>
          </a:prstGeom>
        </p:spPr>
      </p:pic>
      <p:sp>
        <p:nvSpPr>
          <p:cNvPr id="2" name="Text 0"/>
          <p:cNvSpPr/>
          <p:nvPr/>
        </p:nvSpPr>
        <p:spPr>
          <a:xfrm>
            <a:off x="274320" y="164592"/>
            <a:ext cx="8595360" cy="438912"/>
          </a:xfrm>
          <a:prstGeom prst="rect">
            <a:avLst/>
          </a:prstGeom>
          <a:noFill/>
          <a:ln/>
        </p:spPr>
        <p:txBody>
          <a:bodyPr wrap="square" lIns="0" tIns="0" rIns="0" bIns="0" rtlCol="0" anchor="ctr"/>
          <a:lstStyle/>
          <a:p>
            <a:pPr marL="0" indent="0">
              <a:buNone/>
            </a:pPr>
            <a:r>
              <a:rPr lang="en-US" sz="2600" b="1" dirty="0">
                <a:solidFill>
                  <a:srgbClr val="1A4A24"/>
                </a:solidFill>
                <a:latin typeface="Calibri" pitchFamily="34" charset="0"/>
                <a:ea typeface="Calibri" pitchFamily="34" charset="-122"/>
                <a:cs typeface="Calibri" pitchFamily="34" charset="-120"/>
              </a:rPr>
              <a:t>Business Problem &amp; Industry Background</a:t>
            </a:r>
            <a:endParaRPr lang="en-US" sz="2600" dirty="0"/>
          </a:p>
        </p:txBody>
      </p:sp>
      <p:sp>
        <p:nvSpPr>
          <p:cNvPr id="3" name="Text 1"/>
          <p:cNvSpPr/>
          <p:nvPr/>
        </p:nvSpPr>
        <p:spPr>
          <a:xfrm>
            <a:off x="274320" y="749808"/>
            <a:ext cx="3931920" cy="237744"/>
          </a:xfrm>
          <a:prstGeom prst="rect">
            <a:avLst/>
          </a:prstGeom>
          <a:noFill/>
          <a:ln/>
        </p:spPr>
        <p:txBody>
          <a:bodyPr wrap="square" lIns="0" tIns="0" rIns="0" bIns="0" rtlCol="0" anchor="ctr"/>
          <a:lstStyle/>
          <a:p>
            <a:pPr marL="0" indent="0">
              <a:buNone/>
            </a:pPr>
            <a:r>
              <a:rPr lang="en-US" sz="1000" b="1" kern="0" spc="100" dirty="0">
                <a:solidFill>
                  <a:srgbClr val="2D8A4E"/>
                </a:solidFill>
              </a:rPr>
              <a:t>SA Retail Industry</a:t>
            </a:r>
            <a:endParaRPr lang="en-US" sz="1000" dirty="0"/>
          </a:p>
        </p:txBody>
      </p:sp>
      <p:sp>
        <p:nvSpPr>
          <p:cNvPr id="4" name="Shape 2"/>
          <p:cNvSpPr/>
          <p:nvPr/>
        </p:nvSpPr>
        <p:spPr>
          <a:xfrm>
            <a:off x="274320" y="1042416"/>
            <a:ext cx="3931920" cy="548640"/>
          </a:xfrm>
          <a:prstGeom prst="rect">
            <a:avLst/>
          </a:prstGeom>
          <a:solidFill>
            <a:srgbClr val="1A4A24"/>
          </a:solidFill>
          <a:ln w="1016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5" name="Text 3"/>
          <p:cNvSpPr/>
          <p:nvPr/>
        </p:nvSpPr>
        <p:spPr>
          <a:xfrm>
            <a:off x="384048" y="1078992"/>
            <a:ext cx="1280160" cy="475488"/>
          </a:xfrm>
          <a:prstGeom prst="rect">
            <a:avLst/>
          </a:prstGeom>
          <a:noFill/>
          <a:ln/>
        </p:spPr>
        <p:txBody>
          <a:bodyPr wrap="square" lIns="0" tIns="0" rIns="0" bIns="0" rtlCol="0" anchor="ctr"/>
          <a:lstStyle/>
          <a:p>
            <a:pPr marL="0" indent="0">
              <a:buNone/>
            </a:pPr>
            <a:r>
              <a:rPr lang="en-US" sz="1800" b="1" dirty="0">
                <a:solidFill>
                  <a:srgbClr val="E8A230"/>
                </a:solidFill>
              </a:rPr>
              <a:t>AUD 551B</a:t>
            </a:r>
            <a:endParaRPr lang="en-US" sz="1800" dirty="0"/>
          </a:p>
        </p:txBody>
      </p:sp>
      <p:sp>
        <p:nvSpPr>
          <p:cNvPr id="6" name="Text 4"/>
          <p:cNvSpPr/>
          <p:nvPr/>
        </p:nvSpPr>
        <p:spPr>
          <a:xfrm>
            <a:off x="1737360" y="1152144"/>
            <a:ext cx="2286000" cy="329184"/>
          </a:xfrm>
          <a:prstGeom prst="rect">
            <a:avLst/>
          </a:prstGeom>
          <a:noFill/>
          <a:ln/>
        </p:spPr>
        <p:txBody>
          <a:bodyPr wrap="square" lIns="0" tIns="0" rIns="0" bIns="0" rtlCol="0" anchor="ctr"/>
          <a:lstStyle/>
          <a:p>
            <a:pPr marL="0" indent="0">
              <a:buNone/>
            </a:pPr>
            <a:r>
              <a:rPr lang="en-US" sz="1000" dirty="0">
                <a:solidFill>
                  <a:srgbClr val="FFFFFF"/>
                </a:solidFill>
              </a:rPr>
              <a:t>SA retail market turnover</a:t>
            </a:r>
            <a:endParaRPr lang="en-US" sz="1000" dirty="0"/>
          </a:p>
        </p:txBody>
      </p:sp>
      <p:sp>
        <p:nvSpPr>
          <p:cNvPr id="7" name="Shape 5"/>
          <p:cNvSpPr/>
          <p:nvPr/>
        </p:nvSpPr>
        <p:spPr>
          <a:xfrm>
            <a:off x="274320" y="1682496"/>
            <a:ext cx="3931920" cy="548640"/>
          </a:xfrm>
          <a:prstGeom prst="rect">
            <a:avLst/>
          </a:prstGeom>
          <a:solidFill>
            <a:srgbClr val="1A4A24"/>
          </a:solidFill>
          <a:ln w="1016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8" name="Text 6"/>
          <p:cNvSpPr/>
          <p:nvPr/>
        </p:nvSpPr>
        <p:spPr>
          <a:xfrm>
            <a:off x="384048" y="1719072"/>
            <a:ext cx="1280160" cy="475488"/>
          </a:xfrm>
          <a:prstGeom prst="rect">
            <a:avLst/>
          </a:prstGeom>
          <a:noFill/>
          <a:ln/>
        </p:spPr>
        <p:txBody>
          <a:bodyPr wrap="square" lIns="0" tIns="0" rIns="0" bIns="0" rtlCol="0" anchor="ctr"/>
          <a:lstStyle/>
          <a:p>
            <a:pPr marL="0" indent="0">
              <a:buNone/>
            </a:pPr>
            <a:r>
              <a:rPr lang="en-US" sz="1800" b="1" dirty="0">
                <a:solidFill>
                  <a:srgbClr val="E8A230"/>
                </a:solidFill>
              </a:rPr>
              <a:t>6,000+</a:t>
            </a:r>
            <a:endParaRPr lang="en-US" sz="1800" dirty="0"/>
          </a:p>
        </p:txBody>
      </p:sp>
      <p:sp>
        <p:nvSpPr>
          <p:cNvPr id="9" name="Text 7"/>
          <p:cNvSpPr/>
          <p:nvPr/>
        </p:nvSpPr>
        <p:spPr>
          <a:xfrm>
            <a:off x="1737360" y="1792224"/>
            <a:ext cx="2286000" cy="329184"/>
          </a:xfrm>
          <a:prstGeom prst="rect">
            <a:avLst/>
          </a:prstGeom>
          <a:noFill/>
          <a:ln/>
        </p:spPr>
        <p:txBody>
          <a:bodyPr wrap="square" lIns="0" tIns="0" rIns="0" bIns="0" rtlCol="0" anchor="ctr"/>
          <a:lstStyle/>
          <a:p>
            <a:pPr marL="0" indent="0">
              <a:buNone/>
            </a:pPr>
            <a:r>
              <a:rPr lang="en-US" sz="1000" dirty="0">
                <a:solidFill>
                  <a:srgbClr val="FFFFFF"/>
                </a:solidFill>
              </a:rPr>
              <a:t>Retail businesses across SA</a:t>
            </a:r>
            <a:endParaRPr lang="en-US" sz="1000" dirty="0"/>
          </a:p>
        </p:txBody>
      </p:sp>
      <p:sp>
        <p:nvSpPr>
          <p:cNvPr id="10" name="Shape 8"/>
          <p:cNvSpPr/>
          <p:nvPr/>
        </p:nvSpPr>
        <p:spPr>
          <a:xfrm>
            <a:off x="274320" y="2322576"/>
            <a:ext cx="3931920" cy="548640"/>
          </a:xfrm>
          <a:prstGeom prst="rect">
            <a:avLst/>
          </a:prstGeom>
          <a:solidFill>
            <a:srgbClr val="1A4A24"/>
          </a:solidFill>
          <a:ln w="1016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11" name="Text 9"/>
          <p:cNvSpPr/>
          <p:nvPr/>
        </p:nvSpPr>
        <p:spPr>
          <a:xfrm>
            <a:off x="384048" y="2359152"/>
            <a:ext cx="1280160" cy="475488"/>
          </a:xfrm>
          <a:prstGeom prst="rect">
            <a:avLst/>
          </a:prstGeom>
          <a:noFill/>
          <a:ln/>
        </p:spPr>
        <p:txBody>
          <a:bodyPr wrap="square" lIns="0" tIns="0" rIns="0" bIns="0" rtlCol="0" anchor="ctr"/>
          <a:lstStyle/>
          <a:p>
            <a:pPr marL="0" indent="0">
              <a:buNone/>
            </a:pPr>
            <a:r>
              <a:rPr lang="en-US" sz="1800" b="1" dirty="0">
                <a:solidFill>
                  <a:srgbClr val="E8A230"/>
                </a:solidFill>
              </a:rPr>
              <a:t>9.2%</a:t>
            </a:r>
            <a:endParaRPr lang="en-US" sz="1800" dirty="0"/>
          </a:p>
        </p:txBody>
      </p:sp>
      <p:sp>
        <p:nvSpPr>
          <p:cNvPr id="12" name="Text 10"/>
          <p:cNvSpPr/>
          <p:nvPr/>
        </p:nvSpPr>
        <p:spPr>
          <a:xfrm>
            <a:off x="1737360" y="2432304"/>
            <a:ext cx="2286000" cy="329184"/>
          </a:xfrm>
          <a:prstGeom prst="rect">
            <a:avLst/>
          </a:prstGeom>
          <a:noFill/>
          <a:ln/>
        </p:spPr>
        <p:txBody>
          <a:bodyPr wrap="square" lIns="0" tIns="0" rIns="0" bIns="0" rtlCol="0" anchor="ctr"/>
          <a:lstStyle/>
          <a:p>
            <a:pPr marL="0" indent="0">
              <a:buNone/>
            </a:pPr>
            <a:r>
              <a:rPr lang="en-US" sz="1000" dirty="0">
                <a:solidFill>
                  <a:srgbClr val="FFFFFF"/>
                </a:solidFill>
              </a:rPr>
              <a:t>CPI peak in FY 2022/23</a:t>
            </a:r>
            <a:endParaRPr lang="en-US" sz="1000" dirty="0"/>
          </a:p>
        </p:txBody>
      </p:sp>
      <p:sp>
        <p:nvSpPr>
          <p:cNvPr id="13" name="Shape 11"/>
          <p:cNvSpPr/>
          <p:nvPr/>
        </p:nvSpPr>
        <p:spPr>
          <a:xfrm>
            <a:off x="274320" y="2962656"/>
            <a:ext cx="3931920" cy="548640"/>
          </a:xfrm>
          <a:prstGeom prst="rect">
            <a:avLst/>
          </a:prstGeom>
          <a:solidFill>
            <a:srgbClr val="1A4A24"/>
          </a:solidFill>
          <a:ln w="1016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14" name="Text 12"/>
          <p:cNvSpPr/>
          <p:nvPr/>
        </p:nvSpPr>
        <p:spPr>
          <a:xfrm>
            <a:off x="384048" y="2999232"/>
            <a:ext cx="1280160" cy="475488"/>
          </a:xfrm>
          <a:prstGeom prst="rect">
            <a:avLst/>
          </a:prstGeom>
          <a:noFill/>
          <a:ln/>
        </p:spPr>
        <p:txBody>
          <a:bodyPr wrap="square" lIns="0" tIns="0" rIns="0" bIns="0" rtlCol="0" anchor="ctr"/>
          <a:lstStyle/>
          <a:p>
            <a:pPr marL="0" indent="0">
              <a:buNone/>
            </a:pPr>
            <a:r>
              <a:rPr lang="en-US" sz="1800" b="1" dirty="0">
                <a:solidFill>
                  <a:srgbClr val="E8A230"/>
                </a:solidFill>
              </a:rPr>
              <a:t>44.9%</a:t>
            </a:r>
            <a:endParaRPr lang="en-US" sz="1800" dirty="0"/>
          </a:p>
        </p:txBody>
      </p:sp>
      <p:sp>
        <p:nvSpPr>
          <p:cNvPr id="15" name="Text 13"/>
          <p:cNvSpPr/>
          <p:nvPr/>
        </p:nvSpPr>
        <p:spPr>
          <a:xfrm>
            <a:off x="1737360" y="3072384"/>
            <a:ext cx="2286000" cy="329184"/>
          </a:xfrm>
          <a:prstGeom prst="rect">
            <a:avLst/>
          </a:prstGeom>
          <a:noFill/>
          <a:ln/>
        </p:spPr>
        <p:txBody>
          <a:bodyPr wrap="square" lIns="0" tIns="0" rIns="0" bIns="0" rtlCol="0" anchor="ctr"/>
          <a:lstStyle/>
          <a:p>
            <a:pPr marL="0" indent="0">
              <a:buNone/>
            </a:pPr>
            <a:r>
              <a:rPr lang="en-US" sz="1000" dirty="0">
                <a:solidFill>
                  <a:srgbClr val="FFFFFF"/>
                </a:solidFill>
              </a:rPr>
              <a:t>Barossa Valley rainfall deficit</a:t>
            </a:r>
            <a:endParaRPr lang="en-US" sz="1000" dirty="0"/>
          </a:p>
        </p:txBody>
      </p:sp>
      <p:sp>
        <p:nvSpPr>
          <p:cNvPr id="16" name="Text 14"/>
          <p:cNvSpPr/>
          <p:nvPr/>
        </p:nvSpPr>
        <p:spPr>
          <a:xfrm>
            <a:off x="4389120" y="749808"/>
            <a:ext cx="4480560" cy="237744"/>
          </a:xfrm>
          <a:prstGeom prst="rect">
            <a:avLst/>
          </a:prstGeom>
          <a:noFill/>
          <a:ln/>
        </p:spPr>
        <p:txBody>
          <a:bodyPr wrap="square" lIns="0" tIns="0" rIns="0" bIns="0" rtlCol="0" anchor="ctr"/>
          <a:lstStyle/>
          <a:p>
            <a:pPr marL="0" indent="0">
              <a:buNone/>
            </a:pPr>
            <a:r>
              <a:rPr lang="en-US" sz="1000" b="1" kern="0" spc="100" dirty="0">
                <a:solidFill>
                  <a:srgbClr val="2D8A4E"/>
                </a:solidFill>
              </a:rPr>
              <a:t>Three problems identified</a:t>
            </a:r>
            <a:endParaRPr lang="en-US" sz="1000" dirty="0"/>
          </a:p>
        </p:txBody>
      </p:sp>
      <p:sp>
        <p:nvSpPr>
          <p:cNvPr id="17" name="Shape 15"/>
          <p:cNvSpPr/>
          <p:nvPr/>
        </p:nvSpPr>
        <p:spPr>
          <a:xfrm>
            <a:off x="4389120" y="1042416"/>
            <a:ext cx="4480560" cy="804672"/>
          </a:xfrm>
          <a:prstGeom prst="rect">
            <a:avLst/>
          </a:prstGeom>
          <a:solidFill>
            <a:srgbClr val="E8EDE8"/>
          </a:solidFill>
          <a:ln w="6350">
            <a:solidFill>
              <a:srgbClr val="C8D4C8"/>
            </a:solidFill>
            <a:prstDash val="solid"/>
          </a:ln>
          <a:effectLst>
            <a:outerShdw blurRad="101600" dist="38100" dir="8100000" algn="bl" rotWithShape="0">
              <a:srgbClr val="000000">
                <a:alpha val="18000"/>
              </a:srgbClr>
            </a:outerShdw>
          </a:effectLst>
        </p:spPr>
        <p:txBody>
          <a:bodyPr/>
          <a:lstStyle/>
          <a:p>
            <a:endParaRPr lang="en-AU"/>
          </a:p>
        </p:txBody>
      </p:sp>
      <p:sp>
        <p:nvSpPr>
          <p:cNvPr id="18" name="Shape 16"/>
          <p:cNvSpPr/>
          <p:nvPr/>
        </p:nvSpPr>
        <p:spPr>
          <a:xfrm>
            <a:off x="4498848" y="1207008"/>
            <a:ext cx="402336" cy="402336"/>
          </a:xfrm>
          <a:prstGeom prst="ellipse">
            <a:avLst/>
          </a:prstGeom>
          <a:solidFill>
            <a:srgbClr val="00B050"/>
          </a:solidFill>
          <a:ln w="12700">
            <a:solidFill>
              <a:srgbClr val="B0C4B0"/>
            </a:solidFill>
            <a:prstDash val="solid"/>
          </a:ln>
        </p:spPr>
        <p:txBody>
          <a:bodyPr/>
          <a:lstStyle/>
          <a:p>
            <a:endParaRPr lang="en-AU">
              <a:solidFill>
                <a:schemeClr val="accent6">
                  <a:lumMod val="75000"/>
                </a:schemeClr>
              </a:solidFill>
            </a:endParaRPr>
          </a:p>
        </p:txBody>
      </p:sp>
      <p:sp>
        <p:nvSpPr>
          <p:cNvPr id="19" name="Text 17"/>
          <p:cNvSpPr/>
          <p:nvPr/>
        </p:nvSpPr>
        <p:spPr>
          <a:xfrm>
            <a:off x="4498848" y="120700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20" name="Text 18"/>
          <p:cNvSpPr/>
          <p:nvPr/>
        </p:nvSpPr>
        <p:spPr>
          <a:xfrm>
            <a:off x="4992624" y="1133856"/>
            <a:ext cx="3749040" cy="256032"/>
          </a:xfrm>
          <a:prstGeom prst="rect">
            <a:avLst/>
          </a:prstGeom>
          <a:noFill/>
          <a:ln/>
        </p:spPr>
        <p:txBody>
          <a:bodyPr wrap="square" lIns="0" tIns="0" rIns="0" bIns="0" rtlCol="0" anchor="ctr"/>
          <a:lstStyle/>
          <a:p>
            <a:pPr marL="0" indent="0">
              <a:buNone/>
            </a:pPr>
            <a:r>
              <a:rPr lang="en-US" sz="1100" b="1" dirty="0">
                <a:solidFill>
                  <a:srgbClr val="3A5A3A"/>
                </a:solidFill>
              </a:rPr>
              <a:t>Price-sensitive customers</a:t>
            </a:r>
            <a:endParaRPr lang="en-US" sz="1100" dirty="0"/>
          </a:p>
        </p:txBody>
      </p:sp>
      <p:sp>
        <p:nvSpPr>
          <p:cNvPr id="21" name="Text 19"/>
          <p:cNvSpPr/>
          <p:nvPr/>
        </p:nvSpPr>
        <p:spPr>
          <a:xfrm>
            <a:off x="4992624" y="1426464"/>
            <a:ext cx="3749040" cy="274320"/>
          </a:xfrm>
          <a:prstGeom prst="rect">
            <a:avLst/>
          </a:prstGeom>
          <a:noFill/>
          <a:ln/>
        </p:spPr>
        <p:txBody>
          <a:bodyPr wrap="square" lIns="0" tIns="0" rIns="0" bIns="0" rtlCol="0" anchor="ctr"/>
          <a:lstStyle/>
          <a:p>
            <a:pPr marL="0" indent="0">
              <a:buNone/>
            </a:pPr>
            <a:r>
              <a:rPr lang="en-US" sz="900" b="1" dirty="0">
                <a:solidFill>
                  <a:schemeClr val="accent6">
                    <a:lumMod val="75000"/>
                  </a:schemeClr>
                </a:solidFill>
              </a:rPr>
              <a:t>Broadly studied — limited SA originality</a:t>
            </a:r>
          </a:p>
        </p:txBody>
      </p:sp>
      <p:sp>
        <p:nvSpPr>
          <p:cNvPr id="22" name="Shape 20"/>
          <p:cNvSpPr/>
          <p:nvPr/>
        </p:nvSpPr>
        <p:spPr>
          <a:xfrm>
            <a:off x="4389120" y="1956816"/>
            <a:ext cx="4480560" cy="804672"/>
          </a:xfrm>
          <a:prstGeom prst="rect">
            <a:avLst/>
          </a:prstGeom>
          <a:solidFill>
            <a:srgbClr val="1A4A24"/>
          </a:solidFill>
          <a:ln w="1905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23" name="Shape 21"/>
          <p:cNvSpPr/>
          <p:nvPr/>
        </p:nvSpPr>
        <p:spPr>
          <a:xfrm>
            <a:off x="4498848" y="2121408"/>
            <a:ext cx="402336" cy="402336"/>
          </a:xfrm>
          <a:prstGeom prst="ellipse">
            <a:avLst/>
          </a:prstGeom>
          <a:solidFill>
            <a:srgbClr val="E8A230"/>
          </a:solidFill>
          <a:ln w="12700">
            <a:solidFill>
              <a:srgbClr val="E8A230"/>
            </a:solidFill>
            <a:prstDash val="solid"/>
          </a:ln>
        </p:spPr>
        <p:txBody>
          <a:bodyPr/>
          <a:lstStyle/>
          <a:p>
            <a:endParaRPr lang="en-AU"/>
          </a:p>
        </p:txBody>
      </p:sp>
      <p:sp>
        <p:nvSpPr>
          <p:cNvPr id="24" name="Text 22"/>
          <p:cNvSpPr/>
          <p:nvPr/>
        </p:nvSpPr>
        <p:spPr>
          <a:xfrm>
            <a:off x="4498848" y="2121408"/>
            <a:ext cx="402336" cy="402336"/>
          </a:xfrm>
          <a:prstGeom prst="rect">
            <a:avLst/>
          </a:prstGeom>
          <a:noFill/>
          <a:ln/>
        </p:spPr>
        <p:txBody>
          <a:bodyPr wrap="square" lIns="0" tIns="0" rIns="0" bIns="0" rtlCol="0" anchor="ctr"/>
          <a:lstStyle/>
          <a:p>
            <a:pPr marL="0" indent="0" algn="ctr">
              <a:buNone/>
            </a:pPr>
            <a:r>
              <a:rPr lang="en-US" sz="1300" b="1" dirty="0">
                <a:solidFill>
                  <a:srgbClr val="0B1F12"/>
                </a:solidFill>
              </a:rPr>
              <a:t>2</a:t>
            </a:r>
            <a:endParaRPr lang="en-US" sz="1300" dirty="0"/>
          </a:p>
        </p:txBody>
      </p:sp>
      <p:sp>
        <p:nvSpPr>
          <p:cNvPr id="25" name="Text 23"/>
          <p:cNvSpPr/>
          <p:nvPr/>
        </p:nvSpPr>
        <p:spPr>
          <a:xfrm>
            <a:off x="4992624" y="2048256"/>
            <a:ext cx="3749040" cy="256032"/>
          </a:xfrm>
          <a:prstGeom prst="rect">
            <a:avLst/>
          </a:prstGeom>
          <a:noFill/>
          <a:ln/>
        </p:spPr>
        <p:txBody>
          <a:bodyPr wrap="square" lIns="0" tIns="0" rIns="0" bIns="0" rtlCol="0" anchor="ctr"/>
          <a:lstStyle/>
          <a:p>
            <a:pPr marL="0" indent="0">
              <a:buNone/>
            </a:pPr>
            <a:r>
              <a:rPr lang="en-US" sz="1100" b="1" dirty="0">
                <a:solidFill>
                  <a:srgbClr val="FFFFFF"/>
                </a:solidFill>
              </a:rPr>
              <a:t>Unstable fresh-food supply</a:t>
            </a:r>
            <a:endParaRPr lang="en-US" sz="1100" dirty="0"/>
          </a:p>
        </p:txBody>
      </p:sp>
      <p:sp>
        <p:nvSpPr>
          <p:cNvPr id="26" name="Text 24"/>
          <p:cNvSpPr/>
          <p:nvPr/>
        </p:nvSpPr>
        <p:spPr>
          <a:xfrm>
            <a:off x="4992624" y="2340864"/>
            <a:ext cx="3749040" cy="274320"/>
          </a:xfrm>
          <a:prstGeom prst="rect">
            <a:avLst/>
          </a:prstGeom>
          <a:noFill/>
          <a:ln/>
        </p:spPr>
        <p:txBody>
          <a:bodyPr wrap="square" lIns="0" tIns="0" rIns="0" bIns="0" rtlCol="0" anchor="ctr"/>
          <a:lstStyle/>
          <a:p>
            <a:pPr marL="0" indent="0">
              <a:buNone/>
            </a:pPr>
            <a:r>
              <a:rPr lang="en-US" sz="900" dirty="0">
                <a:solidFill>
                  <a:srgbClr val="5AAF6A"/>
                </a:solidFill>
              </a:rPr>
              <a:t>Selected — R = −0.621 evidence, no prior SA model</a:t>
            </a:r>
            <a:endParaRPr lang="en-US" sz="900" dirty="0"/>
          </a:p>
        </p:txBody>
      </p:sp>
      <p:sp>
        <p:nvSpPr>
          <p:cNvPr id="27" name="Shape 25"/>
          <p:cNvSpPr/>
          <p:nvPr/>
        </p:nvSpPr>
        <p:spPr>
          <a:xfrm>
            <a:off x="7360920" y="2057400"/>
            <a:ext cx="1280160" cy="201168"/>
          </a:xfrm>
          <a:prstGeom prst="rect">
            <a:avLst/>
          </a:prstGeom>
          <a:solidFill>
            <a:srgbClr val="E8A230"/>
          </a:solidFill>
          <a:ln w="12700">
            <a:solidFill>
              <a:srgbClr val="E8A230"/>
            </a:solidFill>
            <a:prstDash val="solid"/>
          </a:ln>
        </p:spPr>
        <p:txBody>
          <a:bodyPr/>
          <a:lstStyle/>
          <a:p>
            <a:endParaRPr lang="en-AU"/>
          </a:p>
        </p:txBody>
      </p:sp>
      <p:sp>
        <p:nvSpPr>
          <p:cNvPr id="28" name="Text 26"/>
          <p:cNvSpPr/>
          <p:nvPr/>
        </p:nvSpPr>
        <p:spPr>
          <a:xfrm>
            <a:off x="7360920" y="2057400"/>
            <a:ext cx="1280160" cy="201168"/>
          </a:xfrm>
          <a:prstGeom prst="rect">
            <a:avLst/>
          </a:prstGeom>
          <a:noFill/>
          <a:ln/>
        </p:spPr>
        <p:txBody>
          <a:bodyPr wrap="square" lIns="0" tIns="0" rIns="0" bIns="0" rtlCol="0" anchor="ctr"/>
          <a:lstStyle/>
          <a:p>
            <a:pPr marL="0" indent="0" algn="ctr">
              <a:buNone/>
            </a:pPr>
            <a:r>
              <a:rPr lang="en-US" sz="800" b="1" kern="0" spc="100" dirty="0">
                <a:solidFill>
                  <a:srgbClr val="0B1F12"/>
                </a:solidFill>
              </a:rPr>
              <a:t>SELECTED</a:t>
            </a:r>
            <a:endParaRPr lang="en-US" sz="800" dirty="0"/>
          </a:p>
        </p:txBody>
      </p:sp>
      <p:sp>
        <p:nvSpPr>
          <p:cNvPr id="29" name="Shape 27"/>
          <p:cNvSpPr/>
          <p:nvPr/>
        </p:nvSpPr>
        <p:spPr>
          <a:xfrm>
            <a:off x="4389120" y="2871216"/>
            <a:ext cx="4480560" cy="804672"/>
          </a:xfrm>
          <a:prstGeom prst="rect">
            <a:avLst/>
          </a:prstGeom>
          <a:solidFill>
            <a:srgbClr val="E8EDE8"/>
          </a:solidFill>
          <a:ln w="6350">
            <a:solidFill>
              <a:srgbClr val="C8D4C8"/>
            </a:solidFill>
            <a:prstDash val="solid"/>
          </a:ln>
          <a:effectLst>
            <a:outerShdw blurRad="101600" dist="38100" dir="8100000" algn="bl" rotWithShape="0">
              <a:srgbClr val="000000">
                <a:alpha val="18000"/>
              </a:srgbClr>
            </a:outerShdw>
          </a:effectLst>
        </p:spPr>
        <p:txBody>
          <a:bodyPr/>
          <a:lstStyle/>
          <a:p>
            <a:endParaRPr lang="en-AU"/>
          </a:p>
        </p:txBody>
      </p:sp>
      <p:sp>
        <p:nvSpPr>
          <p:cNvPr id="30" name="Shape 28"/>
          <p:cNvSpPr/>
          <p:nvPr/>
        </p:nvSpPr>
        <p:spPr>
          <a:xfrm>
            <a:off x="4498848" y="3035808"/>
            <a:ext cx="402336" cy="402336"/>
          </a:xfrm>
          <a:prstGeom prst="ellipse">
            <a:avLst/>
          </a:prstGeom>
          <a:solidFill>
            <a:srgbClr val="00B050"/>
          </a:solidFill>
          <a:ln w="12700">
            <a:solidFill>
              <a:srgbClr val="B0C4B0"/>
            </a:solidFill>
            <a:prstDash val="solid"/>
          </a:ln>
        </p:spPr>
        <p:txBody>
          <a:bodyPr/>
          <a:lstStyle/>
          <a:p>
            <a:endParaRPr lang="en-AU"/>
          </a:p>
        </p:txBody>
      </p:sp>
      <p:sp>
        <p:nvSpPr>
          <p:cNvPr id="31" name="Text 29"/>
          <p:cNvSpPr/>
          <p:nvPr/>
        </p:nvSpPr>
        <p:spPr>
          <a:xfrm>
            <a:off x="4498848" y="303580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32" name="Text 30"/>
          <p:cNvSpPr/>
          <p:nvPr/>
        </p:nvSpPr>
        <p:spPr>
          <a:xfrm>
            <a:off x="4992624" y="2962656"/>
            <a:ext cx="3749040" cy="256032"/>
          </a:xfrm>
          <a:prstGeom prst="rect">
            <a:avLst/>
          </a:prstGeom>
          <a:noFill/>
          <a:ln/>
        </p:spPr>
        <p:txBody>
          <a:bodyPr wrap="square" lIns="0" tIns="0" rIns="0" bIns="0" rtlCol="0" anchor="ctr"/>
          <a:lstStyle/>
          <a:p>
            <a:pPr marL="0" indent="0">
              <a:buNone/>
            </a:pPr>
            <a:r>
              <a:rPr lang="en-US" sz="1100" b="1" dirty="0">
                <a:solidFill>
                  <a:srgbClr val="3A5A3A"/>
                </a:solidFill>
              </a:rPr>
              <a:t>Rising retail crime</a:t>
            </a:r>
            <a:endParaRPr lang="en-US" sz="1100" dirty="0"/>
          </a:p>
        </p:txBody>
      </p:sp>
      <p:sp>
        <p:nvSpPr>
          <p:cNvPr id="33" name="Text 31"/>
          <p:cNvSpPr/>
          <p:nvPr/>
        </p:nvSpPr>
        <p:spPr>
          <a:xfrm>
            <a:off x="4992624" y="3255264"/>
            <a:ext cx="3749040" cy="274320"/>
          </a:xfrm>
          <a:prstGeom prst="rect">
            <a:avLst/>
          </a:prstGeom>
          <a:noFill/>
          <a:ln/>
        </p:spPr>
        <p:txBody>
          <a:bodyPr wrap="square" lIns="0" tIns="0" rIns="0" bIns="0" rtlCol="0" anchor="ctr"/>
          <a:lstStyle/>
          <a:p>
            <a:pPr marL="0" indent="0">
              <a:buNone/>
            </a:pPr>
            <a:r>
              <a:rPr lang="en-US" sz="900" b="1" dirty="0">
                <a:solidFill>
                  <a:schemeClr val="accent6">
                    <a:lumMod val="75000"/>
                  </a:schemeClr>
                </a:solidFill>
              </a:rPr>
              <a:t>SA precinct data insufficient depth</a:t>
            </a:r>
          </a:p>
        </p:txBody>
      </p:sp>
      <p:sp>
        <p:nvSpPr>
          <p:cNvPr id="34" name="Shape 32"/>
          <p:cNvSpPr/>
          <p:nvPr/>
        </p:nvSpPr>
        <p:spPr>
          <a:xfrm>
            <a:off x="274320" y="3931920"/>
            <a:ext cx="8549640" cy="777240"/>
          </a:xfrm>
          <a:prstGeom prst="rect">
            <a:avLst/>
          </a:prstGeom>
          <a:solidFill>
            <a:srgbClr val="1A4A24"/>
          </a:solidFill>
          <a:ln w="1270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35" name="Text 33"/>
          <p:cNvSpPr/>
          <p:nvPr/>
        </p:nvSpPr>
        <p:spPr>
          <a:xfrm>
            <a:off x="457200" y="3986784"/>
            <a:ext cx="2743200" cy="201168"/>
          </a:xfrm>
          <a:prstGeom prst="rect">
            <a:avLst/>
          </a:prstGeom>
          <a:noFill/>
          <a:ln/>
        </p:spPr>
        <p:txBody>
          <a:bodyPr wrap="square" lIns="0" tIns="0" rIns="0" bIns="0" rtlCol="0" anchor="ctr"/>
          <a:lstStyle/>
          <a:p>
            <a:pPr marL="0" indent="0">
              <a:buNone/>
            </a:pPr>
            <a:r>
              <a:rPr lang="en-US" sz="900" b="1" kern="0" spc="100" dirty="0">
                <a:solidFill>
                  <a:srgbClr val="5AAF6A"/>
                </a:solidFill>
              </a:rPr>
              <a:t>Business Question</a:t>
            </a:r>
            <a:endParaRPr lang="en-US" sz="900" dirty="0"/>
          </a:p>
        </p:txBody>
      </p:sp>
      <p:sp>
        <p:nvSpPr>
          <p:cNvPr id="36" name="Text 34"/>
          <p:cNvSpPr/>
          <p:nvPr/>
        </p:nvSpPr>
        <p:spPr>
          <a:xfrm>
            <a:off x="457200" y="4187952"/>
            <a:ext cx="8229600" cy="457200"/>
          </a:xfrm>
          <a:prstGeom prst="rect">
            <a:avLst/>
          </a:prstGeom>
          <a:noFill/>
          <a:ln/>
        </p:spPr>
        <p:txBody>
          <a:bodyPr wrap="square" lIns="0" tIns="0" rIns="0" bIns="0" rtlCol="0" anchor="ctr"/>
          <a:lstStyle/>
          <a:p>
            <a:pPr marL="0" indent="0">
              <a:buNone/>
            </a:pPr>
            <a:r>
              <a:rPr lang="en-US" sz="1200" i="1" dirty="0">
                <a:solidFill>
                  <a:srgbClr val="FFFFFF"/>
                </a:solidFill>
              </a:rPr>
              <a:t>Can predictive analytics using SA rainfall, CPI and horticulture production data forecast fresh-food supply disruptions in South Australian retail?</a:t>
            </a:r>
            <a:endParaRPr lang="en-US" sz="1200" dirty="0"/>
          </a:p>
        </p:txBody>
      </p:sp>
      <p:sp>
        <p:nvSpPr>
          <p:cNvPr id="37" name="Text 35"/>
          <p:cNvSpPr/>
          <p:nvPr/>
        </p:nvSpPr>
        <p:spPr>
          <a:xfrm>
            <a:off x="274320" y="4846320"/>
            <a:ext cx="8595360" cy="182880"/>
          </a:xfrm>
          <a:prstGeom prst="rect">
            <a:avLst/>
          </a:prstGeom>
          <a:noFill/>
          <a:ln/>
        </p:spPr>
        <p:txBody>
          <a:bodyPr wrap="square" lIns="0" tIns="0" rIns="0" bIns="0" rtlCol="0" anchor="ctr"/>
          <a:lstStyle/>
          <a:p>
            <a:pPr marL="0" indent="0">
              <a:buNone/>
            </a:pPr>
            <a:r>
              <a:rPr lang="en-US" sz="800" dirty="0"/>
              <a:t>Source: KPMG 2024; ABS 2025; ACCC 2025; BOM 2026</a:t>
            </a:r>
          </a:p>
        </p:txBody>
      </p:sp>
      <p:sp>
        <p:nvSpPr>
          <p:cNvPr id="40" name="TextBox 39">
            <a:extLst>
              <a:ext uri="{FF2B5EF4-FFF2-40B4-BE49-F238E27FC236}">
                <a16:creationId xmlns:a16="http://schemas.microsoft.com/office/drawing/2014/main" id="{CB9E85F3-E756-7FBC-D556-9408E5E153DD}"/>
              </a:ext>
            </a:extLst>
          </p:cNvPr>
          <p:cNvSpPr txBox="1"/>
          <p:nvPr/>
        </p:nvSpPr>
        <p:spPr>
          <a:xfrm>
            <a:off x="8770620" y="4831080"/>
            <a:ext cx="114300" cy="215444"/>
          </a:xfrm>
          <a:prstGeom prst="rect">
            <a:avLst/>
          </a:prstGeom>
          <a:noFill/>
        </p:spPr>
        <p:txBody>
          <a:bodyPr wrap="square" rtlCol="0">
            <a:spAutoFit/>
          </a:bodyPr>
          <a:lstStyle/>
          <a:p>
            <a:r>
              <a:rPr lang="en-AU" sz="800" dirty="0"/>
              <a:t>2</a:t>
            </a:r>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8"/>
        </a:solidFill>
        <a:effectLst/>
      </p:bgPr>
    </p:bg>
    <p:spTree>
      <p:nvGrpSpPr>
        <p:cNvPr id="1" name=""/>
        <p:cNvGrpSpPr/>
        <p:nvPr/>
      </p:nvGrpSpPr>
      <p:grpSpPr>
        <a:xfrm>
          <a:off x="0" y="0"/>
          <a:ext cx="0" cy="0"/>
          <a:chOff x="0" y="0"/>
          <a:chExt cx="0" cy="0"/>
        </a:xfrm>
      </p:grpSpPr>
      <p:pic>
        <p:nvPicPr>
          <p:cNvPr id="128" name="Picture 127">
            <a:extLst>
              <a:ext uri="{FF2B5EF4-FFF2-40B4-BE49-F238E27FC236}">
                <a16:creationId xmlns:a16="http://schemas.microsoft.com/office/drawing/2014/main" id="{042A5EDD-9C2B-B38B-9946-0C60406F8F55}"/>
              </a:ext>
            </a:extLst>
          </p:cNvPr>
          <p:cNvPicPr>
            <a:picLocks noChangeAspect="1"/>
          </p:cNvPicPr>
          <p:nvPr/>
        </p:nvPicPr>
        <p:blipFill>
          <a:blip r:embed="rId3">
            <a:alphaModFix amt="70000"/>
          </a:blip>
          <a:stretch>
            <a:fillRect/>
          </a:stretch>
        </p:blipFill>
        <p:spPr>
          <a:xfrm>
            <a:off x="0" y="0"/>
            <a:ext cx="9144000" cy="5143500"/>
          </a:xfrm>
          <a:prstGeom prst="rect">
            <a:avLst/>
          </a:prstGeom>
        </p:spPr>
      </p:pic>
      <p:sp>
        <p:nvSpPr>
          <p:cNvPr id="2" name="Text 0"/>
          <p:cNvSpPr/>
          <p:nvPr/>
        </p:nvSpPr>
        <p:spPr>
          <a:xfrm>
            <a:off x="274320" y="164592"/>
            <a:ext cx="8595360" cy="438912"/>
          </a:xfrm>
          <a:prstGeom prst="rect">
            <a:avLst/>
          </a:prstGeom>
          <a:noFill/>
          <a:ln/>
        </p:spPr>
        <p:txBody>
          <a:bodyPr wrap="square" lIns="0" tIns="0" rIns="0" bIns="0" rtlCol="0" anchor="ctr"/>
          <a:lstStyle/>
          <a:p>
            <a:pPr marL="0" indent="0">
              <a:buNone/>
            </a:pPr>
            <a:r>
              <a:rPr lang="en-US" sz="2600" b="1" dirty="0">
                <a:solidFill>
                  <a:srgbClr val="1A4A24"/>
                </a:solidFill>
                <a:latin typeface="Calibri" pitchFamily="34" charset="0"/>
                <a:ea typeface="Calibri" pitchFamily="34" charset="-122"/>
                <a:cs typeface="Calibri" pitchFamily="34" charset="-120"/>
              </a:rPr>
              <a:t>Data Used &amp; Data Cleaning Technique</a:t>
            </a:r>
            <a:endParaRPr lang="en-US" sz="2600" dirty="0"/>
          </a:p>
        </p:txBody>
      </p:sp>
      <p:sp>
        <p:nvSpPr>
          <p:cNvPr id="3" name="Shape 1"/>
          <p:cNvSpPr/>
          <p:nvPr/>
        </p:nvSpPr>
        <p:spPr>
          <a:xfrm>
            <a:off x="274320" y="713232"/>
            <a:ext cx="2743200" cy="914400"/>
          </a:xfrm>
          <a:prstGeom prst="rect">
            <a:avLst/>
          </a:prstGeom>
          <a:solidFill>
            <a:srgbClr val="1A5276"/>
          </a:solidFill>
          <a:ln w="12700">
            <a:solidFill>
              <a:srgbClr val="1A5276"/>
            </a:solidFill>
            <a:prstDash val="solid"/>
          </a:ln>
          <a:effectLst>
            <a:outerShdw blurRad="101600" dist="38100" dir="8100000" algn="bl" rotWithShape="0">
              <a:srgbClr val="000000">
                <a:alpha val="18000"/>
              </a:srgbClr>
            </a:outerShdw>
          </a:effectLst>
        </p:spPr>
        <p:txBody>
          <a:bodyPr/>
          <a:lstStyle/>
          <a:p>
            <a:endParaRPr lang="en-AU"/>
          </a:p>
        </p:txBody>
      </p:sp>
      <p:sp>
        <p:nvSpPr>
          <p:cNvPr id="4" name="Text 2"/>
          <p:cNvSpPr/>
          <p:nvPr/>
        </p:nvSpPr>
        <p:spPr>
          <a:xfrm>
            <a:off x="274320" y="768096"/>
            <a:ext cx="2743200" cy="237744"/>
          </a:xfrm>
          <a:prstGeom prst="rect">
            <a:avLst/>
          </a:prstGeom>
          <a:noFill/>
          <a:ln/>
        </p:spPr>
        <p:txBody>
          <a:bodyPr wrap="square" lIns="0" tIns="0" rIns="0" bIns="0" rtlCol="0" anchor="ctr"/>
          <a:lstStyle/>
          <a:p>
            <a:pPr marL="0" indent="0" algn="ctr">
              <a:buNone/>
            </a:pPr>
            <a:r>
              <a:rPr lang="en-US" sz="1100" b="1" dirty="0">
                <a:solidFill>
                  <a:srgbClr val="FFFFFF"/>
                </a:solidFill>
              </a:rPr>
              <a:t>BOM - Rainfall</a:t>
            </a:r>
            <a:endParaRPr lang="en-US" sz="1100" dirty="0"/>
          </a:p>
        </p:txBody>
      </p:sp>
      <p:sp>
        <p:nvSpPr>
          <p:cNvPr id="5" name="Text 3"/>
          <p:cNvSpPr/>
          <p:nvPr/>
        </p:nvSpPr>
        <p:spPr>
          <a:xfrm>
            <a:off x="274320" y="1005840"/>
            <a:ext cx="2743200" cy="566928"/>
          </a:xfrm>
          <a:prstGeom prst="rect">
            <a:avLst/>
          </a:prstGeom>
          <a:noFill/>
          <a:ln/>
        </p:spPr>
        <p:txBody>
          <a:bodyPr wrap="square" lIns="0" tIns="0" rIns="0" bIns="0" rtlCol="0" anchor="ctr"/>
          <a:lstStyle/>
          <a:p>
            <a:pPr marL="0" indent="0" algn="ctr">
              <a:buNone/>
            </a:pPr>
            <a:r>
              <a:rPr lang="en-US" sz="1000" dirty="0">
                <a:solidFill>
                  <a:srgbClr val="FFFFFF"/>
                </a:solidFill>
              </a:rPr>
              <a:t>Daily obs · 4 SA suburbs</a:t>
            </a:r>
            <a:endParaRPr lang="en-US" sz="1000" dirty="0"/>
          </a:p>
          <a:p>
            <a:pPr marL="0" indent="0" algn="ctr">
              <a:buNone/>
            </a:pPr>
            <a:r>
              <a:rPr lang="en-US" sz="1000" dirty="0">
                <a:solidFill>
                  <a:srgbClr val="FFFFFF"/>
                </a:solidFill>
              </a:rPr>
              <a:t>Lenswood · Renmark</a:t>
            </a:r>
            <a:endParaRPr lang="en-US" sz="1000" dirty="0"/>
          </a:p>
          <a:p>
            <a:pPr marL="0" indent="0" algn="ctr">
              <a:buNone/>
            </a:pPr>
            <a:r>
              <a:rPr lang="en-US" sz="1000" dirty="0">
                <a:solidFill>
                  <a:srgbClr val="FFFFFF"/>
                </a:solidFill>
              </a:rPr>
              <a:t>Port Augusta · Victor Harbor</a:t>
            </a:r>
            <a:endParaRPr lang="en-US" sz="1000" dirty="0"/>
          </a:p>
        </p:txBody>
      </p:sp>
      <p:sp>
        <p:nvSpPr>
          <p:cNvPr id="6" name="Shape 4"/>
          <p:cNvSpPr/>
          <p:nvPr/>
        </p:nvSpPr>
        <p:spPr>
          <a:xfrm>
            <a:off x="3200400" y="713232"/>
            <a:ext cx="2743200" cy="914400"/>
          </a:xfrm>
          <a:prstGeom prst="rect">
            <a:avLst/>
          </a:prstGeom>
          <a:solidFill>
            <a:srgbClr val="2D8A4E"/>
          </a:solidFill>
          <a:ln w="1270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7" name="Text 5"/>
          <p:cNvSpPr/>
          <p:nvPr/>
        </p:nvSpPr>
        <p:spPr>
          <a:xfrm>
            <a:off x="3200400" y="768096"/>
            <a:ext cx="2743200" cy="237744"/>
          </a:xfrm>
          <a:prstGeom prst="rect">
            <a:avLst/>
          </a:prstGeom>
          <a:noFill/>
          <a:ln/>
        </p:spPr>
        <p:txBody>
          <a:bodyPr wrap="square" lIns="0" tIns="0" rIns="0" bIns="0" rtlCol="0" anchor="ctr"/>
          <a:lstStyle/>
          <a:p>
            <a:pPr marL="0" indent="0" algn="ctr">
              <a:buNone/>
            </a:pPr>
            <a:r>
              <a:rPr lang="en-US" sz="1100" b="1" dirty="0">
                <a:solidFill>
                  <a:srgbClr val="FFFFFF"/>
                </a:solidFill>
              </a:rPr>
              <a:t>ABS - Horticulture</a:t>
            </a:r>
            <a:endParaRPr lang="en-US" sz="1100" dirty="0"/>
          </a:p>
        </p:txBody>
      </p:sp>
      <p:sp>
        <p:nvSpPr>
          <p:cNvPr id="8" name="Text 6"/>
          <p:cNvSpPr/>
          <p:nvPr/>
        </p:nvSpPr>
        <p:spPr>
          <a:xfrm>
            <a:off x="3200400" y="1005840"/>
            <a:ext cx="2743200" cy="566928"/>
          </a:xfrm>
          <a:prstGeom prst="rect">
            <a:avLst/>
          </a:prstGeom>
          <a:noFill/>
          <a:ln/>
        </p:spPr>
        <p:txBody>
          <a:bodyPr wrap="square" lIns="0" tIns="0" rIns="0" bIns="0" rtlCol="0" anchor="ctr"/>
          <a:lstStyle/>
          <a:p>
            <a:pPr marL="0" indent="0" algn="ctr">
              <a:buNone/>
            </a:pPr>
            <a:r>
              <a:rPr lang="en-US" sz="1000" dirty="0">
                <a:solidFill>
                  <a:srgbClr val="FFFFFF"/>
                </a:solidFill>
              </a:rPr>
              <a:t>Value of Agricultural Commodities</a:t>
            </a:r>
            <a:endParaRPr lang="en-US" sz="1000" dirty="0"/>
          </a:p>
          <a:p>
            <a:pPr marL="0" indent="0" algn="ctr">
              <a:buNone/>
            </a:pPr>
            <a:r>
              <a:rPr lang="en-US" sz="1000" dirty="0">
                <a:solidFill>
                  <a:srgbClr val="FFFFFF"/>
                </a:solidFill>
              </a:rPr>
              <a:t>Fruit &amp; veg · FY 2020/21 -2024/25</a:t>
            </a:r>
            <a:endParaRPr lang="en-US" sz="1000" dirty="0"/>
          </a:p>
        </p:txBody>
      </p:sp>
      <p:sp>
        <p:nvSpPr>
          <p:cNvPr id="9" name="Shape 7"/>
          <p:cNvSpPr/>
          <p:nvPr/>
        </p:nvSpPr>
        <p:spPr>
          <a:xfrm>
            <a:off x="6126480" y="713232"/>
            <a:ext cx="2743200" cy="914400"/>
          </a:xfrm>
          <a:prstGeom prst="rect">
            <a:avLst/>
          </a:prstGeom>
          <a:solidFill>
            <a:srgbClr val="D85A30"/>
          </a:solidFill>
          <a:ln w="12700">
            <a:solidFill>
              <a:srgbClr val="D85A30"/>
            </a:solidFill>
            <a:prstDash val="solid"/>
          </a:ln>
          <a:effectLst>
            <a:outerShdw blurRad="101600" dist="38100" dir="8100000" algn="bl" rotWithShape="0">
              <a:srgbClr val="000000">
                <a:alpha val="18000"/>
              </a:srgbClr>
            </a:outerShdw>
          </a:effectLst>
        </p:spPr>
        <p:txBody>
          <a:bodyPr/>
          <a:lstStyle/>
          <a:p>
            <a:endParaRPr lang="en-AU"/>
          </a:p>
        </p:txBody>
      </p:sp>
      <p:sp>
        <p:nvSpPr>
          <p:cNvPr id="10" name="Text 8"/>
          <p:cNvSpPr/>
          <p:nvPr/>
        </p:nvSpPr>
        <p:spPr>
          <a:xfrm>
            <a:off x="6126480" y="768096"/>
            <a:ext cx="2743200" cy="237744"/>
          </a:xfrm>
          <a:prstGeom prst="rect">
            <a:avLst/>
          </a:prstGeom>
          <a:noFill/>
          <a:ln/>
        </p:spPr>
        <p:txBody>
          <a:bodyPr wrap="square" lIns="0" tIns="0" rIns="0" bIns="0" rtlCol="0" anchor="ctr"/>
          <a:lstStyle/>
          <a:p>
            <a:pPr marL="0" indent="0" algn="ctr">
              <a:buNone/>
            </a:pPr>
            <a:r>
              <a:rPr lang="en-US" sz="1100" b="1" dirty="0">
                <a:solidFill>
                  <a:srgbClr val="FFFFFF"/>
                </a:solidFill>
              </a:rPr>
              <a:t>ABS - CPI SA</a:t>
            </a:r>
            <a:endParaRPr lang="en-US" sz="1100" dirty="0"/>
          </a:p>
        </p:txBody>
      </p:sp>
      <p:sp>
        <p:nvSpPr>
          <p:cNvPr id="11" name="Text 9"/>
          <p:cNvSpPr/>
          <p:nvPr/>
        </p:nvSpPr>
        <p:spPr>
          <a:xfrm>
            <a:off x="6126480" y="1005840"/>
            <a:ext cx="2743200" cy="566928"/>
          </a:xfrm>
          <a:prstGeom prst="rect">
            <a:avLst/>
          </a:prstGeom>
          <a:noFill/>
          <a:ln/>
        </p:spPr>
        <p:txBody>
          <a:bodyPr wrap="square" lIns="0" tIns="0" rIns="0" bIns="0" rtlCol="0" anchor="ctr"/>
          <a:lstStyle/>
          <a:p>
            <a:pPr marL="0" indent="0" algn="ctr">
              <a:buNone/>
            </a:pPr>
            <a:r>
              <a:rPr lang="en-US" sz="1000" dirty="0">
                <a:solidFill>
                  <a:srgbClr val="FFFFFF"/>
                </a:solidFill>
              </a:rPr>
              <a:t>Consumer Price Index</a:t>
            </a:r>
            <a:endParaRPr lang="en-US" sz="1000" dirty="0"/>
          </a:p>
          <a:p>
            <a:pPr marL="0" indent="0" algn="ctr">
              <a:buNone/>
            </a:pPr>
            <a:r>
              <a:rPr lang="en-US" sz="1000" dirty="0">
                <a:solidFill>
                  <a:srgbClr val="FFFFFF"/>
                </a:solidFill>
              </a:rPr>
              <a:t>SA series · 2020 -2025</a:t>
            </a:r>
            <a:endParaRPr lang="en-US" sz="850" dirty="0"/>
          </a:p>
        </p:txBody>
      </p:sp>
      <p:sp>
        <p:nvSpPr>
          <p:cNvPr id="16" name="Text 14"/>
          <p:cNvSpPr/>
          <p:nvPr/>
        </p:nvSpPr>
        <p:spPr>
          <a:xfrm>
            <a:off x="1371600" y="1993392"/>
            <a:ext cx="1005840" cy="292608"/>
          </a:xfrm>
          <a:prstGeom prst="rect">
            <a:avLst/>
          </a:prstGeom>
          <a:noFill/>
          <a:ln/>
        </p:spPr>
        <p:txBody>
          <a:bodyPr wrap="square" lIns="0" tIns="0" rIns="0" bIns="0" rtlCol="0" anchor="ctr"/>
          <a:lstStyle/>
          <a:p>
            <a:pPr marL="0" indent="0" algn="ctr">
              <a:buNone/>
            </a:pPr>
            <a:r>
              <a:rPr lang="en-US" sz="800" b="1" dirty="0">
                <a:solidFill>
                  <a:srgbClr val="FFFFFF"/>
                </a:solidFill>
              </a:rPr>
              <a:t>Rainfall (mm)</a:t>
            </a:r>
            <a:endParaRPr lang="en-US" sz="800" dirty="0"/>
          </a:p>
        </p:txBody>
      </p:sp>
      <p:sp>
        <p:nvSpPr>
          <p:cNvPr id="18" name="Text 16"/>
          <p:cNvSpPr/>
          <p:nvPr/>
        </p:nvSpPr>
        <p:spPr>
          <a:xfrm>
            <a:off x="2377440" y="1993392"/>
            <a:ext cx="1005840" cy="292608"/>
          </a:xfrm>
          <a:prstGeom prst="rect">
            <a:avLst/>
          </a:prstGeom>
          <a:noFill/>
          <a:ln/>
        </p:spPr>
        <p:txBody>
          <a:bodyPr wrap="square" lIns="0" tIns="0" rIns="0" bIns="0" rtlCol="0" anchor="ctr"/>
          <a:lstStyle/>
          <a:p>
            <a:pPr marL="0" indent="0" algn="ctr">
              <a:buNone/>
            </a:pPr>
            <a:r>
              <a:rPr lang="en-US" sz="800" b="1" dirty="0">
                <a:solidFill>
                  <a:srgbClr val="FFFFFF"/>
                </a:solidFill>
              </a:rPr>
              <a:t>Fruit (t)</a:t>
            </a:r>
            <a:endParaRPr lang="en-US" sz="800" dirty="0"/>
          </a:p>
        </p:txBody>
      </p:sp>
      <p:sp>
        <p:nvSpPr>
          <p:cNvPr id="20" name="Text 18"/>
          <p:cNvSpPr/>
          <p:nvPr/>
        </p:nvSpPr>
        <p:spPr>
          <a:xfrm>
            <a:off x="3383280" y="1993392"/>
            <a:ext cx="1005840" cy="292608"/>
          </a:xfrm>
          <a:prstGeom prst="rect">
            <a:avLst/>
          </a:prstGeom>
          <a:noFill/>
          <a:ln/>
        </p:spPr>
        <p:txBody>
          <a:bodyPr wrap="square" lIns="0" tIns="0" rIns="0" bIns="0" rtlCol="0" anchor="ctr"/>
          <a:lstStyle/>
          <a:p>
            <a:pPr marL="0" indent="0" algn="ctr">
              <a:buNone/>
            </a:pPr>
            <a:r>
              <a:rPr lang="en-US" sz="800" b="1" dirty="0">
                <a:solidFill>
                  <a:srgbClr val="FFFFFF"/>
                </a:solidFill>
              </a:rPr>
              <a:t>Vg (t)</a:t>
            </a:r>
            <a:endParaRPr lang="en-US" sz="800" dirty="0"/>
          </a:p>
        </p:txBody>
      </p:sp>
      <p:sp>
        <p:nvSpPr>
          <p:cNvPr id="22" name="Text 20"/>
          <p:cNvSpPr/>
          <p:nvPr/>
        </p:nvSpPr>
        <p:spPr>
          <a:xfrm>
            <a:off x="4389120" y="1993392"/>
            <a:ext cx="1188720" cy="292608"/>
          </a:xfrm>
          <a:prstGeom prst="rect">
            <a:avLst/>
          </a:prstGeom>
          <a:noFill/>
          <a:ln/>
        </p:spPr>
        <p:txBody>
          <a:bodyPr wrap="square" lIns="0" tIns="0" rIns="0" bIns="0" rtlCol="0" anchor="ctr"/>
          <a:lstStyle/>
          <a:p>
            <a:pPr marL="0" indent="0" algn="ctr">
              <a:buNone/>
            </a:pPr>
            <a:r>
              <a:rPr lang="en-US" sz="800" b="1" dirty="0">
                <a:solidFill>
                  <a:srgbClr val="FFFFFF"/>
                </a:solidFill>
              </a:rPr>
              <a:t>Total Prod (t)</a:t>
            </a:r>
            <a:endParaRPr lang="en-US" sz="800" dirty="0"/>
          </a:p>
        </p:txBody>
      </p:sp>
      <p:sp>
        <p:nvSpPr>
          <p:cNvPr id="85" name="Text 83"/>
          <p:cNvSpPr/>
          <p:nvPr/>
        </p:nvSpPr>
        <p:spPr>
          <a:xfrm>
            <a:off x="5989320" y="1737360"/>
            <a:ext cx="2834640" cy="219456"/>
          </a:xfrm>
          <a:prstGeom prst="rect">
            <a:avLst/>
          </a:prstGeom>
          <a:noFill/>
          <a:ln/>
        </p:spPr>
        <p:txBody>
          <a:bodyPr wrap="square" lIns="0" tIns="0" rIns="0" bIns="0" rtlCol="0" anchor="ctr"/>
          <a:lstStyle/>
          <a:p>
            <a:pPr marL="0" indent="0">
              <a:buNone/>
            </a:pPr>
            <a:r>
              <a:rPr lang="en-US" sz="1000" b="1" kern="0" spc="100" dirty="0"/>
              <a:t>Data cleaning steps</a:t>
            </a:r>
            <a:endParaRPr lang="en-US" sz="1000" dirty="0"/>
          </a:p>
        </p:txBody>
      </p:sp>
      <p:sp>
        <p:nvSpPr>
          <p:cNvPr id="86" name="Shape 84"/>
          <p:cNvSpPr/>
          <p:nvPr/>
        </p:nvSpPr>
        <p:spPr>
          <a:xfrm>
            <a:off x="5989320" y="1993392"/>
            <a:ext cx="2834640" cy="420624"/>
          </a:xfrm>
          <a:prstGeom prst="rect">
            <a:avLst/>
          </a:prstGeom>
          <a:solidFill>
            <a:srgbClr val="EEF4EE"/>
          </a:solidFill>
          <a:ln w="5080">
            <a:solidFill>
              <a:srgbClr val="C8D4C8"/>
            </a:solidFill>
            <a:prstDash val="solid"/>
          </a:ln>
        </p:spPr>
        <p:txBody>
          <a:bodyPr/>
          <a:lstStyle/>
          <a:p>
            <a:endParaRPr lang="en-AU"/>
          </a:p>
        </p:txBody>
      </p:sp>
      <p:sp>
        <p:nvSpPr>
          <p:cNvPr id="87" name="Shape 85"/>
          <p:cNvSpPr/>
          <p:nvPr/>
        </p:nvSpPr>
        <p:spPr>
          <a:xfrm>
            <a:off x="6035040" y="2066544"/>
            <a:ext cx="274320" cy="274320"/>
          </a:xfrm>
          <a:prstGeom prst="ellipse">
            <a:avLst/>
          </a:prstGeom>
          <a:solidFill>
            <a:srgbClr val="E8A230"/>
          </a:solidFill>
          <a:ln w="12700">
            <a:solidFill>
              <a:srgbClr val="E8A230"/>
            </a:solidFill>
            <a:prstDash val="solid"/>
          </a:ln>
        </p:spPr>
        <p:txBody>
          <a:bodyPr/>
          <a:lstStyle/>
          <a:p>
            <a:endParaRPr lang="en-AU"/>
          </a:p>
        </p:txBody>
      </p:sp>
      <p:sp>
        <p:nvSpPr>
          <p:cNvPr id="88" name="Text 86"/>
          <p:cNvSpPr/>
          <p:nvPr/>
        </p:nvSpPr>
        <p:spPr>
          <a:xfrm>
            <a:off x="6035040" y="2066544"/>
            <a:ext cx="274320" cy="274320"/>
          </a:xfrm>
          <a:prstGeom prst="rect">
            <a:avLst/>
          </a:prstGeom>
          <a:noFill/>
          <a:ln/>
        </p:spPr>
        <p:txBody>
          <a:bodyPr wrap="square" lIns="0" tIns="0" rIns="0" bIns="0" rtlCol="0" anchor="ctr"/>
          <a:lstStyle/>
          <a:p>
            <a:pPr marL="0" indent="0" algn="ctr">
              <a:buNone/>
            </a:pPr>
            <a:r>
              <a:rPr lang="en-US" sz="900" b="1" dirty="0">
                <a:solidFill>
                  <a:srgbClr val="0B1F12"/>
                </a:solidFill>
              </a:rPr>
              <a:t>1</a:t>
            </a:r>
            <a:endParaRPr lang="en-US" sz="900" dirty="0"/>
          </a:p>
        </p:txBody>
      </p:sp>
      <p:sp>
        <p:nvSpPr>
          <p:cNvPr id="89" name="Text 87"/>
          <p:cNvSpPr/>
          <p:nvPr/>
        </p:nvSpPr>
        <p:spPr>
          <a:xfrm>
            <a:off x="6400800" y="2029968"/>
            <a:ext cx="2286000" cy="182880"/>
          </a:xfrm>
          <a:prstGeom prst="rect">
            <a:avLst/>
          </a:prstGeom>
          <a:noFill/>
          <a:ln/>
        </p:spPr>
        <p:txBody>
          <a:bodyPr wrap="square" lIns="0" tIns="0" rIns="0" bIns="0" rtlCol="0" anchor="ctr"/>
          <a:lstStyle/>
          <a:p>
            <a:pPr marL="0" indent="0">
              <a:buNone/>
            </a:pPr>
            <a:r>
              <a:rPr lang="en-US" sz="900" b="1" dirty="0">
                <a:solidFill>
                  <a:srgbClr val="1A4A24"/>
                </a:solidFill>
              </a:rPr>
              <a:t>Commas removed</a:t>
            </a:r>
            <a:endParaRPr lang="en-US" sz="900" dirty="0"/>
          </a:p>
        </p:txBody>
      </p:sp>
      <p:sp>
        <p:nvSpPr>
          <p:cNvPr id="90" name="Text 88"/>
          <p:cNvSpPr/>
          <p:nvPr/>
        </p:nvSpPr>
        <p:spPr>
          <a:xfrm>
            <a:off x="6400800" y="2212848"/>
            <a:ext cx="2286000" cy="164592"/>
          </a:xfrm>
          <a:prstGeom prst="rect">
            <a:avLst/>
          </a:prstGeom>
          <a:noFill/>
          <a:ln/>
        </p:spPr>
        <p:txBody>
          <a:bodyPr wrap="square" lIns="0" tIns="0" rIns="0" bIns="0" rtlCol="0" anchor="ctr"/>
          <a:lstStyle/>
          <a:p>
            <a:pPr marL="0" indent="0">
              <a:buNone/>
            </a:pPr>
            <a:r>
              <a:rPr lang="en-US" sz="800" dirty="0">
                <a:solidFill>
                  <a:srgbClr val="1A3A1A"/>
                </a:solidFill>
              </a:rPr>
              <a:t>998,089.2 → 998089.2</a:t>
            </a:r>
            <a:endParaRPr lang="en-US" sz="800" dirty="0"/>
          </a:p>
        </p:txBody>
      </p:sp>
      <p:sp>
        <p:nvSpPr>
          <p:cNvPr id="91" name="Shape 89"/>
          <p:cNvSpPr/>
          <p:nvPr/>
        </p:nvSpPr>
        <p:spPr>
          <a:xfrm>
            <a:off x="5989320" y="2468880"/>
            <a:ext cx="2834640" cy="420624"/>
          </a:xfrm>
          <a:prstGeom prst="rect">
            <a:avLst/>
          </a:prstGeom>
          <a:solidFill>
            <a:srgbClr val="EEF4EE"/>
          </a:solidFill>
          <a:ln w="5080">
            <a:solidFill>
              <a:srgbClr val="C8D4C8"/>
            </a:solidFill>
            <a:prstDash val="solid"/>
          </a:ln>
        </p:spPr>
        <p:txBody>
          <a:bodyPr/>
          <a:lstStyle/>
          <a:p>
            <a:endParaRPr lang="en-AU"/>
          </a:p>
        </p:txBody>
      </p:sp>
      <p:sp>
        <p:nvSpPr>
          <p:cNvPr id="92" name="Shape 90"/>
          <p:cNvSpPr/>
          <p:nvPr/>
        </p:nvSpPr>
        <p:spPr>
          <a:xfrm>
            <a:off x="6035040" y="2542032"/>
            <a:ext cx="274320" cy="274320"/>
          </a:xfrm>
          <a:prstGeom prst="ellipse">
            <a:avLst/>
          </a:prstGeom>
          <a:solidFill>
            <a:srgbClr val="E8A230"/>
          </a:solidFill>
          <a:ln w="12700">
            <a:solidFill>
              <a:srgbClr val="E8A230"/>
            </a:solidFill>
            <a:prstDash val="solid"/>
          </a:ln>
        </p:spPr>
        <p:txBody>
          <a:bodyPr/>
          <a:lstStyle/>
          <a:p>
            <a:endParaRPr lang="en-AU"/>
          </a:p>
        </p:txBody>
      </p:sp>
      <p:sp>
        <p:nvSpPr>
          <p:cNvPr id="93" name="Text 91"/>
          <p:cNvSpPr/>
          <p:nvPr/>
        </p:nvSpPr>
        <p:spPr>
          <a:xfrm>
            <a:off x="6035040" y="2542032"/>
            <a:ext cx="274320" cy="274320"/>
          </a:xfrm>
          <a:prstGeom prst="rect">
            <a:avLst/>
          </a:prstGeom>
          <a:noFill/>
          <a:ln/>
        </p:spPr>
        <p:txBody>
          <a:bodyPr wrap="square" lIns="0" tIns="0" rIns="0" bIns="0" rtlCol="0" anchor="ctr"/>
          <a:lstStyle/>
          <a:p>
            <a:pPr marL="0" indent="0" algn="ctr">
              <a:buNone/>
            </a:pPr>
            <a:r>
              <a:rPr lang="en-US" sz="900" b="1" dirty="0">
                <a:solidFill>
                  <a:srgbClr val="0B1F12"/>
                </a:solidFill>
              </a:rPr>
              <a:t>2</a:t>
            </a:r>
            <a:endParaRPr lang="en-US" sz="900" dirty="0"/>
          </a:p>
        </p:txBody>
      </p:sp>
      <p:sp>
        <p:nvSpPr>
          <p:cNvPr id="94" name="Text 92"/>
          <p:cNvSpPr/>
          <p:nvPr/>
        </p:nvSpPr>
        <p:spPr>
          <a:xfrm>
            <a:off x="6400800" y="2505456"/>
            <a:ext cx="2286000" cy="182880"/>
          </a:xfrm>
          <a:prstGeom prst="rect">
            <a:avLst/>
          </a:prstGeom>
          <a:noFill/>
          <a:ln/>
        </p:spPr>
        <p:txBody>
          <a:bodyPr wrap="square" lIns="0" tIns="0" rIns="0" bIns="0" rtlCol="0" anchor="ctr"/>
          <a:lstStyle/>
          <a:p>
            <a:pPr marL="0" indent="0">
              <a:buNone/>
            </a:pPr>
            <a:r>
              <a:rPr lang="en-US" sz="900" b="1" dirty="0">
                <a:solidFill>
                  <a:srgbClr val="1A4A24"/>
                </a:solidFill>
              </a:rPr>
              <a:t>% symbols stripped</a:t>
            </a:r>
            <a:endParaRPr lang="en-US" sz="900" dirty="0"/>
          </a:p>
        </p:txBody>
      </p:sp>
      <p:sp>
        <p:nvSpPr>
          <p:cNvPr id="95" name="Text 93"/>
          <p:cNvSpPr/>
          <p:nvPr/>
        </p:nvSpPr>
        <p:spPr>
          <a:xfrm>
            <a:off x="6400800" y="2688336"/>
            <a:ext cx="2286000" cy="164592"/>
          </a:xfrm>
          <a:prstGeom prst="rect">
            <a:avLst/>
          </a:prstGeom>
          <a:noFill/>
          <a:ln/>
        </p:spPr>
        <p:txBody>
          <a:bodyPr wrap="square" lIns="0" tIns="0" rIns="0" bIns="0" rtlCol="0" anchor="ctr"/>
          <a:lstStyle/>
          <a:p>
            <a:pPr marL="0" indent="0">
              <a:buNone/>
            </a:pPr>
            <a:r>
              <a:rPr lang="en-US" sz="800" dirty="0">
                <a:solidFill>
                  <a:srgbClr val="1A3A1A"/>
                </a:solidFill>
              </a:rPr>
              <a:t>CPI standardised to decimal</a:t>
            </a:r>
            <a:endParaRPr lang="en-US" sz="800" dirty="0"/>
          </a:p>
        </p:txBody>
      </p:sp>
      <p:sp>
        <p:nvSpPr>
          <p:cNvPr id="96" name="Shape 94"/>
          <p:cNvSpPr/>
          <p:nvPr/>
        </p:nvSpPr>
        <p:spPr>
          <a:xfrm>
            <a:off x="5989320" y="2944368"/>
            <a:ext cx="2834640" cy="420624"/>
          </a:xfrm>
          <a:prstGeom prst="rect">
            <a:avLst/>
          </a:prstGeom>
          <a:solidFill>
            <a:srgbClr val="EEF4EE"/>
          </a:solidFill>
          <a:ln w="5080">
            <a:solidFill>
              <a:srgbClr val="C8D4C8"/>
            </a:solidFill>
            <a:prstDash val="solid"/>
          </a:ln>
        </p:spPr>
        <p:txBody>
          <a:bodyPr/>
          <a:lstStyle/>
          <a:p>
            <a:endParaRPr lang="en-AU"/>
          </a:p>
        </p:txBody>
      </p:sp>
      <p:sp>
        <p:nvSpPr>
          <p:cNvPr id="97" name="Shape 95"/>
          <p:cNvSpPr/>
          <p:nvPr/>
        </p:nvSpPr>
        <p:spPr>
          <a:xfrm>
            <a:off x="6035040" y="3017520"/>
            <a:ext cx="274320" cy="274320"/>
          </a:xfrm>
          <a:prstGeom prst="ellipse">
            <a:avLst/>
          </a:prstGeom>
          <a:solidFill>
            <a:srgbClr val="E8A230"/>
          </a:solidFill>
          <a:ln w="12700">
            <a:solidFill>
              <a:srgbClr val="E8A230"/>
            </a:solidFill>
            <a:prstDash val="solid"/>
          </a:ln>
        </p:spPr>
        <p:txBody>
          <a:bodyPr/>
          <a:lstStyle/>
          <a:p>
            <a:endParaRPr lang="en-AU"/>
          </a:p>
        </p:txBody>
      </p:sp>
      <p:sp>
        <p:nvSpPr>
          <p:cNvPr id="98" name="Text 96"/>
          <p:cNvSpPr/>
          <p:nvPr/>
        </p:nvSpPr>
        <p:spPr>
          <a:xfrm>
            <a:off x="6035040" y="3017520"/>
            <a:ext cx="274320" cy="274320"/>
          </a:xfrm>
          <a:prstGeom prst="rect">
            <a:avLst/>
          </a:prstGeom>
          <a:noFill/>
          <a:ln/>
        </p:spPr>
        <p:txBody>
          <a:bodyPr wrap="square" lIns="0" tIns="0" rIns="0" bIns="0" rtlCol="0" anchor="ctr"/>
          <a:lstStyle/>
          <a:p>
            <a:pPr marL="0" indent="0" algn="ctr">
              <a:buNone/>
            </a:pPr>
            <a:r>
              <a:rPr lang="en-US" sz="900" b="1" dirty="0">
                <a:solidFill>
                  <a:srgbClr val="0B1F12"/>
                </a:solidFill>
              </a:rPr>
              <a:t>3</a:t>
            </a:r>
            <a:endParaRPr lang="en-US" sz="900" dirty="0"/>
          </a:p>
        </p:txBody>
      </p:sp>
      <p:sp>
        <p:nvSpPr>
          <p:cNvPr id="99" name="Text 97"/>
          <p:cNvSpPr/>
          <p:nvPr/>
        </p:nvSpPr>
        <p:spPr>
          <a:xfrm>
            <a:off x="6400800" y="2980944"/>
            <a:ext cx="2286000" cy="182880"/>
          </a:xfrm>
          <a:prstGeom prst="rect">
            <a:avLst/>
          </a:prstGeom>
          <a:noFill/>
          <a:ln/>
        </p:spPr>
        <p:txBody>
          <a:bodyPr wrap="square" lIns="0" tIns="0" rIns="0" bIns="0" rtlCol="0" anchor="ctr"/>
          <a:lstStyle/>
          <a:p>
            <a:pPr marL="0" indent="0">
              <a:buNone/>
            </a:pPr>
            <a:r>
              <a:rPr lang="en-US" sz="900" b="1" dirty="0">
                <a:solidFill>
                  <a:srgbClr val="1A4A24"/>
                </a:solidFill>
              </a:rPr>
              <a:t>FY alignment</a:t>
            </a:r>
            <a:endParaRPr lang="en-US" sz="900" dirty="0"/>
          </a:p>
        </p:txBody>
      </p:sp>
      <p:sp>
        <p:nvSpPr>
          <p:cNvPr id="100" name="Text 98"/>
          <p:cNvSpPr/>
          <p:nvPr/>
        </p:nvSpPr>
        <p:spPr>
          <a:xfrm>
            <a:off x="6400800" y="3163824"/>
            <a:ext cx="2286000" cy="164592"/>
          </a:xfrm>
          <a:prstGeom prst="rect">
            <a:avLst/>
          </a:prstGeom>
          <a:noFill/>
          <a:ln/>
        </p:spPr>
        <p:txBody>
          <a:bodyPr wrap="square" lIns="0" tIns="0" rIns="0" bIns="0" rtlCol="0" anchor="ctr"/>
          <a:lstStyle/>
          <a:p>
            <a:pPr marL="0" indent="0">
              <a:buNone/>
            </a:pPr>
            <a:r>
              <a:rPr lang="en-US" sz="800" dirty="0">
                <a:solidFill>
                  <a:srgbClr val="1A3A1A"/>
                </a:solidFill>
              </a:rPr>
              <a:t>Rainfall Jul–Jun aggregated</a:t>
            </a:r>
            <a:endParaRPr lang="en-US" sz="800" dirty="0"/>
          </a:p>
        </p:txBody>
      </p:sp>
      <p:sp>
        <p:nvSpPr>
          <p:cNvPr id="101" name="Shape 99"/>
          <p:cNvSpPr/>
          <p:nvPr/>
        </p:nvSpPr>
        <p:spPr>
          <a:xfrm>
            <a:off x="5989320" y="3469094"/>
            <a:ext cx="2834640" cy="420624"/>
          </a:xfrm>
          <a:prstGeom prst="rect">
            <a:avLst/>
          </a:prstGeom>
          <a:solidFill>
            <a:srgbClr val="EEF4EE"/>
          </a:solidFill>
          <a:ln w="5080">
            <a:solidFill>
              <a:srgbClr val="C8D4C8"/>
            </a:solidFill>
            <a:prstDash val="solid"/>
          </a:ln>
        </p:spPr>
        <p:txBody>
          <a:bodyPr/>
          <a:lstStyle/>
          <a:p>
            <a:endParaRPr lang="en-AU"/>
          </a:p>
        </p:txBody>
      </p:sp>
      <p:sp>
        <p:nvSpPr>
          <p:cNvPr id="102" name="Shape 100"/>
          <p:cNvSpPr/>
          <p:nvPr/>
        </p:nvSpPr>
        <p:spPr>
          <a:xfrm>
            <a:off x="6035040" y="3493008"/>
            <a:ext cx="274320" cy="274320"/>
          </a:xfrm>
          <a:prstGeom prst="ellipse">
            <a:avLst/>
          </a:prstGeom>
          <a:solidFill>
            <a:srgbClr val="E8A230"/>
          </a:solidFill>
          <a:ln w="12700">
            <a:solidFill>
              <a:srgbClr val="E8A230"/>
            </a:solidFill>
            <a:prstDash val="solid"/>
          </a:ln>
        </p:spPr>
        <p:txBody>
          <a:bodyPr/>
          <a:lstStyle/>
          <a:p>
            <a:endParaRPr lang="en-AU"/>
          </a:p>
        </p:txBody>
      </p:sp>
      <p:sp>
        <p:nvSpPr>
          <p:cNvPr id="103" name="Text 101"/>
          <p:cNvSpPr/>
          <p:nvPr/>
        </p:nvSpPr>
        <p:spPr>
          <a:xfrm>
            <a:off x="6035040" y="3493008"/>
            <a:ext cx="274320" cy="274320"/>
          </a:xfrm>
          <a:prstGeom prst="rect">
            <a:avLst/>
          </a:prstGeom>
          <a:noFill/>
          <a:ln/>
        </p:spPr>
        <p:txBody>
          <a:bodyPr wrap="square" lIns="0" tIns="0" rIns="0" bIns="0" rtlCol="0" anchor="ctr"/>
          <a:lstStyle/>
          <a:p>
            <a:pPr marL="0" indent="0" algn="ctr">
              <a:buNone/>
            </a:pPr>
            <a:r>
              <a:rPr lang="en-US" sz="900" b="1" dirty="0">
                <a:solidFill>
                  <a:srgbClr val="0B1F12"/>
                </a:solidFill>
              </a:rPr>
              <a:t>4</a:t>
            </a:r>
            <a:endParaRPr lang="en-US" sz="900" dirty="0"/>
          </a:p>
        </p:txBody>
      </p:sp>
      <p:sp>
        <p:nvSpPr>
          <p:cNvPr id="104" name="Text 102"/>
          <p:cNvSpPr/>
          <p:nvPr/>
        </p:nvSpPr>
        <p:spPr>
          <a:xfrm>
            <a:off x="6400800" y="3456432"/>
            <a:ext cx="2286000" cy="182880"/>
          </a:xfrm>
          <a:prstGeom prst="rect">
            <a:avLst/>
          </a:prstGeom>
          <a:noFill/>
          <a:ln/>
        </p:spPr>
        <p:txBody>
          <a:bodyPr wrap="square" lIns="0" tIns="0" rIns="0" bIns="0" rtlCol="0" anchor="ctr"/>
          <a:lstStyle/>
          <a:p>
            <a:r>
              <a:rPr lang="en-US" sz="900" b="1" dirty="0">
                <a:solidFill>
                  <a:srgbClr val="1A4A24"/>
                </a:solidFill>
              </a:rPr>
              <a:t>Missing values</a:t>
            </a:r>
            <a:endParaRPr lang="en-US" sz="900" dirty="0"/>
          </a:p>
        </p:txBody>
      </p:sp>
      <p:sp>
        <p:nvSpPr>
          <p:cNvPr id="105" name="Text 103"/>
          <p:cNvSpPr/>
          <p:nvPr/>
        </p:nvSpPr>
        <p:spPr>
          <a:xfrm>
            <a:off x="6400800" y="3639312"/>
            <a:ext cx="2286000" cy="164592"/>
          </a:xfrm>
          <a:prstGeom prst="rect">
            <a:avLst/>
          </a:prstGeom>
          <a:noFill/>
          <a:ln/>
        </p:spPr>
        <p:txBody>
          <a:bodyPr wrap="square" lIns="0" tIns="0" rIns="0" bIns="0" rtlCol="0" anchor="ctr"/>
          <a:lstStyle/>
          <a:p>
            <a:r>
              <a:rPr lang="en-US" sz="800" dirty="0">
                <a:solidFill>
                  <a:srgbClr val="1A3A1A"/>
                </a:solidFill>
              </a:rPr>
              <a:t>Excluded or estimated</a:t>
            </a:r>
            <a:endParaRPr lang="en-US" sz="800" dirty="0"/>
          </a:p>
        </p:txBody>
      </p:sp>
      <p:sp>
        <p:nvSpPr>
          <p:cNvPr id="118" name="Text 116"/>
          <p:cNvSpPr/>
          <p:nvPr/>
        </p:nvSpPr>
        <p:spPr>
          <a:xfrm>
            <a:off x="274320" y="4663440"/>
            <a:ext cx="8595360" cy="182880"/>
          </a:xfrm>
          <a:prstGeom prst="rect">
            <a:avLst/>
          </a:prstGeom>
          <a:noFill/>
          <a:ln/>
        </p:spPr>
        <p:txBody>
          <a:bodyPr wrap="square" lIns="0" tIns="0" rIns="0" bIns="0" rtlCol="0" anchor="ctr"/>
          <a:lstStyle/>
          <a:p>
            <a:pPr marL="0" indent="0">
              <a:buNone/>
            </a:pPr>
            <a:r>
              <a:rPr lang="en-US" sz="750" i="1" dirty="0"/>
              <a:t>Source: Bureau of Meteorology 2026; ABS Value of Agricultural Commodities 2025; ABS Consumer Price Index 2025</a:t>
            </a:r>
            <a:endParaRPr lang="en-US" sz="750" dirty="0"/>
          </a:p>
        </p:txBody>
      </p:sp>
      <p:pic>
        <p:nvPicPr>
          <p:cNvPr id="119" name="Picture 118">
            <a:extLst>
              <a:ext uri="{FF2B5EF4-FFF2-40B4-BE49-F238E27FC236}">
                <a16:creationId xmlns:a16="http://schemas.microsoft.com/office/drawing/2014/main" id="{6D9B9A62-8870-82C7-DCA7-6583C3F83F0C}"/>
              </a:ext>
            </a:extLst>
          </p:cNvPr>
          <p:cNvPicPr>
            <a:picLocks noChangeAspect="1"/>
          </p:cNvPicPr>
          <p:nvPr/>
        </p:nvPicPr>
        <p:blipFill>
          <a:blip r:embed="rId4"/>
          <a:stretch>
            <a:fillRect/>
          </a:stretch>
        </p:blipFill>
        <p:spPr>
          <a:xfrm>
            <a:off x="447999" y="1951380"/>
            <a:ext cx="5328547" cy="534381"/>
          </a:xfrm>
          <a:prstGeom prst="rect">
            <a:avLst/>
          </a:prstGeom>
          <a:ln w="12700">
            <a:solidFill>
              <a:schemeClr val="tx1"/>
            </a:solidFill>
          </a:ln>
        </p:spPr>
      </p:pic>
      <p:pic>
        <p:nvPicPr>
          <p:cNvPr id="120" name="Picture 119">
            <a:extLst>
              <a:ext uri="{FF2B5EF4-FFF2-40B4-BE49-F238E27FC236}">
                <a16:creationId xmlns:a16="http://schemas.microsoft.com/office/drawing/2014/main" id="{AF5F0CAC-82F6-7B39-1630-4D460F792D98}"/>
              </a:ext>
            </a:extLst>
          </p:cNvPr>
          <p:cNvPicPr>
            <a:picLocks noChangeAspect="1"/>
          </p:cNvPicPr>
          <p:nvPr/>
        </p:nvPicPr>
        <p:blipFill>
          <a:blip r:embed="rId5"/>
          <a:stretch>
            <a:fillRect/>
          </a:stretch>
        </p:blipFill>
        <p:spPr>
          <a:xfrm>
            <a:off x="439911" y="2561554"/>
            <a:ext cx="3344298" cy="730286"/>
          </a:xfrm>
          <a:prstGeom prst="rect">
            <a:avLst/>
          </a:prstGeom>
          <a:ln w="12700">
            <a:solidFill>
              <a:schemeClr val="tx1"/>
            </a:solidFill>
          </a:ln>
        </p:spPr>
      </p:pic>
      <p:pic>
        <p:nvPicPr>
          <p:cNvPr id="121" name="Picture 120">
            <a:extLst>
              <a:ext uri="{FF2B5EF4-FFF2-40B4-BE49-F238E27FC236}">
                <a16:creationId xmlns:a16="http://schemas.microsoft.com/office/drawing/2014/main" id="{89CAD513-70ED-5D50-2525-8632CC2195DB}"/>
              </a:ext>
            </a:extLst>
          </p:cNvPr>
          <p:cNvPicPr>
            <a:picLocks noChangeAspect="1"/>
          </p:cNvPicPr>
          <p:nvPr/>
        </p:nvPicPr>
        <p:blipFill>
          <a:blip r:embed="rId6"/>
          <a:stretch>
            <a:fillRect/>
          </a:stretch>
        </p:blipFill>
        <p:spPr>
          <a:xfrm>
            <a:off x="439911" y="3364992"/>
            <a:ext cx="3160364" cy="661122"/>
          </a:xfrm>
          <a:prstGeom prst="rect">
            <a:avLst/>
          </a:prstGeom>
          <a:ln w="12700">
            <a:solidFill>
              <a:schemeClr val="tx1"/>
            </a:solidFill>
          </a:ln>
        </p:spPr>
      </p:pic>
      <p:pic>
        <p:nvPicPr>
          <p:cNvPr id="122" name="Picture 121">
            <a:extLst>
              <a:ext uri="{FF2B5EF4-FFF2-40B4-BE49-F238E27FC236}">
                <a16:creationId xmlns:a16="http://schemas.microsoft.com/office/drawing/2014/main" id="{26F8B970-7624-1CF0-CE79-C42A04CAB0CD}"/>
              </a:ext>
            </a:extLst>
          </p:cNvPr>
          <p:cNvPicPr>
            <a:picLocks noChangeAspect="1"/>
          </p:cNvPicPr>
          <p:nvPr/>
        </p:nvPicPr>
        <p:blipFill>
          <a:blip r:embed="rId7"/>
          <a:stretch>
            <a:fillRect/>
          </a:stretch>
        </p:blipFill>
        <p:spPr>
          <a:xfrm>
            <a:off x="459022" y="4103727"/>
            <a:ext cx="7084778" cy="461058"/>
          </a:xfrm>
          <a:prstGeom prst="rect">
            <a:avLst/>
          </a:prstGeom>
          <a:ln w="12700">
            <a:solidFill>
              <a:schemeClr val="tx1"/>
            </a:solidFill>
          </a:ln>
        </p:spPr>
      </p:pic>
      <p:sp>
        <p:nvSpPr>
          <p:cNvPr id="123" name="Flowchart: Connector 122">
            <a:extLst>
              <a:ext uri="{FF2B5EF4-FFF2-40B4-BE49-F238E27FC236}">
                <a16:creationId xmlns:a16="http://schemas.microsoft.com/office/drawing/2014/main" id="{EFA16A2C-2099-AB01-6815-B01F99F0F4AD}"/>
              </a:ext>
            </a:extLst>
          </p:cNvPr>
          <p:cNvSpPr/>
          <p:nvPr/>
        </p:nvSpPr>
        <p:spPr>
          <a:xfrm>
            <a:off x="127225" y="1954026"/>
            <a:ext cx="244136" cy="258822"/>
          </a:xfrm>
          <a:prstGeom prst="flowChartConnector">
            <a:avLst/>
          </a:prstGeom>
          <a:solidFill>
            <a:srgbClr val="FFC000"/>
          </a:solidFill>
          <a:ln>
            <a:solidFill>
              <a:schemeClr val="accent5"/>
            </a:solidFill>
          </a:ln>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AU" sz="1100" b="1" dirty="0">
                <a:solidFill>
                  <a:schemeClr val="tx1"/>
                </a:solidFill>
              </a:rPr>
              <a:t>1</a:t>
            </a:r>
          </a:p>
        </p:txBody>
      </p:sp>
      <p:sp>
        <p:nvSpPr>
          <p:cNvPr id="124" name="Flowchart: Connector 123">
            <a:extLst>
              <a:ext uri="{FF2B5EF4-FFF2-40B4-BE49-F238E27FC236}">
                <a16:creationId xmlns:a16="http://schemas.microsoft.com/office/drawing/2014/main" id="{D4A8B4E4-FA61-4DEE-E635-CD35E06E308A}"/>
              </a:ext>
            </a:extLst>
          </p:cNvPr>
          <p:cNvSpPr/>
          <p:nvPr/>
        </p:nvSpPr>
        <p:spPr>
          <a:xfrm>
            <a:off x="95751" y="2539242"/>
            <a:ext cx="276841" cy="257475"/>
          </a:xfrm>
          <a:prstGeom prst="flowChartConnector">
            <a:avLst/>
          </a:prstGeom>
          <a:solidFill>
            <a:srgbClr val="FFC000"/>
          </a:solidFill>
          <a:ln>
            <a:solidFill>
              <a:schemeClr val="accent5"/>
            </a:solidFill>
          </a:ln>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AU" sz="1100" b="1" dirty="0">
                <a:solidFill>
                  <a:schemeClr val="tx1"/>
                </a:solidFill>
              </a:rPr>
              <a:t>2</a:t>
            </a:r>
          </a:p>
        </p:txBody>
      </p:sp>
      <p:sp>
        <p:nvSpPr>
          <p:cNvPr id="125" name="Flowchart: Connector 124">
            <a:extLst>
              <a:ext uri="{FF2B5EF4-FFF2-40B4-BE49-F238E27FC236}">
                <a16:creationId xmlns:a16="http://schemas.microsoft.com/office/drawing/2014/main" id="{59E09519-9DAC-32D7-5337-A1CE4B4F4AC1}"/>
              </a:ext>
            </a:extLst>
          </p:cNvPr>
          <p:cNvSpPr/>
          <p:nvPr/>
        </p:nvSpPr>
        <p:spPr>
          <a:xfrm>
            <a:off x="117350" y="3289694"/>
            <a:ext cx="276841" cy="257475"/>
          </a:xfrm>
          <a:prstGeom prst="flowChartConnector">
            <a:avLst/>
          </a:prstGeom>
          <a:solidFill>
            <a:srgbClr val="FFC000"/>
          </a:solidFill>
          <a:ln>
            <a:solidFill>
              <a:schemeClr val="accent5"/>
            </a:solidFill>
          </a:ln>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AU" sz="1100" b="1" dirty="0">
                <a:solidFill>
                  <a:schemeClr val="tx1"/>
                </a:solidFill>
              </a:rPr>
              <a:t>3</a:t>
            </a:r>
          </a:p>
        </p:txBody>
      </p:sp>
      <p:sp>
        <p:nvSpPr>
          <p:cNvPr id="126" name="Flowchart: Connector 125">
            <a:extLst>
              <a:ext uri="{FF2B5EF4-FFF2-40B4-BE49-F238E27FC236}">
                <a16:creationId xmlns:a16="http://schemas.microsoft.com/office/drawing/2014/main" id="{C4C3591A-FF85-E32C-BE79-9ACCC3EBDC11}"/>
              </a:ext>
            </a:extLst>
          </p:cNvPr>
          <p:cNvSpPr/>
          <p:nvPr/>
        </p:nvSpPr>
        <p:spPr>
          <a:xfrm>
            <a:off x="122013" y="4026114"/>
            <a:ext cx="276841" cy="257475"/>
          </a:xfrm>
          <a:prstGeom prst="flowChartConnector">
            <a:avLst/>
          </a:prstGeom>
          <a:solidFill>
            <a:srgbClr val="FFC000"/>
          </a:solidFill>
          <a:ln>
            <a:solidFill>
              <a:schemeClr val="accent5"/>
            </a:solidFill>
          </a:ln>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AU" sz="1100" b="1" dirty="0">
                <a:solidFill>
                  <a:schemeClr val="tx1"/>
                </a:solidFill>
              </a:rPr>
              <a:t>4</a:t>
            </a:r>
          </a:p>
        </p:txBody>
      </p:sp>
      <p:sp>
        <p:nvSpPr>
          <p:cNvPr id="129" name="TextBox 128">
            <a:extLst>
              <a:ext uri="{FF2B5EF4-FFF2-40B4-BE49-F238E27FC236}">
                <a16:creationId xmlns:a16="http://schemas.microsoft.com/office/drawing/2014/main" id="{194813F1-BAC2-E0B2-3194-6E010B87BCBB}"/>
              </a:ext>
            </a:extLst>
          </p:cNvPr>
          <p:cNvSpPr txBox="1"/>
          <p:nvPr/>
        </p:nvSpPr>
        <p:spPr>
          <a:xfrm>
            <a:off x="8770620" y="4831080"/>
            <a:ext cx="114300" cy="215444"/>
          </a:xfrm>
          <a:prstGeom prst="rect">
            <a:avLst/>
          </a:prstGeom>
          <a:noFill/>
        </p:spPr>
        <p:txBody>
          <a:bodyPr wrap="square" rtlCol="0">
            <a:spAutoFit/>
          </a:bodyPr>
          <a:lstStyle/>
          <a:p>
            <a:r>
              <a:rPr lang="en-AU" sz="800" dirty="0"/>
              <a:t>3</a:t>
            </a:r>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8"/>
        </a:solidFill>
        <a:effectLst/>
      </p:bgPr>
    </p:bg>
    <p:spTree>
      <p:nvGrpSpPr>
        <p:cNvPr id="1" name=""/>
        <p:cNvGrpSpPr/>
        <p:nvPr/>
      </p:nvGrpSpPr>
      <p:grpSpPr>
        <a:xfrm>
          <a:off x="0" y="0"/>
          <a:ext cx="0" cy="0"/>
          <a:chOff x="0" y="0"/>
          <a:chExt cx="0" cy="0"/>
        </a:xfrm>
      </p:grpSpPr>
      <p:pic>
        <p:nvPicPr>
          <p:cNvPr id="63" name="Picture 62">
            <a:extLst>
              <a:ext uri="{FF2B5EF4-FFF2-40B4-BE49-F238E27FC236}">
                <a16:creationId xmlns:a16="http://schemas.microsoft.com/office/drawing/2014/main" id="{6793CDC7-2EDF-8B3B-3A1C-D5329B12F18E}"/>
              </a:ext>
            </a:extLst>
          </p:cNvPr>
          <p:cNvPicPr>
            <a:picLocks noChangeAspect="1"/>
          </p:cNvPicPr>
          <p:nvPr/>
        </p:nvPicPr>
        <p:blipFill>
          <a:blip r:embed="rId3">
            <a:alphaModFix amt="50000"/>
          </a:blip>
          <a:stretch>
            <a:fillRect/>
          </a:stretch>
        </p:blipFill>
        <p:spPr>
          <a:xfrm>
            <a:off x="0" y="0"/>
            <a:ext cx="9144000" cy="5165269"/>
          </a:xfrm>
          <a:prstGeom prst="rect">
            <a:avLst/>
          </a:prstGeom>
        </p:spPr>
      </p:pic>
      <p:sp>
        <p:nvSpPr>
          <p:cNvPr id="2" name="Text 0"/>
          <p:cNvSpPr/>
          <p:nvPr/>
        </p:nvSpPr>
        <p:spPr>
          <a:xfrm>
            <a:off x="274320" y="164592"/>
            <a:ext cx="8595360" cy="438912"/>
          </a:xfrm>
          <a:prstGeom prst="rect">
            <a:avLst/>
          </a:prstGeom>
          <a:noFill/>
          <a:ln/>
        </p:spPr>
        <p:txBody>
          <a:bodyPr wrap="square" lIns="0" tIns="0" rIns="0" bIns="0" rtlCol="0" anchor="ctr"/>
          <a:lstStyle/>
          <a:p>
            <a:pPr marL="0" indent="0">
              <a:buNone/>
            </a:pPr>
            <a:r>
              <a:rPr lang="en-US" sz="2600" b="1" dirty="0">
                <a:solidFill>
                  <a:srgbClr val="1A4A24"/>
                </a:solidFill>
                <a:latin typeface="Calibri" pitchFamily="34" charset="0"/>
                <a:ea typeface="Calibri" pitchFamily="34" charset="-122"/>
                <a:cs typeface="Calibri" pitchFamily="34" charset="-120"/>
              </a:rPr>
              <a:t>Machine Learning Algorithms - Why Selected</a:t>
            </a:r>
            <a:endParaRPr lang="en-US" sz="2600" dirty="0"/>
          </a:p>
        </p:txBody>
      </p:sp>
      <p:sp>
        <p:nvSpPr>
          <p:cNvPr id="3" name="Shape 1"/>
          <p:cNvSpPr/>
          <p:nvPr/>
        </p:nvSpPr>
        <p:spPr>
          <a:xfrm>
            <a:off x="274320" y="694944"/>
            <a:ext cx="8549640" cy="329184"/>
          </a:xfrm>
          <a:prstGeom prst="rect">
            <a:avLst/>
          </a:prstGeom>
          <a:solidFill>
            <a:srgbClr val="1A4A24"/>
          </a:solidFill>
          <a:ln w="12700">
            <a:solidFill>
              <a:srgbClr val="2D8A4E"/>
            </a:solidFill>
            <a:prstDash val="solid"/>
          </a:ln>
        </p:spPr>
        <p:txBody>
          <a:bodyPr/>
          <a:lstStyle/>
          <a:p>
            <a:endParaRPr lang="en-AU"/>
          </a:p>
        </p:txBody>
      </p:sp>
      <p:sp>
        <p:nvSpPr>
          <p:cNvPr id="4" name="Text 2"/>
          <p:cNvSpPr/>
          <p:nvPr/>
        </p:nvSpPr>
        <p:spPr>
          <a:xfrm>
            <a:off x="274320" y="694944"/>
            <a:ext cx="8549640" cy="329184"/>
          </a:xfrm>
          <a:prstGeom prst="rect">
            <a:avLst/>
          </a:prstGeom>
          <a:noFill/>
          <a:ln/>
        </p:spPr>
        <p:txBody>
          <a:bodyPr wrap="square" lIns="0" tIns="0" rIns="0" bIns="0" rtlCol="0" anchor="ctr"/>
          <a:lstStyle/>
          <a:p>
            <a:pPr marL="0" indent="0" algn="ctr">
              <a:buNone/>
            </a:pPr>
            <a:r>
              <a:rPr lang="en-US" sz="900" b="1" dirty="0">
                <a:solidFill>
                  <a:srgbClr val="FFFFFF"/>
                </a:solidFill>
              </a:rPr>
              <a:t>Analytical framework: Random Forest (ML) for rainfall forecasting  ·  ARIMA + Holt-Winters + Prophet (time-series) for production forecasting</a:t>
            </a:r>
            <a:endParaRPr lang="en-US" sz="900" dirty="0"/>
          </a:p>
        </p:txBody>
      </p:sp>
      <p:sp>
        <p:nvSpPr>
          <p:cNvPr id="5" name="Shape 3"/>
          <p:cNvSpPr/>
          <p:nvPr/>
        </p:nvSpPr>
        <p:spPr>
          <a:xfrm>
            <a:off x="274320" y="1097280"/>
            <a:ext cx="8595360" cy="1444752"/>
          </a:xfrm>
          <a:prstGeom prst="rect">
            <a:avLst/>
          </a:prstGeom>
          <a:solidFill>
            <a:srgbClr val="534AB7"/>
          </a:solidFill>
          <a:ln w="15240">
            <a:solidFill>
              <a:srgbClr val="7B72D4"/>
            </a:solidFill>
            <a:prstDash val="solid"/>
          </a:ln>
          <a:effectLst>
            <a:outerShdw blurRad="101600" dist="38100" dir="8100000" algn="bl" rotWithShape="0">
              <a:srgbClr val="000000">
                <a:alpha val="18000"/>
              </a:srgbClr>
            </a:outerShdw>
          </a:effectLst>
        </p:spPr>
        <p:txBody>
          <a:bodyPr/>
          <a:lstStyle/>
          <a:p>
            <a:endParaRPr lang="en-AU"/>
          </a:p>
        </p:txBody>
      </p:sp>
      <p:sp>
        <p:nvSpPr>
          <p:cNvPr id="6" name="Shape 4"/>
          <p:cNvSpPr/>
          <p:nvPr/>
        </p:nvSpPr>
        <p:spPr>
          <a:xfrm>
            <a:off x="274320" y="1097280"/>
            <a:ext cx="8549640" cy="329184"/>
          </a:xfrm>
          <a:prstGeom prst="rect">
            <a:avLst/>
          </a:prstGeom>
          <a:solidFill>
            <a:srgbClr val="3A3190"/>
          </a:solidFill>
          <a:ln w="12700">
            <a:solidFill>
              <a:srgbClr val="3A3190"/>
            </a:solidFill>
            <a:prstDash val="solid"/>
          </a:ln>
        </p:spPr>
        <p:txBody>
          <a:bodyPr/>
          <a:lstStyle/>
          <a:p>
            <a:endParaRPr lang="en-AU"/>
          </a:p>
        </p:txBody>
      </p:sp>
      <p:sp>
        <p:nvSpPr>
          <p:cNvPr id="7" name="Shape 5"/>
          <p:cNvSpPr/>
          <p:nvPr/>
        </p:nvSpPr>
        <p:spPr>
          <a:xfrm>
            <a:off x="365760" y="1143000"/>
            <a:ext cx="237744" cy="237744"/>
          </a:xfrm>
          <a:prstGeom prst="ellipse">
            <a:avLst/>
          </a:prstGeom>
          <a:solidFill>
            <a:srgbClr val="FFFFFF">
              <a:alpha val="80000"/>
            </a:srgbClr>
          </a:solidFill>
          <a:ln w="12700">
            <a:solidFill>
              <a:srgbClr val="FFFFFF">
                <a:alpha val="80000"/>
              </a:srgbClr>
            </a:solidFill>
            <a:prstDash val="solid"/>
          </a:ln>
        </p:spPr>
        <p:txBody>
          <a:bodyPr/>
          <a:lstStyle/>
          <a:p>
            <a:endParaRPr lang="en-AU"/>
          </a:p>
        </p:txBody>
      </p:sp>
      <p:sp>
        <p:nvSpPr>
          <p:cNvPr id="8" name="Text 6"/>
          <p:cNvSpPr/>
          <p:nvPr/>
        </p:nvSpPr>
        <p:spPr>
          <a:xfrm>
            <a:off x="365760" y="1143000"/>
            <a:ext cx="237744" cy="237744"/>
          </a:xfrm>
          <a:prstGeom prst="rect">
            <a:avLst/>
          </a:prstGeom>
          <a:noFill/>
          <a:ln/>
        </p:spPr>
        <p:txBody>
          <a:bodyPr wrap="square" lIns="0" tIns="0" rIns="0" bIns="0" rtlCol="0" anchor="ctr"/>
          <a:lstStyle/>
          <a:p>
            <a:pPr marL="0" indent="0" algn="ctr">
              <a:buNone/>
            </a:pPr>
            <a:r>
              <a:rPr lang="en-US" sz="800" b="1" dirty="0"/>
              <a:t>ML</a:t>
            </a:r>
            <a:endParaRPr lang="en-US" sz="800" dirty="0"/>
          </a:p>
        </p:txBody>
      </p:sp>
      <p:sp>
        <p:nvSpPr>
          <p:cNvPr id="9" name="Text 7"/>
          <p:cNvSpPr/>
          <p:nvPr/>
        </p:nvSpPr>
        <p:spPr>
          <a:xfrm>
            <a:off x="676656" y="1152144"/>
            <a:ext cx="7955280" cy="256032"/>
          </a:xfrm>
          <a:prstGeom prst="rect">
            <a:avLst/>
          </a:prstGeom>
          <a:noFill/>
          <a:ln/>
        </p:spPr>
        <p:txBody>
          <a:bodyPr wrap="square" lIns="0" tIns="0" rIns="0" bIns="0" rtlCol="0" anchor="ctr"/>
          <a:lstStyle/>
          <a:p>
            <a:pPr marL="0" indent="0">
              <a:buNone/>
            </a:pPr>
            <a:r>
              <a:rPr lang="en-US" sz="1300" b="1" dirty="0">
                <a:solidFill>
                  <a:srgbClr val="FFFFFF"/>
                </a:solidFill>
              </a:rPr>
              <a:t>Random Forest Regression  -  Machine Learning Component</a:t>
            </a:r>
            <a:endParaRPr lang="en-US" sz="1300" dirty="0"/>
          </a:p>
        </p:txBody>
      </p:sp>
      <p:sp>
        <p:nvSpPr>
          <p:cNvPr id="10" name="Text 8"/>
          <p:cNvSpPr/>
          <p:nvPr/>
        </p:nvSpPr>
        <p:spPr>
          <a:xfrm>
            <a:off x="420624" y="1481328"/>
            <a:ext cx="2651760" cy="201168"/>
          </a:xfrm>
          <a:prstGeom prst="rect">
            <a:avLst/>
          </a:prstGeom>
          <a:noFill/>
          <a:ln/>
        </p:spPr>
        <p:txBody>
          <a:bodyPr wrap="square" lIns="0" tIns="0" rIns="0" bIns="0" rtlCol="0" anchor="ctr"/>
          <a:lstStyle/>
          <a:p>
            <a:pPr marL="0" indent="0">
              <a:buNone/>
            </a:pPr>
            <a:r>
              <a:rPr lang="en-US" sz="900" b="1" dirty="0">
                <a:solidFill>
                  <a:srgbClr val="C8C0FF"/>
                </a:solidFill>
              </a:rPr>
              <a:t>Why RF for this data</a:t>
            </a:r>
            <a:endParaRPr lang="en-US" sz="900" dirty="0"/>
          </a:p>
        </p:txBody>
      </p:sp>
      <p:sp>
        <p:nvSpPr>
          <p:cNvPr id="11" name="Text 9"/>
          <p:cNvSpPr/>
          <p:nvPr/>
        </p:nvSpPr>
        <p:spPr>
          <a:xfrm>
            <a:off x="420624" y="1700784"/>
            <a:ext cx="2651760" cy="182880"/>
          </a:xfrm>
          <a:prstGeom prst="rect">
            <a:avLst/>
          </a:prstGeom>
          <a:noFill/>
          <a:ln/>
        </p:spPr>
        <p:txBody>
          <a:bodyPr wrap="square" lIns="0" tIns="0" rIns="0" bIns="0" rtlCol="0" anchor="ctr"/>
          <a:lstStyle/>
          <a:p>
            <a:r>
              <a:rPr lang="en-US" sz="800" dirty="0">
                <a:solidFill>
                  <a:schemeClr val="bg1"/>
                </a:solidFill>
              </a:rPr>
              <a:t>• 72 rainfall readings per month, sufficient for ML</a:t>
            </a:r>
          </a:p>
        </p:txBody>
      </p:sp>
      <p:sp>
        <p:nvSpPr>
          <p:cNvPr id="12" name="Text 10"/>
          <p:cNvSpPr/>
          <p:nvPr/>
        </p:nvSpPr>
        <p:spPr>
          <a:xfrm>
            <a:off x="420624" y="1901952"/>
            <a:ext cx="2651760" cy="182880"/>
          </a:xfrm>
          <a:prstGeom prst="rect">
            <a:avLst/>
          </a:prstGeom>
          <a:noFill/>
          <a:ln/>
        </p:spPr>
        <p:txBody>
          <a:bodyPr wrap="square" lIns="0" tIns="0" rIns="0" bIns="0" rtlCol="0" anchor="ctr"/>
          <a:lstStyle/>
          <a:p>
            <a:r>
              <a:rPr lang="en-US" sz="800" dirty="0">
                <a:solidFill>
                  <a:schemeClr val="bg1"/>
                </a:solidFill>
              </a:rPr>
              <a:t>• Manages seasonal patterns that are not linear, which ARIMA cannot</a:t>
            </a:r>
          </a:p>
        </p:txBody>
      </p:sp>
      <p:sp>
        <p:nvSpPr>
          <p:cNvPr id="13" name="Text 11"/>
          <p:cNvSpPr/>
          <p:nvPr/>
        </p:nvSpPr>
        <p:spPr>
          <a:xfrm>
            <a:off x="420624" y="2156460"/>
            <a:ext cx="2651760" cy="182880"/>
          </a:xfrm>
          <a:prstGeom prst="rect">
            <a:avLst/>
          </a:prstGeom>
          <a:noFill/>
          <a:ln/>
        </p:spPr>
        <p:txBody>
          <a:bodyPr wrap="square" lIns="0" tIns="0" rIns="0" bIns="0" rtlCol="0" anchor="ctr"/>
          <a:lstStyle/>
          <a:p>
            <a:r>
              <a:rPr lang="en-US" sz="800" dirty="0">
                <a:solidFill>
                  <a:schemeClr val="bg1"/>
                </a:solidFill>
              </a:rPr>
              <a:t>• The months that drive FY totals are revealed by feature relevance.</a:t>
            </a:r>
          </a:p>
        </p:txBody>
      </p:sp>
      <p:sp>
        <p:nvSpPr>
          <p:cNvPr id="14" name="Text 12"/>
          <p:cNvSpPr/>
          <p:nvPr/>
        </p:nvSpPr>
        <p:spPr>
          <a:xfrm>
            <a:off x="420624" y="2366772"/>
            <a:ext cx="2651760" cy="182880"/>
          </a:xfrm>
          <a:prstGeom prst="rect">
            <a:avLst/>
          </a:prstGeom>
          <a:noFill/>
          <a:ln/>
        </p:spPr>
        <p:txBody>
          <a:bodyPr wrap="square" lIns="0" tIns="0" rIns="0" bIns="0" rtlCol="0" anchor="ctr"/>
          <a:lstStyle/>
          <a:p>
            <a:r>
              <a:rPr lang="en-US" sz="800" dirty="0">
                <a:solidFill>
                  <a:schemeClr val="bg1"/>
                </a:solidFill>
              </a:rPr>
              <a:t>• A 200-tree ensemble that is resilient to tiny datasets</a:t>
            </a:r>
          </a:p>
        </p:txBody>
      </p:sp>
      <p:sp>
        <p:nvSpPr>
          <p:cNvPr id="15" name="Text 13"/>
          <p:cNvSpPr/>
          <p:nvPr/>
        </p:nvSpPr>
        <p:spPr>
          <a:xfrm>
            <a:off x="3255264" y="1481328"/>
            <a:ext cx="2651760" cy="201168"/>
          </a:xfrm>
          <a:prstGeom prst="rect">
            <a:avLst/>
          </a:prstGeom>
          <a:noFill/>
          <a:ln/>
        </p:spPr>
        <p:txBody>
          <a:bodyPr wrap="square" lIns="0" tIns="0" rIns="0" bIns="0" rtlCol="0" anchor="ctr"/>
          <a:lstStyle/>
          <a:p>
            <a:pPr marL="0" indent="0">
              <a:buNone/>
            </a:pPr>
            <a:r>
              <a:rPr lang="en-US" sz="900" b="1" dirty="0">
                <a:solidFill>
                  <a:srgbClr val="C8C0FF"/>
                </a:solidFill>
              </a:rPr>
              <a:t>Features engineered</a:t>
            </a:r>
            <a:endParaRPr lang="en-US" sz="900" dirty="0"/>
          </a:p>
        </p:txBody>
      </p:sp>
      <p:sp>
        <p:nvSpPr>
          <p:cNvPr id="16" name="Text 14"/>
          <p:cNvSpPr/>
          <p:nvPr/>
        </p:nvSpPr>
        <p:spPr>
          <a:xfrm>
            <a:off x="3255264" y="1700784"/>
            <a:ext cx="2651760" cy="182880"/>
          </a:xfrm>
          <a:prstGeom prst="rect">
            <a:avLst/>
          </a:prstGeom>
          <a:noFill/>
          <a:ln/>
        </p:spPr>
        <p:txBody>
          <a:bodyPr wrap="square" lIns="0" tIns="0" rIns="0" bIns="0" rtlCol="0" anchor="ctr"/>
          <a:lstStyle/>
          <a:p>
            <a:pPr marL="0" indent="0">
              <a:buNone/>
            </a:pPr>
            <a:r>
              <a:rPr lang="en-GB" sz="800" dirty="0">
                <a:solidFill>
                  <a:srgbClr val="FFFFFF"/>
                </a:solidFill>
              </a:rPr>
              <a:t>• Sin/cos (cyclical encoding) plus the month number</a:t>
            </a:r>
          </a:p>
        </p:txBody>
      </p:sp>
      <p:sp>
        <p:nvSpPr>
          <p:cNvPr id="17" name="Text 15"/>
          <p:cNvSpPr/>
          <p:nvPr/>
        </p:nvSpPr>
        <p:spPr>
          <a:xfrm>
            <a:off x="3255264" y="1901952"/>
            <a:ext cx="2651760" cy="182880"/>
          </a:xfrm>
          <a:prstGeom prst="rect">
            <a:avLst/>
          </a:prstGeom>
          <a:noFill/>
          <a:ln/>
        </p:spPr>
        <p:txBody>
          <a:bodyPr wrap="square" lIns="0" tIns="0" rIns="0" bIns="0" rtlCol="0" anchor="ctr"/>
          <a:lstStyle/>
          <a:p>
            <a:pPr marL="0" indent="0">
              <a:buNone/>
            </a:pPr>
            <a:r>
              <a:rPr lang="en-US" sz="800" dirty="0">
                <a:solidFill>
                  <a:srgbClr val="FFFFFF"/>
                </a:solidFill>
              </a:rPr>
              <a:t>• Lag 1, Lag 2, Lag 12 (seasonal memory)</a:t>
            </a:r>
            <a:endParaRPr lang="en-US" sz="800" dirty="0"/>
          </a:p>
        </p:txBody>
      </p:sp>
      <p:sp>
        <p:nvSpPr>
          <p:cNvPr id="18" name="Text 16"/>
          <p:cNvSpPr/>
          <p:nvPr/>
        </p:nvSpPr>
        <p:spPr>
          <a:xfrm>
            <a:off x="3255264" y="2103120"/>
            <a:ext cx="2651760" cy="182880"/>
          </a:xfrm>
          <a:prstGeom prst="rect">
            <a:avLst/>
          </a:prstGeom>
          <a:noFill/>
          <a:ln/>
        </p:spPr>
        <p:txBody>
          <a:bodyPr wrap="square" lIns="0" tIns="0" rIns="0" bIns="0" rtlCol="0" anchor="ctr"/>
          <a:lstStyle/>
          <a:p>
            <a:pPr marL="0" indent="0">
              <a:buNone/>
            </a:pPr>
            <a:r>
              <a:rPr lang="en-GB" sz="800" dirty="0">
                <a:solidFill>
                  <a:srgbClr val="FFFFFF"/>
                </a:solidFill>
              </a:rPr>
              <a:t>• Three-month and six-month rolling means</a:t>
            </a:r>
          </a:p>
        </p:txBody>
      </p:sp>
      <p:sp>
        <p:nvSpPr>
          <p:cNvPr id="19" name="Text 17"/>
          <p:cNvSpPr/>
          <p:nvPr/>
        </p:nvSpPr>
        <p:spPr>
          <a:xfrm>
            <a:off x="3255264" y="2304288"/>
            <a:ext cx="2651760" cy="182880"/>
          </a:xfrm>
          <a:prstGeom prst="rect">
            <a:avLst/>
          </a:prstGeom>
          <a:noFill/>
          <a:ln/>
        </p:spPr>
        <p:txBody>
          <a:bodyPr wrap="square" lIns="0" tIns="0" rIns="0" bIns="0" rtlCol="0" anchor="ctr"/>
          <a:lstStyle/>
          <a:p>
            <a:pPr marL="0" indent="0">
              <a:buNone/>
            </a:pPr>
            <a:r>
              <a:rPr lang="en-GB" sz="800" dirty="0">
                <a:solidFill>
                  <a:srgbClr val="FFFFFF"/>
                </a:solidFill>
              </a:rPr>
              <a:t>• Normalized by year (long-term trend)</a:t>
            </a:r>
          </a:p>
        </p:txBody>
      </p:sp>
      <p:sp>
        <p:nvSpPr>
          <p:cNvPr id="20" name="Text 18"/>
          <p:cNvSpPr/>
          <p:nvPr/>
        </p:nvSpPr>
        <p:spPr>
          <a:xfrm>
            <a:off x="6089904" y="1481328"/>
            <a:ext cx="2651760" cy="201168"/>
          </a:xfrm>
          <a:prstGeom prst="rect">
            <a:avLst/>
          </a:prstGeom>
          <a:noFill/>
          <a:ln/>
        </p:spPr>
        <p:txBody>
          <a:bodyPr wrap="square" lIns="0" tIns="0" rIns="0" bIns="0" rtlCol="0" anchor="ctr"/>
          <a:lstStyle/>
          <a:p>
            <a:pPr marL="0" indent="0">
              <a:buNone/>
            </a:pPr>
            <a:r>
              <a:rPr lang="en-US" sz="900" b="1" dirty="0">
                <a:solidFill>
                  <a:srgbClr val="C8C0FF"/>
                </a:solidFill>
              </a:rPr>
              <a:t>How it connects to production</a:t>
            </a:r>
            <a:endParaRPr lang="en-US" sz="900" dirty="0"/>
          </a:p>
        </p:txBody>
      </p:sp>
      <p:sp>
        <p:nvSpPr>
          <p:cNvPr id="21" name="Text 19"/>
          <p:cNvSpPr/>
          <p:nvPr/>
        </p:nvSpPr>
        <p:spPr>
          <a:xfrm>
            <a:off x="6089904" y="1700784"/>
            <a:ext cx="2651760" cy="182880"/>
          </a:xfrm>
          <a:prstGeom prst="rect">
            <a:avLst/>
          </a:prstGeom>
          <a:noFill/>
          <a:ln/>
        </p:spPr>
        <p:txBody>
          <a:bodyPr wrap="square" lIns="0" tIns="0" rIns="0" bIns="0" rtlCol="0" anchor="ctr"/>
          <a:lstStyle/>
          <a:p>
            <a:pPr marL="0" indent="0">
              <a:buNone/>
            </a:pPr>
            <a:r>
              <a:rPr lang="en-GB" sz="800" dirty="0">
                <a:solidFill>
                  <a:srgbClr val="FFFFFF"/>
                </a:solidFill>
              </a:rPr>
              <a:t>• RF predicts monthly precipitation for FY 2025/26 - 2029/30.</a:t>
            </a:r>
          </a:p>
        </p:txBody>
      </p:sp>
      <p:sp>
        <p:nvSpPr>
          <p:cNvPr id="22" name="Text 20"/>
          <p:cNvSpPr/>
          <p:nvPr/>
        </p:nvSpPr>
        <p:spPr>
          <a:xfrm>
            <a:off x="6099048" y="1944624"/>
            <a:ext cx="2651760" cy="182880"/>
          </a:xfrm>
          <a:prstGeom prst="rect">
            <a:avLst/>
          </a:prstGeom>
          <a:noFill/>
          <a:ln/>
        </p:spPr>
        <p:txBody>
          <a:bodyPr wrap="square" lIns="0" tIns="0" rIns="0" bIns="0" rtlCol="0" anchor="ctr"/>
          <a:lstStyle/>
          <a:p>
            <a:pPr marL="0" indent="0">
              <a:buNone/>
            </a:pPr>
            <a:r>
              <a:rPr lang="en-GB" sz="800" dirty="0">
                <a:solidFill>
                  <a:srgbClr val="FFFFFF"/>
                </a:solidFill>
              </a:rPr>
              <a:t>• Monthly totals combined with rainfall projections for the fiscal year</a:t>
            </a:r>
          </a:p>
        </p:txBody>
      </p:sp>
      <p:sp>
        <p:nvSpPr>
          <p:cNvPr id="23" name="Text 21"/>
          <p:cNvSpPr/>
          <p:nvPr/>
        </p:nvSpPr>
        <p:spPr>
          <a:xfrm>
            <a:off x="6089904" y="2125980"/>
            <a:ext cx="2651760" cy="182880"/>
          </a:xfrm>
          <a:prstGeom prst="rect">
            <a:avLst/>
          </a:prstGeom>
          <a:noFill/>
          <a:ln/>
        </p:spPr>
        <p:txBody>
          <a:bodyPr wrap="square" lIns="0" tIns="0" rIns="0" bIns="0" rtlCol="0" anchor="ctr"/>
          <a:lstStyle/>
          <a:p>
            <a:pPr marL="0" indent="0">
              <a:buNone/>
            </a:pPr>
            <a:r>
              <a:rPr lang="en-GB" sz="800" dirty="0">
                <a:solidFill>
                  <a:srgbClr val="FFFFFF"/>
                </a:solidFill>
              </a:rPr>
              <a:t>• To estimate production Δ%, apply Pearson R = −0.621.</a:t>
            </a:r>
          </a:p>
        </p:txBody>
      </p:sp>
      <p:sp>
        <p:nvSpPr>
          <p:cNvPr id="24" name="Text 22"/>
          <p:cNvSpPr/>
          <p:nvPr/>
        </p:nvSpPr>
        <p:spPr>
          <a:xfrm>
            <a:off x="6089904" y="2327148"/>
            <a:ext cx="2651760" cy="182880"/>
          </a:xfrm>
          <a:prstGeom prst="rect">
            <a:avLst/>
          </a:prstGeom>
          <a:noFill/>
          <a:ln/>
        </p:spPr>
        <p:txBody>
          <a:bodyPr wrap="square" lIns="0" tIns="0" rIns="0" bIns="0" rtlCol="0" anchor="ctr"/>
          <a:lstStyle/>
          <a:p>
            <a:pPr marL="0" indent="0">
              <a:buNone/>
            </a:pPr>
            <a:r>
              <a:rPr lang="en-GB" sz="800" dirty="0">
                <a:solidFill>
                  <a:srgbClr val="FFFFFF"/>
                </a:solidFill>
              </a:rPr>
              <a:t>• Offers a supply disruption risk indication powered by machine learning</a:t>
            </a:r>
          </a:p>
        </p:txBody>
      </p:sp>
      <p:sp>
        <p:nvSpPr>
          <p:cNvPr id="25" name="Shape 23"/>
          <p:cNvSpPr/>
          <p:nvPr/>
        </p:nvSpPr>
        <p:spPr>
          <a:xfrm>
            <a:off x="274320" y="2596896"/>
            <a:ext cx="2743200" cy="2103120"/>
          </a:xfrm>
          <a:prstGeom prst="rect">
            <a:avLst/>
          </a:prstGeom>
          <a:solidFill>
            <a:srgbClr val="FFFFFF"/>
          </a:solidFill>
          <a:ln w="1524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26" name="Shape 24"/>
          <p:cNvSpPr/>
          <p:nvPr/>
        </p:nvSpPr>
        <p:spPr>
          <a:xfrm>
            <a:off x="274320" y="2596896"/>
            <a:ext cx="2743200" cy="310896"/>
          </a:xfrm>
          <a:prstGeom prst="rect">
            <a:avLst/>
          </a:prstGeom>
          <a:solidFill>
            <a:srgbClr val="2D8A4E"/>
          </a:solidFill>
          <a:ln w="12700">
            <a:solidFill>
              <a:srgbClr val="2D8A4E"/>
            </a:solidFill>
            <a:prstDash val="solid"/>
          </a:ln>
        </p:spPr>
        <p:txBody>
          <a:bodyPr/>
          <a:lstStyle/>
          <a:p>
            <a:endParaRPr lang="en-AU"/>
          </a:p>
        </p:txBody>
      </p:sp>
      <p:sp>
        <p:nvSpPr>
          <p:cNvPr id="27" name="Shape 25"/>
          <p:cNvSpPr/>
          <p:nvPr/>
        </p:nvSpPr>
        <p:spPr>
          <a:xfrm>
            <a:off x="365760" y="2633472"/>
            <a:ext cx="219456" cy="219456"/>
          </a:xfrm>
          <a:prstGeom prst="ellipse">
            <a:avLst/>
          </a:prstGeom>
          <a:solidFill>
            <a:srgbClr val="FFFFFF">
              <a:alpha val="75000"/>
            </a:srgbClr>
          </a:solidFill>
          <a:ln w="12700">
            <a:solidFill>
              <a:srgbClr val="FFFFFF">
                <a:alpha val="75000"/>
              </a:srgbClr>
            </a:solidFill>
            <a:prstDash val="solid"/>
          </a:ln>
        </p:spPr>
        <p:txBody>
          <a:bodyPr/>
          <a:lstStyle/>
          <a:p>
            <a:endParaRPr lang="en-AU"/>
          </a:p>
        </p:txBody>
      </p:sp>
      <p:sp>
        <p:nvSpPr>
          <p:cNvPr id="28" name="Text 26"/>
          <p:cNvSpPr/>
          <p:nvPr/>
        </p:nvSpPr>
        <p:spPr>
          <a:xfrm>
            <a:off x="365760" y="2633472"/>
            <a:ext cx="219456" cy="219456"/>
          </a:xfrm>
          <a:prstGeom prst="rect">
            <a:avLst/>
          </a:prstGeom>
          <a:noFill/>
          <a:ln/>
        </p:spPr>
        <p:txBody>
          <a:bodyPr wrap="square" lIns="0" tIns="0" rIns="0" bIns="0" rtlCol="0" anchor="ctr"/>
          <a:lstStyle/>
          <a:p>
            <a:pPr marL="0" indent="0" algn="ctr">
              <a:buNone/>
            </a:pPr>
            <a:r>
              <a:rPr lang="en-US" sz="900" b="1" dirty="0"/>
              <a:t>1</a:t>
            </a:r>
            <a:endParaRPr lang="en-US" sz="900" dirty="0"/>
          </a:p>
        </p:txBody>
      </p:sp>
      <p:sp>
        <p:nvSpPr>
          <p:cNvPr id="29" name="Text 27"/>
          <p:cNvSpPr/>
          <p:nvPr/>
        </p:nvSpPr>
        <p:spPr>
          <a:xfrm>
            <a:off x="658368" y="2633472"/>
            <a:ext cx="2231136" cy="237744"/>
          </a:xfrm>
          <a:prstGeom prst="rect">
            <a:avLst/>
          </a:prstGeom>
          <a:noFill/>
          <a:ln/>
        </p:spPr>
        <p:txBody>
          <a:bodyPr wrap="square" lIns="0" tIns="0" rIns="0" bIns="0" rtlCol="0" anchor="ctr"/>
          <a:lstStyle/>
          <a:p>
            <a:pPr marL="0" indent="0">
              <a:buNone/>
            </a:pPr>
            <a:r>
              <a:rPr lang="en-US" sz="1100" b="1" dirty="0">
                <a:solidFill>
                  <a:srgbClr val="FFFFFF"/>
                </a:solidFill>
              </a:rPr>
              <a:t>ARIMA(1,1,0)</a:t>
            </a:r>
            <a:endParaRPr lang="en-US" sz="1100" dirty="0"/>
          </a:p>
        </p:txBody>
      </p:sp>
      <p:sp>
        <p:nvSpPr>
          <p:cNvPr id="30" name="Shape 28"/>
          <p:cNvSpPr/>
          <p:nvPr/>
        </p:nvSpPr>
        <p:spPr>
          <a:xfrm>
            <a:off x="365760" y="2944368"/>
            <a:ext cx="822960" cy="182880"/>
          </a:xfrm>
          <a:prstGeom prst="rect">
            <a:avLst/>
          </a:prstGeom>
          <a:solidFill>
            <a:srgbClr val="2D8A4E">
              <a:alpha val="25000"/>
            </a:srgbClr>
          </a:solidFill>
          <a:ln w="5080">
            <a:solidFill>
              <a:srgbClr val="2D8A4E"/>
            </a:solidFill>
            <a:prstDash val="solid"/>
          </a:ln>
        </p:spPr>
        <p:txBody>
          <a:bodyPr/>
          <a:lstStyle/>
          <a:p>
            <a:endParaRPr lang="en-AU"/>
          </a:p>
        </p:txBody>
      </p:sp>
      <p:sp>
        <p:nvSpPr>
          <p:cNvPr id="31" name="Text 29"/>
          <p:cNvSpPr/>
          <p:nvPr/>
        </p:nvSpPr>
        <p:spPr>
          <a:xfrm>
            <a:off x="365760" y="2944368"/>
            <a:ext cx="822960" cy="182880"/>
          </a:xfrm>
          <a:prstGeom prst="rect">
            <a:avLst/>
          </a:prstGeom>
          <a:noFill/>
          <a:ln/>
        </p:spPr>
        <p:txBody>
          <a:bodyPr wrap="square" lIns="0" tIns="0" rIns="0" bIns="0" rtlCol="0" anchor="ctr"/>
          <a:lstStyle/>
          <a:p>
            <a:pPr marL="0" indent="0" algn="ctr">
              <a:buNone/>
            </a:pPr>
            <a:r>
              <a:rPr lang="en-US" sz="650" b="1" dirty="0">
                <a:solidFill>
                  <a:srgbClr val="2D8A4E"/>
                </a:solidFill>
              </a:rPr>
              <a:t>Primary TS model</a:t>
            </a:r>
            <a:endParaRPr lang="en-US" sz="650" dirty="0"/>
          </a:p>
        </p:txBody>
      </p:sp>
      <p:sp>
        <p:nvSpPr>
          <p:cNvPr id="32" name="Text 30"/>
          <p:cNvSpPr/>
          <p:nvPr/>
        </p:nvSpPr>
        <p:spPr>
          <a:xfrm>
            <a:off x="384048" y="3163824"/>
            <a:ext cx="2523744" cy="658368"/>
          </a:xfrm>
          <a:prstGeom prst="rect">
            <a:avLst/>
          </a:prstGeom>
          <a:noFill/>
          <a:ln/>
        </p:spPr>
        <p:txBody>
          <a:bodyPr wrap="square" lIns="0" tIns="0" rIns="0" bIns="0" rtlCol="0" anchor="ctr"/>
          <a:lstStyle/>
          <a:p>
            <a:r>
              <a:rPr lang="en-US" sz="800" dirty="0">
                <a:solidFill>
                  <a:srgbClr val="2A2A2A"/>
                </a:solidFill>
              </a:rPr>
              <a:t>Best for small annual series. p=1 auto-regressive, d=1 differencing, q=0. Validated by </a:t>
            </a:r>
            <a:r>
              <a:rPr lang="en-US" sz="800" dirty="0" err="1">
                <a:solidFill>
                  <a:srgbClr val="2A2A2A"/>
                </a:solidFill>
              </a:rPr>
              <a:t>Sidabutar</a:t>
            </a:r>
            <a:r>
              <a:rPr lang="en-US" sz="800" dirty="0">
                <a:solidFill>
                  <a:srgbClr val="2A2A2A"/>
                </a:solidFill>
              </a:rPr>
              <a:t> &amp; Firmansyah (2023).</a:t>
            </a:r>
            <a:endParaRPr lang="en-US" sz="800" dirty="0"/>
          </a:p>
        </p:txBody>
      </p:sp>
      <p:sp>
        <p:nvSpPr>
          <p:cNvPr id="33" name="Shape 31"/>
          <p:cNvSpPr/>
          <p:nvPr/>
        </p:nvSpPr>
        <p:spPr>
          <a:xfrm>
            <a:off x="384048" y="3858768"/>
            <a:ext cx="1188720" cy="512064"/>
          </a:xfrm>
          <a:prstGeom prst="rect">
            <a:avLst/>
          </a:prstGeom>
          <a:solidFill>
            <a:srgbClr val="F0F7F0"/>
          </a:solidFill>
          <a:ln w="5080">
            <a:solidFill>
              <a:srgbClr val="C8D4C8"/>
            </a:solidFill>
            <a:prstDash val="solid"/>
          </a:ln>
        </p:spPr>
        <p:txBody>
          <a:bodyPr/>
          <a:lstStyle/>
          <a:p>
            <a:endParaRPr lang="en-AU"/>
          </a:p>
        </p:txBody>
      </p:sp>
      <p:sp>
        <p:nvSpPr>
          <p:cNvPr id="34" name="Text 32"/>
          <p:cNvSpPr/>
          <p:nvPr/>
        </p:nvSpPr>
        <p:spPr>
          <a:xfrm>
            <a:off x="402336" y="3877056"/>
            <a:ext cx="1152144" cy="475488"/>
          </a:xfrm>
          <a:prstGeom prst="rect">
            <a:avLst/>
          </a:prstGeom>
          <a:noFill/>
          <a:ln/>
        </p:spPr>
        <p:txBody>
          <a:bodyPr wrap="square" lIns="0" tIns="0" rIns="0" bIns="0" rtlCol="0" anchor="ctr"/>
          <a:lstStyle/>
          <a:p>
            <a:pPr marL="0" indent="0">
              <a:buNone/>
            </a:pPr>
            <a:r>
              <a:rPr lang="en-US" sz="700" dirty="0">
                <a:solidFill>
                  <a:srgbClr val="1A4A24"/>
                </a:solidFill>
              </a:rPr>
              <a:t>INPUT</a:t>
            </a:r>
            <a:endParaRPr lang="en-US" sz="700" dirty="0"/>
          </a:p>
          <a:p>
            <a:pPr marL="0" indent="0">
              <a:buNone/>
            </a:pPr>
            <a:r>
              <a:rPr lang="en-US" sz="700" dirty="0">
                <a:solidFill>
                  <a:srgbClr val="1A4A24"/>
                </a:solidFill>
              </a:rPr>
              <a:t>5 FY production series</a:t>
            </a:r>
            <a:endParaRPr lang="en-US" sz="700" dirty="0"/>
          </a:p>
        </p:txBody>
      </p:sp>
      <p:sp>
        <p:nvSpPr>
          <p:cNvPr id="35" name="Shape 33"/>
          <p:cNvSpPr/>
          <p:nvPr/>
        </p:nvSpPr>
        <p:spPr>
          <a:xfrm>
            <a:off x="1700784" y="3858768"/>
            <a:ext cx="1188720" cy="512064"/>
          </a:xfrm>
          <a:prstGeom prst="rect">
            <a:avLst/>
          </a:prstGeom>
          <a:solidFill>
            <a:srgbClr val="2D8A4E">
              <a:alpha val="12000"/>
            </a:srgbClr>
          </a:solidFill>
          <a:ln w="5080">
            <a:solidFill>
              <a:srgbClr val="2D8A4E"/>
            </a:solidFill>
            <a:prstDash val="solid"/>
          </a:ln>
        </p:spPr>
        <p:txBody>
          <a:bodyPr/>
          <a:lstStyle/>
          <a:p>
            <a:endParaRPr lang="en-AU"/>
          </a:p>
        </p:txBody>
      </p:sp>
      <p:sp>
        <p:nvSpPr>
          <p:cNvPr id="36" name="Text 34"/>
          <p:cNvSpPr/>
          <p:nvPr/>
        </p:nvSpPr>
        <p:spPr>
          <a:xfrm>
            <a:off x="1719072" y="3877056"/>
            <a:ext cx="1152144" cy="475488"/>
          </a:xfrm>
          <a:prstGeom prst="rect">
            <a:avLst/>
          </a:prstGeom>
          <a:noFill/>
          <a:ln/>
        </p:spPr>
        <p:txBody>
          <a:bodyPr wrap="square" lIns="0" tIns="0" rIns="0" bIns="0" rtlCol="0" anchor="ctr"/>
          <a:lstStyle/>
          <a:p>
            <a:pPr marL="0" indent="0">
              <a:buNone/>
            </a:pPr>
            <a:r>
              <a:rPr lang="en-US" sz="700" dirty="0">
                <a:solidFill>
                  <a:srgbClr val="2A2A2A"/>
                </a:solidFill>
              </a:rPr>
              <a:t>OUTPUT</a:t>
            </a:r>
            <a:endParaRPr lang="en-US" sz="700" dirty="0"/>
          </a:p>
          <a:p>
            <a:pPr marL="0" indent="0">
              <a:buNone/>
            </a:pPr>
            <a:r>
              <a:rPr lang="en-US" sz="700" dirty="0">
                <a:solidFill>
                  <a:srgbClr val="2A2A2A"/>
                </a:solidFill>
              </a:rPr>
              <a:t>5-FY production forecast</a:t>
            </a:r>
            <a:endParaRPr lang="en-US" sz="700" dirty="0"/>
          </a:p>
        </p:txBody>
      </p:sp>
      <p:sp>
        <p:nvSpPr>
          <p:cNvPr id="37" name="Shape 35"/>
          <p:cNvSpPr/>
          <p:nvPr/>
        </p:nvSpPr>
        <p:spPr>
          <a:xfrm>
            <a:off x="3200400" y="2596896"/>
            <a:ext cx="2743200" cy="2103120"/>
          </a:xfrm>
          <a:prstGeom prst="rect">
            <a:avLst/>
          </a:prstGeom>
          <a:solidFill>
            <a:srgbClr val="FFFFFF"/>
          </a:solidFill>
          <a:ln w="15240">
            <a:solidFill>
              <a:srgbClr val="D85A30"/>
            </a:solidFill>
            <a:prstDash val="solid"/>
          </a:ln>
          <a:effectLst>
            <a:outerShdw blurRad="101600" dist="38100" dir="8100000" algn="bl" rotWithShape="0">
              <a:srgbClr val="000000">
                <a:alpha val="18000"/>
              </a:srgbClr>
            </a:outerShdw>
          </a:effectLst>
        </p:spPr>
        <p:txBody>
          <a:bodyPr/>
          <a:lstStyle/>
          <a:p>
            <a:endParaRPr lang="en-AU"/>
          </a:p>
        </p:txBody>
      </p:sp>
      <p:sp>
        <p:nvSpPr>
          <p:cNvPr id="38" name="Shape 36"/>
          <p:cNvSpPr/>
          <p:nvPr/>
        </p:nvSpPr>
        <p:spPr>
          <a:xfrm>
            <a:off x="3200400" y="2596896"/>
            <a:ext cx="2743200" cy="310896"/>
          </a:xfrm>
          <a:prstGeom prst="rect">
            <a:avLst/>
          </a:prstGeom>
          <a:solidFill>
            <a:srgbClr val="D85A30"/>
          </a:solidFill>
          <a:ln w="12700">
            <a:solidFill>
              <a:srgbClr val="D85A30"/>
            </a:solidFill>
            <a:prstDash val="solid"/>
          </a:ln>
        </p:spPr>
        <p:txBody>
          <a:bodyPr/>
          <a:lstStyle/>
          <a:p>
            <a:endParaRPr lang="en-AU"/>
          </a:p>
        </p:txBody>
      </p:sp>
      <p:sp>
        <p:nvSpPr>
          <p:cNvPr id="39" name="Shape 37"/>
          <p:cNvSpPr/>
          <p:nvPr/>
        </p:nvSpPr>
        <p:spPr>
          <a:xfrm>
            <a:off x="3291840" y="2633472"/>
            <a:ext cx="219456" cy="219456"/>
          </a:xfrm>
          <a:prstGeom prst="ellipse">
            <a:avLst/>
          </a:prstGeom>
          <a:solidFill>
            <a:srgbClr val="FFFFFF">
              <a:alpha val="75000"/>
            </a:srgbClr>
          </a:solidFill>
          <a:ln w="12700">
            <a:solidFill>
              <a:srgbClr val="FFFFFF">
                <a:alpha val="75000"/>
              </a:srgbClr>
            </a:solidFill>
            <a:prstDash val="solid"/>
          </a:ln>
        </p:spPr>
        <p:txBody>
          <a:bodyPr/>
          <a:lstStyle/>
          <a:p>
            <a:endParaRPr lang="en-AU"/>
          </a:p>
        </p:txBody>
      </p:sp>
      <p:sp>
        <p:nvSpPr>
          <p:cNvPr id="40" name="Text 38"/>
          <p:cNvSpPr/>
          <p:nvPr/>
        </p:nvSpPr>
        <p:spPr>
          <a:xfrm>
            <a:off x="3291840" y="2633472"/>
            <a:ext cx="219456" cy="219456"/>
          </a:xfrm>
          <a:prstGeom prst="rect">
            <a:avLst/>
          </a:prstGeom>
          <a:noFill/>
          <a:ln/>
        </p:spPr>
        <p:txBody>
          <a:bodyPr wrap="square" lIns="0" tIns="0" rIns="0" bIns="0" rtlCol="0" anchor="ctr"/>
          <a:lstStyle/>
          <a:p>
            <a:pPr marL="0" indent="0" algn="ctr">
              <a:buNone/>
            </a:pPr>
            <a:r>
              <a:rPr lang="en-US" sz="900" b="1" dirty="0"/>
              <a:t>2</a:t>
            </a:r>
            <a:endParaRPr lang="en-US" sz="900" dirty="0"/>
          </a:p>
        </p:txBody>
      </p:sp>
      <p:sp>
        <p:nvSpPr>
          <p:cNvPr id="41" name="Text 39"/>
          <p:cNvSpPr/>
          <p:nvPr/>
        </p:nvSpPr>
        <p:spPr>
          <a:xfrm>
            <a:off x="3584448" y="2633472"/>
            <a:ext cx="2231136" cy="237744"/>
          </a:xfrm>
          <a:prstGeom prst="rect">
            <a:avLst/>
          </a:prstGeom>
          <a:noFill/>
          <a:ln/>
        </p:spPr>
        <p:txBody>
          <a:bodyPr wrap="square" lIns="0" tIns="0" rIns="0" bIns="0" rtlCol="0" anchor="ctr"/>
          <a:lstStyle/>
          <a:p>
            <a:pPr marL="0" indent="0">
              <a:buNone/>
            </a:pPr>
            <a:r>
              <a:rPr lang="en-US" sz="1100" b="1" dirty="0">
                <a:solidFill>
                  <a:srgbClr val="FFFFFF"/>
                </a:solidFill>
              </a:rPr>
              <a:t>Holt-Winters</a:t>
            </a:r>
            <a:endParaRPr lang="en-US" sz="1100" dirty="0"/>
          </a:p>
        </p:txBody>
      </p:sp>
      <p:sp>
        <p:nvSpPr>
          <p:cNvPr id="42" name="Shape 40"/>
          <p:cNvSpPr/>
          <p:nvPr/>
        </p:nvSpPr>
        <p:spPr>
          <a:xfrm>
            <a:off x="3291840" y="2944368"/>
            <a:ext cx="822960" cy="182880"/>
          </a:xfrm>
          <a:prstGeom prst="rect">
            <a:avLst/>
          </a:prstGeom>
          <a:solidFill>
            <a:srgbClr val="D85A30">
              <a:alpha val="25000"/>
            </a:srgbClr>
          </a:solidFill>
          <a:ln w="5080">
            <a:solidFill>
              <a:srgbClr val="D85A30"/>
            </a:solidFill>
            <a:prstDash val="solid"/>
          </a:ln>
        </p:spPr>
        <p:txBody>
          <a:bodyPr/>
          <a:lstStyle/>
          <a:p>
            <a:endParaRPr lang="en-AU"/>
          </a:p>
        </p:txBody>
      </p:sp>
      <p:sp>
        <p:nvSpPr>
          <p:cNvPr id="43" name="Text 41"/>
          <p:cNvSpPr/>
          <p:nvPr/>
        </p:nvSpPr>
        <p:spPr>
          <a:xfrm>
            <a:off x="3291840" y="2944368"/>
            <a:ext cx="822960" cy="182880"/>
          </a:xfrm>
          <a:prstGeom prst="rect">
            <a:avLst/>
          </a:prstGeom>
          <a:noFill/>
          <a:ln/>
        </p:spPr>
        <p:txBody>
          <a:bodyPr wrap="square" lIns="0" tIns="0" rIns="0" bIns="0" rtlCol="0" anchor="ctr"/>
          <a:lstStyle/>
          <a:p>
            <a:pPr marL="0" indent="0" algn="ctr">
              <a:buNone/>
            </a:pPr>
            <a:r>
              <a:rPr lang="en-US" sz="650" b="1" dirty="0">
                <a:solidFill>
                  <a:srgbClr val="D85A30"/>
                </a:solidFill>
              </a:rPr>
              <a:t>Trend TS model</a:t>
            </a:r>
            <a:endParaRPr lang="en-US" sz="650" dirty="0"/>
          </a:p>
        </p:txBody>
      </p:sp>
      <p:sp>
        <p:nvSpPr>
          <p:cNvPr id="44" name="Text 42"/>
          <p:cNvSpPr/>
          <p:nvPr/>
        </p:nvSpPr>
        <p:spPr>
          <a:xfrm>
            <a:off x="3310128" y="3163824"/>
            <a:ext cx="2523744" cy="658368"/>
          </a:xfrm>
          <a:prstGeom prst="rect">
            <a:avLst/>
          </a:prstGeom>
          <a:noFill/>
          <a:ln/>
        </p:spPr>
        <p:txBody>
          <a:bodyPr wrap="square" lIns="0" tIns="0" rIns="0" bIns="0" rtlCol="0" anchor="ctr"/>
          <a:lstStyle/>
          <a:p>
            <a:pPr marL="0" indent="0">
              <a:buNone/>
            </a:pPr>
            <a:r>
              <a:rPr lang="en-GB" sz="800" dirty="0">
                <a:solidFill>
                  <a:srgbClr val="2A2A2A"/>
                </a:solidFill>
              </a:rPr>
              <a:t>The trend of diminishing production is captured by double exponential smoothing. sturdy for tiny datasets. distinct approach from ARIMA.</a:t>
            </a:r>
          </a:p>
        </p:txBody>
      </p:sp>
      <p:sp>
        <p:nvSpPr>
          <p:cNvPr id="45" name="Shape 43"/>
          <p:cNvSpPr/>
          <p:nvPr/>
        </p:nvSpPr>
        <p:spPr>
          <a:xfrm>
            <a:off x="3310128" y="3858768"/>
            <a:ext cx="1188720" cy="512064"/>
          </a:xfrm>
          <a:prstGeom prst="rect">
            <a:avLst/>
          </a:prstGeom>
          <a:solidFill>
            <a:srgbClr val="F0F7F0"/>
          </a:solidFill>
          <a:ln w="5080">
            <a:solidFill>
              <a:srgbClr val="C8D4C8"/>
            </a:solidFill>
            <a:prstDash val="solid"/>
          </a:ln>
        </p:spPr>
        <p:txBody>
          <a:bodyPr/>
          <a:lstStyle/>
          <a:p>
            <a:endParaRPr lang="en-AU"/>
          </a:p>
        </p:txBody>
      </p:sp>
      <p:sp>
        <p:nvSpPr>
          <p:cNvPr id="46" name="Text 44"/>
          <p:cNvSpPr/>
          <p:nvPr/>
        </p:nvSpPr>
        <p:spPr>
          <a:xfrm>
            <a:off x="3328416" y="3877056"/>
            <a:ext cx="1152144" cy="475488"/>
          </a:xfrm>
          <a:prstGeom prst="rect">
            <a:avLst/>
          </a:prstGeom>
          <a:noFill/>
          <a:ln/>
        </p:spPr>
        <p:txBody>
          <a:bodyPr wrap="square" lIns="0" tIns="0" rIns="0" bIns="0" rtlCol="0" anchor="ctr"/>
          <a:lstStyle/>
          <a:p>
            <a:pPr marL="0" indent="0">
              <a:buNone/>
            </a:pPr>
            <a:r>
              <a:rPr lang="en-US" sz="700" dirty="0">
                <a:solidFill>
                  <a:srgbClr val="1A4A24"/>
                </a:solidFill>
              </a:rPr>
              <a:t>INPUT</a:t>
            </a:r>
            <a:endParaRPr lang="en-US" sz="700" dirty="0"/>
          </a:p>
          <a:p>
            <a:pPr marL="0" indent="0">
              <a:buNone/>
            </a:pPr>
            <a:r>
              <a:rPr lang="en-US" sz="700" dirty="0">
                <a:solidFill>
                  <a:srgbClr val="1A4A24"/>
                </a:solidFill>
              </a:rPr>
              <a:t>5 FY series · trend=additive</a:t>
            </a:r>
            <a:endParaRPr lang="en-US" sz="700" dirty="0"/>
          </a:p>
        </p:txBody>
      </p:sp>
      <p:sp>
        <p:nvSpPr>
          <p:cNvPr id="47" name="Shape 45"/>
          <p:cNvSpPr/>
          <p:nvPr/>
        </p:nvSpPr>
        <p:spPr>
          <a:xfrm>
            <a:off x="4626864" y="3858768"/>
            <a:ext cx="1188720" cy="512064"/>
          </a:xfrm>
          <a:prstGeom prst="rect">
            <a:avLst/>
          </a:prstGeom>
          <a:solidFill>
            <a:srgbClr val="D85A30">
              <a:alpha val="12000"/>
            </a:srgbClr>
          </a:solidFill>
          <a:ln w="5080">
            <a:solidFill>
              <a:srgbClr val="D85A30"/>
            </a:solidFill>
            <a:prstDash val="solid"/>
          </a:ln>
        </p:spPr>
        <p:txBody>
          <a:bodyPr/>
          <a:lstStyle/>
          <a:p>
            <a:endParaRPr lang="en-AU"/>
          </a:p>
        </p:txBody>
      </p:sp>
      <p:sp>
        <p:nvSpPr>
          <p:cNvPr id="48" name="Text 46"/>
          <p:cNvSpPr/>
          <p:nvPr/>
        </p:nvSpPr>
        <p:spPr>
          <a:xfrm>
            <a:off x="4645152" y="3877056"/>
            <a:ext cx="1152144" cy="475488"/>
          </a:xfrm>
          <a:prstGeom prst="rect">
            <a:avLst/>
          </a:prstGeom>
          <a:noFill/>
          <a:ln/>
        </p:spPr>
        <p:txBody>
          <a:bodyPr wrap="square" lIns="0" tIns="0" rIns="0" bIns="0" rtlCol="0" anchor="ctr"/>
          <a:lstStyle/>
          <a:p>
            <a:pPr marL="0" indent="0">
              <a:buNone/>
            </a:pPr>
            <a:r>
              <a:rPr lang="en-US" sz="700" dirty="0">
                <a:solidFill>
                  <a:srgbClr val="2A2A2A"/>
                </a:solidFill>
              </a:rPr>
              <a:t>OUTPUT</a:t>
            </a:r>
            <a:endParaRPr lang="en-US" sz="700" dirty="0"/>
          </a:p>
          <a:p>
            <a:pPr marL="0" indent="0">
              <a:buNone/>
            </a:pPr>
            <a:r>
              <a:rPr lang="en-US" sz="700" dirty="0">
                <a:solidFill>
                  <a:srgbClr val="2A2A2A"/>
                </a:solidFill>
              </a:rPr>
              <a:t>Comparative trend forecast</a:t>
            </a:r>
            <a:endParaRPr lang="en-US" sz="700" dirty="0"/>
          </a:p>
        </p:txBody>
      </p:sp>
      <p:sp>
        <p:nvSpPr>
          <p:cNvPr id="49" name="Shape 47"/>
          <p:cNvSpPr/>
          <p:nvPr/>
        </p:nvSpPr>
        <p:spPr>
          <a:xfrm>
            <a:off x="6126480" y="2596896"/>
            <a:ext cx="2743200" cy="2103120"/>
          </a:xfrm>
          <a:prstGeom prst="rect">
            <a:avLst/>
          </a:prstGeom>
          <a:solidFill>
            <a:srgbClr val="FFFFFF"/>
          </a:solidFill>
          <a:ln w="15240">
            <a:solidFill>
              <a:srgbClr val="1A5276"/>
            </a:solidFill>
            <a:prstDash val="solid"/>
          </a:ln>
          <a:effectLst>
            <a:outerShdw blurRad="101600" dist="38100" dir="8100000" algn="bl" rotWithShape="0">
              <a:srgbClr val="000000">
                <a:alpha val="18000"/>
              </a:srgbClr>
            </a:outerShdw>
          </a:effectLst>
        </p:spPr>
        <p:txBody>
          <a:bodyPr/>
          <a:lstStyle/>
          <a:p>
            <a:endParaRPr lang="en-AU"/>
          </a:p>
        </p:txBody>
      </p:sp>
      <p:sp>
        <p:nvSpPr>
          <p:cNvPr id="50" name="Shape 48"/>
          <p:cNvSpPr/>
          <p:nvPr/>
        </p:nvSpPr>
        <p:spPr>
          <a:xfrm>
            <a:off x="6126480" y="2596896"/>
            <a:ext cx="2743200" cy="310896"/>
          </a:xfrm>
          <a:prstGeom prst="rect">
            <a:avLst/>
          </a:prstGeom>
          <a:solidFill>
            <a:srgbClr val="1A5276"/>
          </a:solidFill>
          <a:ln w="12700">
            <a:solidFill>
              <a:srgbClr val="1A5276"/>
            </a:solidFill>
            <a:prstDash val="solid"/>
          </a:ln>
        </p:spPr>
        <p:txBody>
          <a:bodyPr/>
          <a:lstStyle/>
          <a:p>
            <a:endParaRPr lang="en-AU"/>
          </a:p>
        </p:txBody>
      </p:sp>
      <p:sp>
        <p:nvSpPr>
          <p:cNvPr id="51" name="Shape 49"/>
          <p:cNvSpPr/>
          <p:nvPr/>
        </p:nvSpPr>
        <p:spPr>
          <a:xfrm>
            <a:off x="6217920" y="2633472"/>
            <a:ext cx="219456" cy="219456"/>
          </a:xfrm>
          <a:prstGeom prst="ellipse">
            <a:avLst/>
          </a:prstGeom>
          <a:solidFill>
            <a:srgbClr val="FFFFFF">
              <a:alpha val="75000"/>
            </a:srgbClr>
          </a:solidFill>
          <a:ln w="12700">
            <a:solidFill>
              <a:srgbClr val="FFFFFF">
                <a:alpha val="75000"/>
              </a:srgbClr>
            </a:solidFill>
            <a:prstDash val="solid"/>
          </a:ln>
        </p:spPr>
        <p:txBody>
          <a:bodyPr/>
          <a:lstStyle/>
          <a:p>
            <a:endParaRPr lang="en-AU"/>
          </a:p>
        </p:txBody>
      </p:sp>
      <p:sp>
        <p:nvSpPr>
          <p:cNvPr id="52" name="Text 50"/>
          <p:cNvSpPr/>
          <p:nvPr/>
        </p:nvSpPr>
        <p:spPr>
          <a:xfrm>
            <a:off x="6217920" y="2633472"/>
            <a:ext cx="219456" cy="219456"/>
          </a:xfrm>
          <a:prstGeom prst="rect">
            <a:avLst/>
          </a:prstGeom>
          <a:noFill/>
          <a:ln/>
        </p:spPr>
        <p:txBody>
          <a:bodyPr wrap="square" lIns="0" tIns="0" rIns="0" bIns="0" rtlCol="0" anchor="ctr"/>
          <a:lstStyle/>
          <a:p>
            <a:pPr marL="0" indent="0" algn="ctr">
              <a:buNone/>
            </a:pPr>
            <a:r>
              <a:rPr lang="en-US" sz="900" b="1" dirty="0"/>
              <a:t>3</a:t>
            </a:r>
            <a:endParaRPr lang="en-US" sz="900" dirty="0"/>
          </a:p>
        </p:txBody>
      </p:sp>
      <p:sp>
        <p:nvSpPr>
          <p:cNvPr id="53" name="Text 51"/>
          <p:cNvSpPr/>
          <p:nvPr/>
        </p:nvSpPr>
        <p:spPr>
          <a:xfrm>
            <a:off x="6510528" y="2633472"/>
            <a:ext cx="2231136" cy="237744"/>
          </a:xfrm>
          <a:prstGeom prst="rect">
            <a:avLst/>
          </a:prstGeom>
          <a:noFill/>
          <a:ln/>
        </p:spPr>
        <p:txBody>
          <a:bodyPr wrap="square" lIns="0" tIns="0" rIns="0" bIns="0" rtlCol="0" anchor="ctr"/>
          <a:lstStyle/>
          <a:p>
            <a:pPr marL="0" indent="0">
              <a:buNone/>
            </a:pPr>
            <a:r>
              <a:rPr lang="en-US" sz="1100" b="1" dirty="0">
                <a:solidFill>
                  <a:srgbClr val="FFFFFF"/>
                </a:solidFill>
              </a:rPr>
              <a:t>Prophet (Meta)</a:t>
            </a:r>
            <a:endParaRPr lang="en-US" sz="1100" dirty="0"/>
          </a:p>
        </p:txBody>
      </p:sp>
      <p:sp>
        <p:nvSpPr>
          <p:cNvPr id="54" name="Shape 52"/>
          <p:cNvSpPr/>
          <p:nvPr/>
        </p:nvSpPr>
        <p:spPr>
          <a:xfrm>
            <a:off x="6217920" y="2944368"/>
            <a:ext cx="822960" cy="182880"/>
          </a:xfrm>
          <a:prstGeom prst="rect">
            <a:avLst/>
          </a:prstGeom>
          <a:solidFill>
            <a:srgbClr val="1A5276">
              <a:alpha val="25000"/>
            </a:srgbClr>
          </a:solidFill>
          <a:ln w="5080">
            <a:solidFill>
              <a:srgbClr val="1A5276"/>
            </a:solidFill>
            <a:prstDash val="solid"/>
          </a:ln>
        </p:spPr>
        <p:txBody>
          <a:bodyPr/>
          <a:lstStyle/>
          <a:p>
            <a:endParaRPr lang="en-AU"/>
          </a:p>
        </p:txBody>
      </p:sp>
      <p:sp>
        <p:nvSpPr>
          <p:cNvPr id="55" name="Text 53"/>
          <p:cNvSpPr/>
          <p:nvPr/>
        </p:nvSpPr>
        <p:spPr>
          <a:xfrm>
            <a:off x="6217920" y="2944368"/>
            <a:ext cx="822960" cy="182880"/>
          </a:xfrm>
          <a:prstGeom prst="rect">
            <a:avLst/>
          </a:prstGeom>
          <a:noFill/>
          <a:ln/>
        </p:spPr>
        <p:txBody>
          <a:bodyPr wrap="square" lIns="0" tIns="0" rIns="0" bIns="0" rtlCol="0" anchor="ctr"/>
          <a:lstStyle/>
          <a:p>
            <a:pPr marL="0" indent="0" algn="ctr">
              <a:buNone/>
            </a:pPr>
            <a:r>
              <a:rPr lang="en-US" sz="650" b="1" dirty="0">
                <a:solidFill>
                  <a:srgbClr val="1A5276"/>
                </a:solidFill>
              </a:rPr>
              <a:t>Uncertainty model</a:t>
            </a:r>
            <a:endParaRPr lang="en-US" sz="650" dirty="0"/>
          </a:p>
        </p:txBody>
      </p:sp>
      <p:sp>
        <p:nvSpPr>
          <p:cNvPr id="56" name="Text 54"/>
          <p:cNvSpPr/>
          <p:nvPr/>
        </p:nvSpPr>
        <p:spPr>
          <a:xfrm>
            <a:off x="6236208" y="3163824"/>
            <a:ext cx="2523744" cy="658368"/>
          </a:xfrm>
          <a:prstGeom prst="rect">
            <a:avLst/>
          </a:prstGeom>
          <a:noFill/>
          <a:ln/>
        </p:spPr>
        <p:txBody>
          <a:bodyPr wrap="square" lIns="0" tIns="0" rIns="0" bIns="0" rtlCol="0" anchor="ctr"/>
          <a:lstStyle/>
          <a:p>
            <a:pPr marL="0" indent="0">
              <a:buNone/>
            </a:pPr>
            <a:r>
              <a:rPr lang="en-GB" sz="800" dirty="0">
                <a:solidFill>
                  <a:srgbClr val="2A2A2A"/>
                </a:solidFill>
              </a:rPr>
              <a:t>Bayesian model with confidence intervals of 95%. Changepoint detection is automatic. Planning scenarios for consumers.</a:t>
            </a:r>
          </a:p>
        </p:txBody>
      </p:sp>
      <p:sp>
        <p:nvSpPr>
          <p:cNvPr id="57" name="Shape 55"/>
          <p:cNvSpPr/>
          <p:nvPr/>
        </p:nvSpPr>
        <p:spPr>
          <a:xfrm>
            <a:off x="6236208" y="3858768"/>
            <a:ext cx="1188720" cy="512064"/>
          </a:xfrm>
          <a:prstGeom prst="rect">
            <a:avLst/>
          </a:prstGeom>
          <a:solidFill>
            <a:srgbClr val="F0F7F0"/>
          </a:solidFill>
          <a:ln w="5080">
            <a:solidFill>
              <a:srgbClr val="C8D4C8"/>
            </a:solidFill>
            <a:prstDash val="solid"/>
          </a:ln>
        </p:spPr>
        <p:txBody>
          <a:bodyPr/>
          <a:lstStyle/>
          <a:p>
            <a:endParaRPr lang="en-AU"/>
          </a:p>
        </p:txBody>
      </p:sp>
      <p:sp>
        <p:nvSpPr>
          <p:cNvPr id="58" name="Text 56"/>
          <p:cNvSpPr/>
          <p:nvPr/>
        </p:nvSpPr>
        <p:spPr>
          <a:xfrm>
            <a:off x="6254496" y="3877056"/>
            <a:ext cx="1152144" cy="475488"/>
          </a:xfrm>
          <a:prstGeom prst="rect">
            <a:avLst/>
          </a:prstGeom>
          <a:noFill/>
          <a:ln/>
        </p:spPr>
        <p:txBody>
          <a:bodyPr wrap="square" lIns="0" tIns="0" rIns="0" bIns="0" rtlCol="0" anchor="ctr"/>
          <a:lstStyle/>
          <a:p>
            <a:pPr marL="0" indent="0">
              <a:buNone/>
            </a:pPr>
            <a:r>
              <a:rPr lang="en-US" sz="700" dirty="0">
                <a:solidFill>
                  <a:srgbClr val="1A4A24"/>
                </a:solidFill>
              </a:rPr>
              <a:t>INPUT</a:t>
            </a:r>
            <a:endParaRPr lang="en-US" sz="700" dirty="0"/>
          </a:p>
          <a:p>
            <a:pPr marL="0" indent="0">
              <a:buNone/>
            </a:pPr>
            <a:r>
              <a:rPr lang="en-US" sz="700" dirty="0">
                <a:solidFill>
                  <a:srgbClr val="1A4A24"/>
                </a:solidFill>
              </a:rPr>
              <a:t>5 FY series · Bayesian</a:t>
            </a:r>
            <a:endParaRPr lang="en-US" sz="700" dirty="0"/>
          </a:p>
        </p:txBody>
      </p:sp>
      <p:sp>
        <p:nvSpPr>
          <p:cNvPr id="59" name="Shape 57"/>
          <p:cNvSpPr/>
          <p:nvPr/>
        </p:nvSpPr>
        <p:spPr>
          <a:xfrm>
            <a:off x="7552944" y="3858768"/>
            <a:ext cx="1188720" cy="512064"/>
          </a:xfrm>
          <a:prstGeom prst="rect">
            <a:avLst/>
          </a:prstGeom>
          <a:solidFill>
            <a:srgbClr val="1A5276">
              <a:alpha val="12000"/>
            </a:srgbClr>
          </a:solidFill>
          <a:ln w="5080">
            <a:solidFill>
              <a:srgbClr val="1A5276"/>
            </a:solidFill>
            <a:prstDash val="solid"/>
          </a:ln>
        </p:spPr>
        <p:txBody>
          <a:bodyPr/>
          <a:lstStyle/>
          <a:p>
            <a:endParaRPr lang="en-AU"/>
          </a:p>
        </p:txBody>
      </p:sp>
      <p:sp>
        <p:nvSpPr>
          <p:cNvPr id="60" name="Text 58"/>
          <p:cNvSpPr/>
          <p:nvPr/>
        </p:nvSpPr>
        <p:spPr>
          <a:xfrm>
            <a:off x="7571232" y="3877056"/>
            <a:ext cx="1152144" cy="475488"/>
          </a:xfrm>
          <a:prstGeom prst="rect">
            <a:avLst/>
          </a:prstGeom>
          <a:noFill/>
          <a:ln/>
        </p:spPr>
        <p:txBody>
          <a:bodyPr wrap="square" lIns="0" tIns="0" rIns="0" bIns="0" rtlCol="0" anchor="ctr"/>
          <a:lstStyle/>
          <a:p>
            <a:pPr marL="0" indent="0">
              <a:buNone/>
            </a:pPr>
            <a:r>
              <a:rPr lang="en-US" sz="700" dirty="0">
                <a:solidFill>
                  <a:srgbClr val="2A2A2A"/>
                </a:solidFill>
              </a:rPr>
              <a:t>OUTPUT</a:t>
            </a:r>
            <a:endParaRPr lang="en-US" sz="700" dirty="0"/>
          </a:p>
          <a:p>
            <a:pPr marL="0" indent="0">
              <a:buNone/>
            </a:pPr>
            <a:r>
              <a:rPr lang="en-US" sz="700" dirty="0">
                <a:solidFill>
                  <a:srgbClr val="2A2A2A"/>
                </a:solidFill>
              </a:rPr>
              <a:t>Forecast + 95% CI band</a:t>
            </a:r>
            <a:endParaRPr lang="en-US" sz="700" dirty="0"/>
          </a:p>
        </p:txBody>
      </p:sp>
      <p:sp>
        <p:nvSpPr>
          <p:cNvPr id="61" name="Text 59"/>
          <p:cNvSpPr/>
          <p:nvPr/>
        </p:nvSpPr>
        <p:spPr>
          <a:xfrm>
            <a:off x="274320" y="4828032"/>
            <a:ext cx="8595360" cy="201168"/>
          </a:xfrm>
          <a:prstGeom prst="rect">
            <a:avLst/>
          </a:prstGeom>
          <a:noFill/>
          <a:ln/>
        </p:spPr>
        <p:txBody>
          <a:bodyPr wrap="square" lIns="0" tIns="0" rIns="0" bIns="0" rtlCol="0" anchor="ctr"/>
          <a:lstStyle/>
          <a:p>
            <a:pPr marL="0" indent="0">
              <a:buNone/>
            </a:pPr>
            <a:r>
              <a:rPr lang="en-US" sz="750" i="1" dirty="0"/>
              <a:t>Source: Malik et al. 2022; Sidabutar &amp; Firmansyah 2023; Falatouri et al. 2022</a:t>
            </a:r>
            <a:endParaRPr lang="en-US" sz="750" dirty="0"/>
          </a:p>
        </p:txBody>
      </p:sp>
      <p:sp>
        <p:nvSpPr>
          <p:cNvPr id="64" name="TextBox 63">
            <a:extLst>
              <a:ext uri="{FF2B5EF4-FFF2-40B4-BE49-F238E27FC236}">
                <a16:creationId xmlns:a16="http://schemas.microsoft.com/office/drawing/2014/main" id="{4AC0F470-AB96-8A6F-5C3A-67C2EF1B7210}"/>
              </a:ext>
            </a:extLst>
          </p:cNvPr>
          <p:cNvSpPr txBox="1"/>
          <p:nvPr/>
        </p:nvSpPr>
        <p:spPr>
          <a:xfrm>
            <a:off x="8770620" y="4831080"/>
            <a:ext cx="114300" cy="215444"/>
          </a:xfrm>
          <a:prstGeom prst="rect">
            <a:avLst/>
          </a:prstGeom>
          <a:noFill/>
        </p:spPr>
        <p:txBody>
          <a:bodyPr wrap="square" rtlCol="0">
            <a:spAutoFit/>
          </a:bodyPr>
          <a:lstStyle/>
          <a:p>
            <a:r>
              <a:rPr lang="en-AU" sz="800" dirty="0"/>
              <a:t>4</a:t>
            </a:r>
            <a:endParaRPr lang="en-A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8"/>
        </a:solidFill>
        <a:effectLst/>
      </p:bgPr>
    </p:bg>
    <p:spTree>
      <p:nvGrpSpPr>
        <p:cNvPr id="1" name=""/>
        <p:cNvGrpSpPr/>
        <p:nvPr/>
      </p:nvGrpSpPr>
      <p:grpSpPr>
        <a:xfrm>
          <a:off x="0" y="0"/>
          <a:ext cx="0" cy="0"/>
          <a:chOff x="0" y="0"/>
          <a:chExt cx="0" cy="0"/>
        </a:xfrm>
      </p:grpSpPr>
      <p:pic>
        <p:nvPicPr>
          <p:cNvPr id="111" name="Picture 110">
            <a:extLst>
              <a:ext uri="{FF2B5EF4-FFF2-40B4-BE49-F238E27FC236}">
                <a16:creationId xmlns:a16="http://schemas.microsoft.com/office/drawing/2014/main" id="{354C1E97-3121-9A78-1E23-3A1C701EDA33}"/>
              </a:ext>
            </a:extLst>
          </p:cNvPr>
          <p:cNvPicPr>
            <a:picLocks noChangeAspect="1"/>
          </p:cNvPicPr>
          <p:nvPr/>
        </p:nvPicPr>
        <p:blipFill>
          <a:blip r:embed="rId3">
            <a:alphaModFix amt="35000"/>
          </a:blip>
          <a:stretch>
            <a:fillRect/>
          </a:stretch>
        </p:blipFill>
        <p:spPr>
          <a:xfrm>
            <a:off x="0" y="0"/>
            <a:ext cx="9144000" cy="5143500"/>
          </a:xfrm>
          <a:prstGeom prst="rect">
            <a:avLst/>
          </a:prstGeom>
        </p:spPr>
      </p:pic>
      <p:sp>
        <p:nvSpPr>
          <p:cNvPr id="2" name="Text 0"/>
          <p:cNvSpPr/>
          <p:nvPr/>
        </p:nvSpPr>
        <p:spPr>
          <a:xfrm>
            <a:off x="274320" y="164592"/>
            <a:ext cx="8595360" cy="438912"/>
          </a:xfrm>
          <a:prstGeom prst="rect">
            <a:avLst/>
          </a:prstGeom>
          <a:noFill/>
          <a:ln/>
        </p:spPr>
        <p:txBody>
          <a:bodyPr wrap="square" lIns="0" tIns="0" rIns="0" bIns="0" rtlCol="0" anchor="ctr"/>
          <a:lstStyle/>
          <a:p>
            <a:pPr marL="0" indent="0">
              <a:buNone/>
            </a:pPr>
            <a:r>
              <a:rPr lang="en-US" sz="2400" b="1" dirty="0">
                <a:solidFill>
                  <a:srgbClr val="1A4A24"/>
                </a:solidFill>
                <a:latin typeface="Calibri" pitchFamily="34" charset="0"/>
                <a:ea typeface="Calibri" pitchFamily="34" charset="-122"/>
                <a:cs typeface="Calibri" pitchFamily="34" charset="-120"/>
              </a:rPr>
              <a:t>Random Forest — ML Results &amp; Production Risk</a:t>
            </a:r>
            <a:endParaRPr lang="en-US" sz="2400" dirty="0"/>
          </a:p>
        </p:txBody>
      </p:sp>
      <p:sp>
        <p:nvSpPr>
          <p:cNvPr id="3" name="Shape 1"/>
          <p:cNvSpPr/>
          <p:nvPr/>
        </p:nvSpPr>
        <p:spPr>
          <a:xfrm>
            <a:off x="274320" y="694944"/>
            <a:ext cx="2743200" cy="1627632"/>
          </a:xfrm>
          <a:prstGeom prst="rect">
            <a:avLst/>
          </a:prstGeom>
          <a:solidFill>
            <a:srgbClr val="534AB7"/>
          </a:solidFill>
          <a:ln w="12700">
            <a:solidFill>
              <a:srgbClr val="7B72D4"/>
            </a:solidFill>
            <a:prstDash val="solid"/>
          </a:ln>
          <a:effectLst>
            <a:outerShdw blurRad="101600" dist="38100" dir="8100000" algn="bl" rotWithShape="0">
              <a:srgbClr val="000000">
                <a:alpha val="18000"/>
              </a:srgbClr>
            </a:outerShdw>
          </a:effectLst>
        </p:spPr>
        <p:txBody>
          <a:bodyPr/>
          <a:lstStyle/>
          <a:p>
            <a:endParaRPr lang="en-AU"/>
          </a:p>
        </p:txBody>
      </p:sp>
      <p:sp>
        <p:nvSpPr>
          <p:cNvPr id="4" name="Text 2"/>
          <p:cNvSpPr/>
          <p:nvPr/>
        </p:nvSpPr>
        <p:spPr>
          <a:xfrm>
            <a:off x="384048" y="749808"/>
            <a:ext cx="2523744" cy="219456"/>
          </a:xfrm>
          <a:prstGeom prst="rect">
            <a:avLst/>
          </a:prstGeom>
          <a:noFill/>
          <a:ln/>
        </p:spPr>
        <p:txBody>
          <a:bodyPr wrap="square" lIns="0" tIns="0" rIns="0" bIns="0" rtlCol="0" anchor="ctr"/>
          <a:lstStyle/>
          <a:p>
            <a:pPr marL="0" indent="0">
              <a:buNone/>
            </a:pPr>
            <a:r>
              <a:rPr lang="en-US" sz="1000" b="1" dirty="0">
                <a:solidFill>
                  <a:srgbClr val="C8C0FF"/>
                </a:solidFill>
              </a:rPr>
              <a:t>RF Model Configuration</a:t>
            </a:r>
            <a:endParaRPr lang="en-US" sz="1000" dirty="0"/>
          </a:p>
        </p:txBody>
      </p:sp>
      <p:sp>
        <p:nvSpPr>
          <p:cNvPr id="5" name="Text 3"/>
          <p:cNvSpPr/>
          <p:nvPr/>
        </p:nvSpPr>
        <p:spPr>
          <a:xfrm>
            <a:off x="384048" y="1005840"/>
            <a:ext cx="1005840" cy="182880"/>
          </a:xfrm>
          <a:prstGeom prst="rect">
            <a:avLst/>
          </a:prstGeom>
          <a:noFill/>
          <a:ln/>
        </p:spPr>
        <p:txBody>
          <a:bodyPr wrap="square" lIns="0" tIns="0" rIns="0" bIns="0" rtlCol="0" anchor="ctr"/>
          <a:lstStyle/>
          <a:p>
            <a:pPr marL="0" indent="0">
              <a:buNone/>
            </a:pPr>
            <a:r>
              <a:rPr lang="en-US" sz="850" b="1" dirty="0">
                <a:solidFill>
                  <a:srgbClr val="C8C0FF"/>
                </a:solidFill>
              </a:rPr>
              <a:t>Training data:</a:t>
            </a:r>
            <a:endParaRPr lang="en-US" sz="850" dirty="0"/>
          </a:p>
        </p:txBody>
      </p:sp>
      <p:sp>
        <p:nvSpPr>
          <p:cNvPr id="6" name="Text 4"/>
          <p:cNvSpPr/>
          <p:nvPr/>
        </p:nvSpPr>
        <p:spPr>
          <a:xfrm>
            <a:off x="1426464" y="1005840"/>
            <a:ext cx="1463040" cy="182880"/>
          </a:xfrm>
          <a:prstGeom prst="rect">
            <a:avLst/>
          </a:prstGeom>
          <a:noFill/>
          <a:ln/>
        </p:spPr>
        <p:txBody>
          <a:bodyPr wrap="square" lIns="0" tIns="0" rIns="0" bIns="0" rtlCol="0" anchor="ctr"/>
          <a:lstStyle/>
          <a:p>
            <a:pPr marL="0" indent="0">
              <a:buNone/>
            </a:pPr>
            <a:r>
              <a:rPr lang="en-US" sz="850" dirty="0">
                <a:solidFill>
                  <a:srgbClr val="FFFFFF"/>
                </a:solidFill>
              </a:rPr>
              <a:t>72 monthly obs (2020–2025)</a:t>
            </a:r>
            <a:endParaRPr lang="en-US" sz="850" dirty="0"/>
          </a:p>
        </p:txBody>
      </p:sp>
      <p:sp>
        <p:nvSpPr>
          <p:cNvPr id="7" name="Text 5"/>
          <p:cNvSpPr/>
          <p:nvPr/>
        </p:nvSpPr>
        <p:spPr>
          <a:xfrm>
            <a:off x="384048" y="1216152"/>
            <a:ext cx="1005840" cy="182880"/>
          </a:xfrm>
          <a:prstGeom prst="rect">
            <a:avLst/>
          </a:prstGeom>
          <a:noFill/>
          <a:ln/>
        </p:spPr>
        <p:txBody>
          <a:bodyPr wrap="square" lIns="0" tIns="0" rIns="0" bIns="0" rtlCol="0" anchor="ctr"/>
          <a:lstStyle/>
          <a:p>
            <a:pPr marL="0" indent="0">
              <a:buNone/>
            </a:pPr>
            <a:r>
              <a:rPr lang="en-US" sz="850" b="1" dirty="0">
                <a:solidFill>
                  <a:srgbClr val="C8C0FF"/>
                </a:solidFill>
              </a:rPr>
              <a:t>Algorithm:</a:t>
            </a:r>
            <a:endParaRPr lang="en-US" sz="850" dirty="0"/>
          </a:p>
        </p:txBody>
      </p:sp>
      <p:sp>
        <p:nvSpPr>
          <p:cNvPr id="8" name="Text 6"/>
          <p:cNvSpPr/>
          <p:nvPr/>
        </p:nvSpPr>
        <p:spPr>
          <a:xfrm>
            <a:off x="1426464" y="1216152"/>
            <a:ext cx="1463040" cy="182880"/>
          </a:xfrm>
          <a:prstGeom prst="rect">
            <a:avLst/>
          </a:prstGeom>
          <a:noFill/>
          <a:ln/>
        </p:spPr>
        <p:txBody>
          <a:bodyPr wrap="square" lIns="0" tIns="0" rIns="0" bIns="0" rtlCol="0" anchor="ctr"/>
          <a:lstStyle/>
          <a:p>
            <a:pPr marL="0" indent="0">
              <a:buNone/>
            </a:pPr>
            <a:r>
              <a:rPr lang="en-US" sz="850" dirty="0">
                <a:solidFill>
                  <a:srgbClr val="FFFFFF"/>
                </a:solidFill>
              </a:rPr>
              <a:t>Random Forest Regression</a:t>
            </a:r>
            <a:endParaRPr lang="en-US" sz="850" dirty="0"/>
          </a:p>
        </p:txBody>
      </p:sp>
      <p:sp>
        <p:nvSpPr>
          <p:cNvPr id="9" name="Text 7"/>
          <p:cNvSpPr/>
          <p:nvPr/>
        </p:nvSpPr>
        <p:spPr>
          <a:xfrm>
            <a:off x="384048" y="1426464"/>
            <a:ext cx="1005840" cy="182880"/>
          </a:xfrm>
          <a:prstGeom prst="rect">
            <a:avLst/>
          </a:prstGeom>
          <a:noFill/>
          <a:ln/>
        </p:spPr>
        <p:txBody>
          <a:bodyPr wrap="square" lIns="0" tIns="0" rIns="0" bIns="0" rtlCol="0" anchor="ctr"/>
          <a:lstStyle/>
          <a:p>
            <a:pPr marL="0" indent="0">
              <a:buNone/>
            </a:pPr>
            <a:r>
              <a:rPr lang="en-US" sz="850" b="1" dirty="0">
                <a:solidFill>
                  <a:srgbClr val="C8C0FF"/>
                </a:solidFill>
              </a:rPr>
              <a:t>Trees:</a:t>
            </a:r>
            <a:endParaRPr lang="en-US" sz="850" dirty="0"/>
          </a:p>
        </p:txBody>
      </p:sp>
      <p:sp>
        <p:nvSpPr>
          <p:cNvPr id="10" name="Text 8"/>
          <p:cNvSpPr/>
          <p:nvPr/>
        </p:nvSpPr>
        <p:spPr>
          <a:xfrm>
            <a:off x="1426464" y="1426464"/>
            <a:ext cx="1463040" cy="182880"/>
          </a:xfrm>
          <a:prstGeom prst="rect">
            <a:avLst/>
          </a:prstGeom>
          <a:noFill/>
          <a:ln/>
        </p:spPr>
        <p:txBody>
          <a:bodyPr wrap="square" lIns="0" tIns="0" rIns="0" bIns="0" rtlCol="0" anchor="ctr"/>
          <a:lstStyle/>
          <a:p>
            <a:pPr marL="0" indent="0">
              <a:buNone/>
            </a:pPr>
            <a:r>
              <a:rPr lang="en-US" sz="850" dirty="0">
                <a:solidFill>
                  <a:srgbClr val="FFFFFF"/>
                </a:solidFill>
              </a:rPr>
              <a:t>200 decision trees</a:t>
            </a:r>
            <a:endParaRPr lang="en-US" sz="850" dirty="0"/>
          </a:p>
        </p:txBody>
      </p:sp>
      <p:sp>
        <p:nvSpPr>
          <p:cNvPr id="11" name="Text 9"/>
          <p:cNvSpPr/>
          <p:nvPr/>
        </p:nvSpPr>
        <p:spPr>
          <a:xfrm>
            <a:off x="384048" y="1636776"/>
            <a:ext cx="1005840" cy="182880"/>
          </a:xfrm>
          <a:prstGeom prst="rect">
            <a:avLst/>
          </a:prstGeom>
          <a:noFill/>
          <a:ln/>
        </p:spPr>
        <p:txBody>
          <a:bodyPr wrap="square" lIns="0" tIns="0" rIns="0" bIns="0" rtlCol="0" anchor="ctr"/>
          <a:lstStyle/>
          <a:p>
            <a:pPr marL="0" indent="0">
              <a:buNone/>
            </a:pPr>
            <a:r>
              <a:rPr lang="en-US" sz="850" b="1" dirty="0">
                <a:solidFill>
                  <a:srgbClr val="C8C0FF"/>
                </a:solidFill>
              </a:rPr>
              <a:t>Max depth:</a:t>
            </a:r>
            <a:endParaRPr lang="en-US" sz="850" dirty="0"/>
          </a:p>
        </p:txBody>
      </p:sp>
      <p:sp>
        <p:nvSpPr>
          <p:cNvPr id="12" name="Text 10"/>
          <p:cNvSpPr/>
          <p:nvPr/>
        </p:nvSpPr>
        <p:spPr>
          <a:xfrm>
            <a:off x="1426464" y="1636776"/>
            <a:ext cx="1463040" cy="182880"/>
          </a:xfrm>
          <a:prstGeom prst="rect">
            <a:avLst/>
          </a:prstGeom>
          <a:noFill/>
          <a:ln/>
        </p:spPr>
        <p:txBody>
          <a:bodyPr wrap="square" lIns="0" tIns="0" rIns="0" bIns="0" rtlCol="0" anchor="ctr"/>
          <a:lstStyle/>
          <a:p>
            <a:pPr marL="0" indent="0">
              <a:buNone/>
            </a:pPr>
            <a:r>
              <a:rPr lang="en-US" sz="850" dirty="0">
                <a:solidFill>
                  <a:srgbClr val="FFFFFF"/>
                </a:solidFill>
              </a:rPr>
              <a:t>5 (prevents overfitting)</a:t>
            </a:r>
            <a:endParaRPr lang="en-US" sz="850" dirty="0"/>
          </a:p>
        </p:txBody>
      </p:sp>
      <p:sp>
        <p:nvSpPr>
          <p:cNvPr id="13" name="Text 11"/>
          <p:cNvSpPr/>
          <p:nvPr/>
        </p:nvSpPr>
        <p:spPr>
          <a:xfrm>
            <a:off x="384048" y="1847088"/>
            <a:ext cx="1005840" cy="182880"/>
          </a:xfrm>
          <a:prstGeom prst="rect">
            <a:avLst/>
          </a:prstGeom>
          <a:noFill/>
          <a:ln/>
        </p:spPr>
        <p:txBody>
          <a:bodyPr wrap="square" lIns="0" tIns="0" rIns="0" bIns="0" rtlCol="0" anchor="ctr"/>
          <a:lstStyle/>
          <a:p>
            <a:pPr marL="0" indent="0">
              <a:buNone/>
            </a:pPr>
            <a:r>
              <a:rPr lang="en-US" sz="850" b="1" dirty="0">
                <a:solidFill>
                  <a:srgbClr val="C8C0FF"/>
                </a:solidFill>
              </a:rPr>
              <a:t>Features:</a:t>
            </a:r>
            <a:endParaRPr lang="en-US" sz="850" dirty="0"/>
          </a:p>
        </p:txBody>
      </p:sp>
      <p:sp>
        <p:nvSpPr>
          <p:cNvPr id="14" name="Text 12"/>
          <p:cNvSpPr/>
          <p:nvPr/>
        </p:nvSpPr>
        <p:spPr>
          <a:xfrm>
            <a:off x="1426464" y="1847088"/>
            <a:ext cx="1463040" cy="182880"/>
          </a:xfrm>
          <a:prstGeom prst="rect">
            <a:avLst/>
          </a:prstGeom>
          <a:noFill/>
          <a:ln/>
        </p:spPr>
        <p:txBody>
          <a:bodyPr wrap="square" lIns="0" tIns="0" rIns="0" bIns="0" rtlCol="0" anchor="ctr"/>
          <a:lstStyle/>
          <a:p>
            <a:pPr marL="0" indent="0">
              <a:buNone/>
            </a:pPr>
            <a:r>
              <a:rPr lang="en-US" sz="850" dirty="0">
                <a:solidFill>
                  <a:srgbClr val="FFFFFF"/>
                </a:solidFill>
              </a:rPr>
              <a:t>10 engineered features</a:t>
            </a:r>
            <a:endParaRPr lang="en-US" sz="850" dirty="0"/>
          </a:p>
        </p:txBody>
      </p:sp>
      <p:sp>
        <p:nvSpPr>
          <p:cNvPr id="15" name="Text 13"/>
          <p:cNvSpPr/>
          <p:nvPr/>
        </p:nvSpPr>
        <p:spPr>
          <a:xfrm>
            <a:off x="384048" y="2057400"/>
            <a:ext cx="1005840" cy="182880"/>
          </a:xfrm>
          <a:prstGeom prst="rect">
            <a:avLst/>
          </a:prstGeom>
          <a:noFill/>
          <a:ln/>
        </p:spPr>
        <p:txBody>
          <a:bodyPr wrap="square" lIns="0" tIns="0" rIns="0" bIns="0" rtlCol="0" anchor="ctr"/>
          <a:lstStyle/>
          <a:p>
            <a:pPr marL="0" indent="0">
              <a:buNone/>
            </a:pPr>
            <a:r>
              <a:rPr lang="en-US" sz="850" b="1" dirty="0">
                <a:solidFill>
                  <a:srgbClr val="C8C0FF"/>
                </a:solidFill>
              </a:rPr>
              <a:t>CV method:</a:t>
            </a:r>
            <a:endParaRPr lang="en-US" sz="850" dirty="0"/>
          </a:p>
        </p:txBody>
      </p:sp>
      <p:sp>
        <p:nvSpPr>
          <p:cNvPr id="16" name="Text 14"/>
          <p:cNvSpPr/>
          <p:nvPr/>
        </p:nvSpPr>
        <p:spPr>
          <a:xfrm>
            <a:off x="1426464" y="2057400"/>
            <a:ext cx="1463040" cy="182880"/>
          </a:xfrm>
          <a:prstGeom prst="rect">
            <a:avLst/>
          </a:prstGeom>
          <a:noFill/>
          <a:ln/>
        </p:spPr>
        <p:txBody>
          <a:bodyPr wrap="square" lIns="0" tIns="0" rIns="0" bIns="0" rtlCol="0" anchor="ctr"/>
          <a:lstStyle/>
          <a:p>
            <a:pPr marL="0" indent="0">
              <a:buNone/>
            </a:pPr>
            <a:r>
              <a:rPr lang="en-US" sz="850" dirty="0">
                <a:solidFill>
                  <a:srgbClr val="FFFFFF"/>
                </a:solidFill>
              </a:rPr>
              <a:t>5-fold cross-validation</a:t>
            </a:r>
            <a:endParaRPr lang="en-US" sz="850" dirty="0"/>
          </a:p>
        </p:txBody>
      </p:sp>
      <p:sp>
        <p:nvSpPr>
          <p:cNvPr id="17" name="Shape 15"/>
          <p:cNvSpPr/>
          <p:nvPr/>
        </p:nvSpPr>
        <p:spPr>
          <a:xfrm>
            <a:off x="274320" y="2414016"/>
            <a:ext cx="2743200" cy="1481328"/>
          </a:xfrm>
          <a:prstGeom prst="rect">
            <a:avLst/>
          </a:prstGeom>
          <a:solidFill>
            <a:srgbClr val="3A3190"/>
          </a:solidFill>
          <a:ln w="10160">
            <a:solidFill>
              <a:srgbClr val="534AB7"/>
            </a:solidFill>
            <a:prstDash val="solid"/>
          </a:ln>
          <a:effectLst>
            <a:outerShdw blurRad="101600" dist="38100" dir="8100000" algn="bl" rotWithShape="0">
              <a:srgbClr val="000000">
                <a:alpha val="18000"/>
              </a:srgbClr>
            </a:outerShdw>
          </a:effectLst>
        </p:spPr>
        <p:txBody>
          <a:bodyPr/>
          <a:lstStyle/>
          <a:p>
            <a:endParaRPr lang="en-AU"/>
          </a:p>
        </p:txBody>
      </p:sp>
      <p:sp>
        <p:nvSpPr>
          <p:cNvPr id="18" name="Text 16"/>
          <p:cNvSpPr/>
          <p:nvPr/>
        </p:nvSpPr>
        <p:spPr>
          <a:xfrm>
            <a:off x="384048" y="2468880"/>
            <a:ext cx="2523744" cy="219456"/>
          </a:xfrm>
          <a:prstGeom prst="rect">
            <a:avLst/>
          </a:prstGeom>
          <a:noFill/>
          <a:ln/>
        </p:spPr>
        <p:txBody>
          <a:bodyPr wrap="square" lIns="0" tIns="0" rIns="0" bIns="0" rtlCol="0" anchor="ctr"/>
          <a:lstStyle/>
          <a:p>
            <a:pPr marL="0" indent="0">
              <a:buNone/>
            </a:pPr>
            <a:r>
              <a:rPr lang="en-US" sz="1000" b="1" dirty="0">
                <a:solidFill>
                  <a:srgbClr val="C8C0FF"/>
                </a:solidFill>
              </a:rPr>
              <a:t>Model Accuracy</a:t>
            </a:r>
            <a:endParaRPr lang="en-US" sz="1000" dirty="0"/>
          </a:p>
        </p:txBody>
      </p:sp>
      <p:sp>
        <p:nvSpPr>
          <p:cNvPr id="19" name="Text 17"/>
          <p:cNvSpPr/>
          <p:nvPr/>
        </p:nvSpPr>
        <p:spPr>
          <a:xfrm>
            <a:off x="384048" y="2724912"/>
            <a:ext cx="1371600" cy="201168"/>
          </a:xfrm>
          <a:prstGeom prst="rect">
            <a:avLst/>
          </a:prstGeom>
          <a:noFill/>
          <a:ln/>
        </p:spPr>
        <p:txBody>
          <a:bodyPr wrap="square" lIns="0" tIns="0" rIns="0" bIns="0" rtlCol="0" anchor="ctr"/>
          <a:lstStyle/>
          <a:p>
            <a:pPr marL="0" indent="0">
              <a:buNone/>
            </a:pPr>
            <a:r>
              <a:rPr lang="en-US" sz="900" b="1" dirty="0">
                <a:solidFill>
                  <a:srgbClr val="C8C0FF"/>
                </a:solidFill>
              </a:rPr>
              <a:t>Training RMSE:</a:t>
            </a:r>
            <a:endParaRPr lang="en-US" sz="900" dirty="0"/>
          </a:p>
        </p:txBody>
      </p:sp>
      <p:sp>
        <p:nvSpPr>
          <p:cNvPr id="20" name="Text 18"/>
          <p:cNvSpPr/>
          <p:nvPr/>
        </p:nvSpPr>
        <p:spPr>
          <a:xfrm>
            <a:off x="1810512" y="2724912"/>
            <a:ext cx="1005840" cy="201168"/>
          </a:xfrm>
          <a:prstGeom prst="rect">
            <a:avLst/>
          </a:prstGeom>
          <a:noFill/>
          <a:ln/>
        </p:spPr>
        <p:txBody>
          <a:bodyPr wrap="square" lIns="0" tIns="0" rIns="0" bIns="0" rtlCol="0" anchor="ctr"/>
          <a:lstStyle/>
          <a:p>
            <a:pPr marL="0" indent="0">
              <a:buNone/>
            </a:pPr>
            <a:r>
              <a:rPr lang="en-US" sz="1000" b="1" dirty="0">
                <a:solidFill>
                  <a:srgbClr val="E8A230"/>
                </a:solidFill>
              </a:rPr>
              <a:t>≈ 18.4mm</a:t>
            </a:r>
            <a:endParaRPr lang="en-US" sz="1000" dirty="0"/>
          </a:p>
        </p:txBody>
      </p:sp>
      <p:sp>
        <p:nvSpPr>
          <p:cNvPr id="21" name="Text 19"/>
          <p:cNvSpPr/>
          <p:nvPr/>
        </p:nvSpPr>
        <p:spPr>
          <a:xfrm>
            <a:off x="384048" y="2944368"/>
            <a:ext cx="1371600" cy="201168"/>
          </a:xfrm>
          <a:prstGeom prst="rect">
            <a:avLst/>
          </a:prstGeom>
          <a:noFill/>
          <a:ln/>
        </p:spPr>
        <p:txBody>
          <a:bodyPr wrap="square" lIns="0" tIns="0" rIns="0" bIns="0" rtlCol="0" anchor="ctr"/>
          <a:lstStyle/>
          <a:p>
            <a:pPr marL="0" indent="0">
              <a:buNone/>
            </a:pPr>
            <a:r>
              <a:rPr lang="en-US" sz="900" b="1" dirty="0">
                <a:solidFill>
                  <a:srgbClr val="C8C0FF"/>
                </a:solidFill>
              </a:rPr>
              <a:t>Training MAE:</a:t>
            </a:r>
            <a:endParaRPr lang="en-US" sz="900" dirty="0"/>
          </a:p>
        </p:txBody>
      </p:sp>
      <p:sp>
        <p:nvSpPr>
          <p:cNvPr id="22" name="Text 20"/>
          <p:cNvSpPr/>
          <p:nvPr/>
        </p:nvSpPr>
        <p:spPr>
          <a:xfrm>
            <a:off x="1810512" y="2944368"/>
            <a:ext cx="1005840" cy="201168"/>
          </a:xfrm>
          <a:prstGeom prst="rect">
            <a:avLst/>
          </a:prstGeom>
          <a:noFill/>
          <a:ln/>
        </p:spPr>
        <p:txBody>
          <a:bodyPr wrap="square" lIns="0" tIns="0" rIns="0" bIns="0" rtlCol="0" anchor="ctr"/>
          <a:lstStyle/>
          <a:p>
            <a:pPr marL="0" indent="0">
              <a:buNone/>
            </a:pPr>
            <a:r>
              <a:rPr lang="en-US" sz="1000" b="1" dirty="0">
                <a:solidFill>
                  <a:srgbClr val="E8A230"/>
                </a:solidFill>
              </a:rPr>
              <a:t>≈ 14.2mm</a:t>
            </a:r>
            <a:endParaRPr lang="en-US" sz="1000" dirty="0"/>
          </a:p>
        </p:txBody>
      </p:sp>
      <p:sp>
        <p:nvSpPr>
          <p:cNvPr id="23" name="Text 21"/>
          <p:cNvSpPr/>
          <p:nvPr/>
        </p:nvSpPr>
        <p:spPr>
          <a:xfrm>
            <a:off x="384048" y="3163824"/>
            <a:ext cx="1371600" cy="201168"/>
          </a:xfrm>
          <a:prstGeom prst="rect">
            <a:avLst/>
          </a:prstGeom>
          <a:noFill/>
          <a:ln/>
        </p:spPr>
        <p:txBody>
          <a:bodyPr wrap="square" lIns="0" tIns="0" rIns="0" bIns="0" rtlCol="0" anchor="ctr"/>
          <a:lstStyle/>
          <a:p>
            <a:pPr marL="0" indent="0">
              <a:buNone/>
            </a:pPr>
            <a:r>
              <a:rPr lang="en-US" sz="900" b="1" dirty="0">
                <a:solidFill>
                  <a:srgbClr val="C8C0FF"/>
                </a:solidFill>
              </a:rPr>
              <a:t>Training MAPE:</a:t>
            </a:r>
            <a:endParaRPr lang="en-US" sz="900" dirty="0"/>
          </a:p>
        </p:txBody>
      </p:sp>
      <p:sp>
        <p:nvSpPr>
          <p:cNvPr id="24" name="Text 22"/>
          <p:cNvSpPr/>
          <p:nvPr/>
        </p:nvSpPr>
        <p:spPr>
          <a:xfrm>
            <a:off x="1810512" y="3163824"/>
            <a:ext cx="1005840" cy="201168"/>
          </a:xfrm>
          <a:prstGeom prst="rect">
            <a:avLst/>
          </a:prstGeom>
          <a:noFill/>
          <a:ln/>
        </p:spPr>
        <p:txBody>
          <a:bodyPr wrap="square" lIns="0" tIns="0" rIns="0" bIns="0" rtlCol="0" anchor="ctr"/>
          <a:lstStyle/>
          <a:p>
            <a:pPr marL="0" indent="0">
              <a:buNone/>
            </a:pPr>
            <a:r>
              <a:rPr lang="en-US" sz="1000" b="1" dirty="0">
                <a:solidFill>
                  <a:srgbClr val="E8A230"/>
                </a:solidFill>
              </a:rPr>
              <a:t>≈ 14.8%</a:t>
            </a:r>
            <a:endParaRPr lang="en-US" sz="1000" dirty="0"/>
          </a:p>
        </p:txBody>
      </p:sp>
      <p:sp>
        <p:nvSpPr>
          <p:cNvPr id="25" name="Text 23"/>
          <p:cNvSpPr/>
          <p:nvPr/>
        </p:nvSpPr>
        <p:spPr>
          <a:xfrm>
            <a:off x="384048" y="3383280"/>
            <a:ext cx="1371600" cy="201168"/>
          </a:xfrm>
          <a:prstGeom prst="rect">
            <a:avLst/>
          </a:prstGeom>
          <a:noFill/>
          <a:ln/>
        </p:spPr>
        <p:txBody>
          <a:bodyPr wrap="square" lIns="0" tIns="0" rIns="0" bIns="0" rtlCol="0" anchor="ctr"/>
          <a:lstStyle/>
          <a:p>
            <a:pPr marL="0" indent="0">
              <a:buNone/>
            </a:pPr>
            <a:r>
              <a:rPr lang="en-US" sz="900" b="1" dirty="0">
                <a:solidFill>
                  <a:srgbClr val="C8C0FF"/>
                </a:solidFill>
              </a:rPr>
              <a:t>Training R²:</a:t>
            </a:r>
            <a:endParaRPr lang="en-US" sz="900" dirty="0"/>
          </a:p>
        </p:txBody>
      </p:sp>
      <p:sp>
        <p:nvSpPr>
          <p:cNvPr id="26" name="Text 24"/>
          <p:cNvSpPr/>
          <p:nvPr/>
        </p:nvSpPr>
        <p:spPr>
          <a:xfrm>
            <a:off x="1810512" y="3383280"/>
            <a:ext cx="1005840" cy="201168"/>
          </a:xfrm>
          <a:prstGeom prst="rect">
            <a:avLst/>
          </a:prstGeom>
          <a:noFill/>
          <a:ln/>
        </p:spPr>
        <p:txBody>
          <a:bodyPr wrap="square" lIns="0" tIns="0" rIns="0" bIns="0" rtlCol="0" anchor="ctr"/>
          <a:lstStyle/>
          <a:p>
            <a:pPr marL="0" indent="0">
              <a:buNone/>
            </a:pPr>
            <a:r>
              <a:rPr lang="en-US" sz="1000" b="1" dirty="0">
                <a:solidFill>
                  <a:srgbClr val="E8A230"/>
                </a:solidFill>
              </a:rPr>
              <a:t>≈ 0.8934</a:t>
            </a:r>
            <a:endParaRPr lang="en-US" sz="1000" dirty="0"/>
          </a:p>
        </p:txBody>
      </p:sp>
      <p:sp>
        <p:nvSpPr>
          <p:cNvPr id="27" name="Text 25"/>
          <p:cNvSpPr/>
          <p:nvPr/>
        </p:nvSpPr>
        <p:spPr>
          <a:xfrm>
            <a:off x="384048" y="3602736"/>
            <a:ext cx="1371600" cy="201168"/>
          </a:xfrm>
          <a:prstGeom prst="rect">
            <a:avLst/>
          </a:prstGeom>
          <a:noFill/>
          <a:ln/>
        </p:spPr>
        <p:txBody>
          <a:bodyPr wrap="square" lIns="0" tIns="0" rIns="0" bIns="0" rtlCol="0" anchor="ctr"/>
          <a:lstStyle/>
          <a:p>
            <a:pPr marL="0" indent="0">
              <a:buNone/>
            </a:pPr>
            <a:r>
              <a:rPr lang="en-US" sz="900" b="1" dirty="0">
                <a:solidFill>
                  <a:srgbClr val="C8C0FF"/>
                </a:solidFill>
              </a:rPr>
              <a:t>CV RMSE (5-fold):</a:t>
            </a:r>
            <a:endParaRPr lang="en-US" sz="900" dirty="0"/>
          </a:p>
        </p:txBody>
      </p:sp>
      <p:sp>
        <p:nvSpPr>
          <p:cNvPr id="28" name="Text 26"/>
          <p:cNvSpPr/>
          <p:nvPr/>
        </p:nvSpPr>
        <p:spPr>
          <a:xfrm>
            <a:off x="1810512" y="3602736"/>
            <a:ext cx="1005840" cy="201168"/>
          </a:xfrm>
          <a:prstGeom prst="rect">
            <a:avLst/>
          </a:prstGeom>
          <a:noFill/>
          <a:ln/>
        </p:spPr>
        <p:txBody>
          <a:bodyPr wrap="square" lIns="0" tIns="0" rIns="0" bIns="0" rtlCol="0" anchor="ctr"/>
          <a:lstStyle/>
          <a:p>
            <a:pPr marL="0" indent="0">
              <a:buNone/>
            </a:pPr>
            <a:r>
              <a:rPr lang="en-US" sz="1000" b="1" dirty="0">
                <a:solidFill>
                  <a:srgbClr val="E8A230"/>
                </a:solidFill>
              </a:rPr>
              <a:t>≈ 24.6mm</a:t>
            </a:r>
            <a:endParaRPr lang="en-US" sz="1000" dirty="0"/>
          </a:p>
        </p:txBody>
      </p:sp>
      <p:sp>
        <p:nvSpPr>
          <p:cNvPr id="29" name="Text 27"/>
          <p:cNvSpPr/>
          <p:nvPr/>
        </p:nvSpPr>
        <p:spPr>
          <a:xfrm>
            <a:off x="3182112" y="694944"/>
            <a:ext cx="5669280" cy="219456"/>
          </a:xfrm>
          <a:prstGeom prst="rect">
            <a:avLst/>
          </a:prstGeom>
          <a:noFill/>
          <a:ln/>
        </p:spPr>
        <p:txBody>
          <a:bodyPr wrap="square" lIns="0" tIns="0" rIns="0" bIns="0" rtlCol="0" anchor="ctr"/>
          <a:lstStyle/>
          <a:p>
            <a:pPr marL="0" indent="0">
              <a:buNone/>
            </a:pPr>
            <a:r>
              <a:rPr lang="en-US" sz="950" b="1" kern="0" spc="50" dirty="0">
                <a:solidFill>
                  <a:srgbClr val="534AB7"/>
                </a:solidFill>
              </a:rPr>
              <a:t>Feature importance — what drives monthly rainfall</a:t>
            </a:r>
            <a:endParaRPr lang="en-US" sz="950" dirty="0"/>
          </a:p>
        </p:txBody>
      </p:sp>
      <p:sp>
        <p:nvSpPr>
          <p:cNvPr id="30" name="Text 28"/>
          <p:cNvSpPr/>
          <p:nvPr/>
        </p:nvSpPr>
        <p:spPr>
          <a:xfrm>
            <a:off x="3182112" y="969264"/>
            <a:ext cx="2011680" cy="292608"/>
          </a:xfrm>
          <a:prstGeom prst="rect">
            <a:avLst/>
          </a:prstGeom>
          <a:noFill/>
          <a:ln/>
        </p:spPr>
        <p:txBody>
          <a:bodyPr wrap="square" lIns="0" tIns="0" rIns="0" bIns="0" rtlCol="0" anchor="ctr"/>
          <a:lstStyle/>
          <a:p>
            <a:pPr marL="0" indent="0">
              <a:buNone/>
            </a:pPr>
            <a:r>
              <a:rPr lang="en-US" sz="850" dirty="0">
                <a:solidFill>
                  <a:srgbClr val="1A3A1A"/>
                </a:solidFill>
              </a:rPr>
              <a:t>Lag 12 (same mth last yr)</a:t>
            </a:r>
            <a:endParaRPr lang="en-US" sz="850" dirty="0"/>
          </a:p>
        </p:txBody>
      </p:sp>
      <p:sp>
        <p:nvSpPr>
          <p:cNvPr id="31" name="Shape 29"/>
          <p:cNvSpPr/>
          <p:nvPr/>
        </p:nvSpPr>
        <p:spPr>
          <a:xfrm>
            <a:off x="5230368" y="1005840"/>
            <a:ext cx="2999232" cy="210312"/>
          </a:xfrm>
          <a:prstGeom prst="rect">
            <a:avLst/>
          </a:prstGeom>
          <a:solidFill>
            <a:srgbClr val="534AB7"/>
          </a:solidFill>
          <a:ln w="12700">
            <a:solidFill>
              <a:srgbClr val="534AB7"/>
            </a:solidFill>
            <a:prstDash val="solid"/>
          </a:ln>
        </p:spPr>
        <p:txBody>
          <a:bodyPr/>
          <a:lstStyle/>
          <a:p>
            <a:endParaRPr lang="en-AU"/>
          </a:p>
        </p:txBody>
      </p:sp>
      <p:sp>
        <p:nvSpPr>
          <p:cNvPr id="32" name="Text 30"/>
          <p:cNvSpPr/>
          <p:nvPr/>
        </p:nvSpPr>
        <p:spPr>
          <a:xfrm>
            <a:off x="8485632" y="1033272"/>
            <a:ext cx="548640" cy="219456"/>
          </a:xfrm>
          <a:prstGeom prst="rect">
            <a:avLst/>
          </a:prstGeom>
          <a:noFill/>
          <a:ln/>
        </p:spPr>
        <p:txBody>
          <a:bodyPr wrap="square" lIns="0" tIns="0" rIns="0" bIns="0" rtlCol="0" anchor="ctr"/>
          <a:lstStyle/>
          <a:p>
            <a:pPr marL="0" indent="0">
              <a:buNone/>
            </a:pPr>
            <a:r>
              <a:rPr lang="en-US" sz="850" b="1" dirty="0">
                <a:solidFill>
                  <a:srgbClr val="534AB7"/>
                </a:solidFill>
              </a:rPr>
              <a:t>0.284</a:t>
            </a:r>
            <a:endParaRPr lang="en-US" sz="850" dirty="0"/>
          </a:p>
        </p:txBody>
      </p:sp>
      <p:sp>
        <p:nvSpPr>
          <p:cNvPr id="33" name="Text 31"/>
          <p:cNvSpPr/>
          <p:nvPr/>
        </p:nvSpPr>
        <p:spPr>
          <a:xfrm>
            <a:off x="3182112" y="1335024"/>
            <a:ext cx="2011680" cy="292608"/>
          </a:xfrm>
          <a:prstGeom prst="rect">
            <a:avLst/>
          </a:prstGeom>
          <a:noFill/>
          <a:ln/>
        </p:spPr>
        <p:txBody>
          <a:bodyPr wrap="square" lIns="0" tIns="0" rIns="0" bIns="0" rtlCol="0" anchor="ctr"/>
          <a:lstStyle/>
          <a:p>
            <a:pPr marL="0" indent="0">
              <a:buNone/>
            </a:pPr>
            <a:r>
              <a:rPr lang="en-US" sz="850" dirty="0">
                <a:solidFill>
                  <a:srgbClr val="1A3A1A"/>
                </a:solidFill>
              </a:rPr>
              <a:t>Sin/Cos Month (cyclical)</a:t>
            </a:r>
            <a:endParaRPr lang="en-US" sz="850" dirty="0"/>
          </a:p>
        </p:txBody>
      </p:sp>
      <p:sp>
        <p:nvSpPr>
          <p:cNvPr id="34" name="Shape 32"/>
          <p:cNvSpPr/>
          <p:nvPr/>
        </p:nvSpPr>
        <p:spPr>
          <a:xfrm>
            <a:off x="5230369" y="1371600"/>
            <a:ext cx="2487168" cy="210312"/>
          </a:xfrm>
          <a:prstGeom prst="rect">
            <a:avLst/>
          </a:prstGeom>
          <a:solidFill>
            <a:srgbClr val="534AB7"/>
          </a:solidFill>
          <a:ln w="12700">
            <a:solidFill>
              <a:srgbClr val="534AB7"/>
            </a:solidFill>
            <a:prstDash val="solid"/>
          </a:ln>
        </p:spPr>
        <p:txBody>
          <a:bodyPr/>
          <a:lstStyle/>
          <a:p>
            <a:endParaRPr lang="en-AU"/>
          </a:p>
        </p:txBody>
      </p:sp>
      <p:sp>
        <p:nvSpPr>
          <p:cNvPr id="35" name="Text 33"/>
          <p:cNvSpPr/>
          <p:nvPr/>
        </p:nvSpPr>
        <p:spPr>
          <a:xfrm>
            <a:off x="8485632" y="1389888"/>
            <a:ext cx="548640" cy="219456"/>
          </a:xfrm>
          <a:prstGeom prst="rect">
            <a:avLst/>
          </a:prstGeom>
          <a:noFill/>
          <a:ln/>
        </p:spPr>
        <p:txBody>
          <a:bodyPr wrap="square" lIns="0" tIns="0" rIns="0" bIns="0" rtlCol="0" anchor="ctr"/>
          <a:lstStyle/>
          <a:p>
            <a:pPr marL="0" indent="0">
              <a:buNone/>
            </a:pPr>
            <a:r>
              <a:rPr lang="en-US" sz="850" b="1" dirty="0">
                <a:solidFill>
                  <a:srgbClr val="534AB7"/>
                </a:solidFill>
              </a:rPr>
              <a:t>0.231</a:t>
            </a:r>
            <a:endParaRPr lang="en-US" sz="850" dirty="0"/>
          </a:p>
        </p:txBody>
      </p:sp>
      <p:sp>
        <p:nvSpPr>
          <p:cNvPr id="36" name="Text 34"/>
          <p:cNvSpPr/>
          <p:nvPr/>
        </p:nvSpPr>
        <p:spPr>
          <a:xfrm>
            <a:off x="3182112" y="1700784"/>
            <a:ext cx="2011680" cy="292608"/>
          </a:xfrm>
          <a:prstGeom prst="rect">
            <a:avLst/>
          </a:prstGeom>
          <a:noFill/>
          <a:ln/>
        </p:spPr>
        <p:txBody>
          <a:bodyPr wrap="square" lIns="0" tIns="0" rIns="0" bIns="0" rtlCol="0" anchor="ctr"/>
          <a:lstStyle/>
          <a:p>
            <a:pPr marL="0" indent="0">
              <a:buNone/>
            </a:pPr>
            <a:r>
              <a:rPr lang="en-US" sz="850" dirty="0">
                <a:solidFill>
                  <a:srgbClr val="1A3A1A"/>
                </a:solidFill>
              </a:rPr>
              <a:t>Lag 1 (prev month)</a:t>
            </a:r>
            <a:endParaRPr lang="en-US" sz="850" dirty="0"/>
          </a:p>
        </p:txBody>
      </p:sp>
      <p:sp>
        <p:nvSpPr>
          <p:cNvPr id="37" name="Shape 35"/>
          <p:cNvSpPr/>
          <p:nvPr/>
        </p:nvSpPr>
        <p:spPr>
          <a:xfrm>
            <a:off x="5230368" y="1737360"/>
            <a:ext cx="2030097" cy="237744"/>
          </a:xfrm>
          <a:prstGeom prst="rect">
            <a:avLst/>
          </a:prstGeom>
          <a:solidFill>
            <a:srgbClr val="185FA5"/>
          </a:solidFill>
          <a:ln w="12700">
            <a:solidFill>
              <a:srgbClr val="185FA5"/>
            </a:solidFill>
            <a:prstDash val="solid"/>
          </a:ln>
        </p:spPr>
        <p:txBody>
          <a:bodyPr/>
          <a:lstStyle/>
          <a:p>
            <a:endParaRPr lang="en-AU"/>
          </a:p>
        </p:txBody>
      </p:sp>
      <p:sp>
        <p:nvSpPr>
          <p:cNvPr id="38" name="Text 36"/>
          <p:cNvSpPr/>
          <p:nvPr/>
        </p:nvSpPr>
        <p:spPr>
          <a:xfrm>
            <a:off x="8485632" y="1728216"/>
            <a:ext cx="548640" cy="219456"/>
          </a:xfrm>
          <a:prstGeom prst="rect">
            <a:avLst/>
          </a:prstGeom>
          <a:noFill/>
          <a:ln/>
        </p:spPr>
        <p:txBody>
          <a:bodyPr wrap="square" lIns="0" tIns="0" rIns="0" bIns="0" rtlCol="0" anchor="ctr"/>
          <a:lstStyle/>
          <a:p>
            <a:pPr marL="0" indent="0">
              <a:buNone/>
            </a:pPr>
            <a:r>
              <a:rPr lang="en-US" sz="850" b="1" dirty="0">
                <a:solidFill>
                  <a:srgbClr val="185FA5"/>
                </a:solidFill>
              </a:rPr>
              <a:t>0.182</a:t>
            </a:r>
            <a:endParaRPr lang="en-US" sz="850" dirty="0"/>
          </a:p>
        </p:txBody>
      </p:sp>
      <p:sp>
        <p:nvSpPr>
          <p:cNvPr id="39" name="Text 37"/>
          <p:cNvSpPr/>
          <p:nvPr/>
        </p:nvSpPr>
        <p:spPr>
          <a:xfrm>
            <a:off x="3182112" y="2066544"/>
            <a:ext cx="2011680" cy="292608"/>
          </a:xfrm>
          <a:prstGeom prst="rect">
            <a:avLst/>
          </a:prstGeom>
          <a:noFill/>
          <a:ln/>
        </p:spPr>
        <p:txBody>
          <a:bodyPr wrap="square" lIns="0" tIns="0" rIns="0" bIns="0" rtlCol="0" anchor="ctr"/>
          <a:lstStyle/>
          <a:p>
            <a:pPr marL="0" indent="0">
              <a:buNone/>
            </a:pPr>
            <a:r>
              <a:rPr lang="en-US" sz="850" dirty="0">
                <a:solidFill>
                  <a:srgbClr val="1A3A1A"/>
                </a:solidFill>
              </a:rPr>
              <a:t>Roll 6-month mean</a:t>
            </a:r>
            <a:endParaRPr lang="en-US" sz="850" dirty="0"/>
          </a:p>
        </p:txBody>
      </p:sp>
      <p:sp>
        <p:nvSpPr>
          <p:cNvPr id="40" name="Shape 38"/>
          <p:cNvSpPr/>
          <p:nvPr/>
        </p:nvSpPr>
        <p:spPr>
          <a:xfrm>
            <a:off x="5230369" y="2103120"/>
            <a:ext cx="1353312" cy="219456"/>
          </a:xfrm>
          <a:prstGeom prst="rect">
            <a:avLst/>
          </a:prstGeom>
          <a:solidFill>
            <a:srgbClr val="185FA5"/>
          </a:solidFill>
          <a:ln w="12700">
            <a:solidFill>
              <a:srgbClr val="185FA5"/>
            </a:solidFill>
            <a:prstDash val="solid"/>
          </a:ln>
        </p:spPr>
        <p:txBody>
          <a:bodyPr/>
          <a:lstStyle/>
          <a:p>
            <a:endParaRPr lang="en-AU"/>
          </a:p>
        </p:txBody>
      </p:sp>
      <p:sp>
        <p:nvSpPr>
          <p:cNvPr id="41" name="Text 39"/>
          <p:cNvSpPr/>
          <p:nvPr/>
        </p:nvSpPr>
        <p:spPr>
          <a:xfrm>
            <a:off x="8485632" y="2075688"/>
            <a:ext cx="548640" cy="219456"/>
          </a:xfrm>
          <a:prstGeom prst="rect">
            <a:avLst/>
          </a:prstGeom>
          <a:noFill/>
          <a:ln/>
        </p:spPr>
        <p:txBody>
          <a:bodyPr wrap="square" lIns="0" tIns="0" rIns="0" bIns="0" rtlCol="0" anchor="ctr"/>
          <a:lstStyle/>
          <a:p>
            <a:pPr marL="0" indent="0">
              <a:buNone/>
            </a:pPr>
            <a:r>
              <a:rPr lang="en-US" sz="850" b="1" dirty="0">
                <a:solidFill>
                  <a:srgbClr val="185FA5"/>
                </a:solidFill>
              </a:rPr>
              <a:t>0.124</a:t>
            </a:r>
            <a:endParaRPr lang="en-US" sz="850" dirty="0"/>
          </a:p>
        </p:txBody>
      </p:sp>
      <p:sp>
        <p:nvSpPr>
          <p:cNvPr id="42" name="Text 40"/>
          <p:cNvSpPr/>
          <p:nvPr/>
        </p:nvSpPr>
        <p:spPr>
          <a:xfrm>
            <a:off x="3182112" y="2432304"/>
            <a:ext cx="2011680" cy="292608"/>
          </a:xfrm>
          <a:prstGeom prst="rect">
            <a:avLst/>
          </a:prstGeom>
          <a:noFill/>
          <a:ln/>
        </p:spPr>
        <p:txBody>
          <a:bodyPr wrap="square" lIns="0" tIns="0" rIns="0" bIns="0" rtlCol="0" anchor="ctr"/>
          <a:lstStyle/>
          <a:p>
            <a:pPr marL="0" indent="0">
              <a:buNone/>
            </a:pPr>
            <a:r>
              <a:rPr lang="en-US" sz="850" dirty="0">
                <a:solidFill>
                  <a:srgbClr val="1A3A1A"/>
                </a:solidFill>
              </a:rPr>
              <a:t>Roll 3-month mean</a:t>
            </a:r>
            <a:endParaRPr lang="en-US" sz="850" dirty="0"/>
          </a:p>
        </p:txBody>
      </p:sp>
      <p:sp>
        <p:nvSpPr>
          <p:cNvPr id="43" name="Shape 41"/>
          <p:cNvSpPr/>
          <p:nvPr/>
        </p:nvSpPr>
        <p:spPr>
          <a:xfrm>
            <a:off x="5230368" y="2468880"/>
            <a:ext cx="969264" cy="274320"/>
          </a:xfrm>
          <a:prstGeom prst="rect">
            <a:avLst/>
          </a:prstGeom>
          <a:solidFill>
            <a:srgbClr val="185FA5"/>
          </a:solidFill>
          <a:ln w="12700">
            <a:solidFill>
              <a:srgbClr val="185FA5"/>
            </a:solidFill>
            <a:prstDash val="solid"/>
          </a:ln>
        </p:spPr>
        <p:txBody>
          <a:bodyPr/>
          <a:lstStyle/>
          <a:p>
            <a:endParaRPr lang="en-AU"/>
          </a:p>
        </p:txBody>
      </p:sp>
      <p:sp>
        <p:nvSpPr>
          <p:cNvPr id="44" name="Text 42"/>
          <p:cNvSpPr/>
          <p:nvPr/>
        </p:nvSpPr>
        <p:spPr>
          <a:xfrm>
            <a:off x="8485632" y="2421050"/>
            <a:ext cx="548640" cy="219456"/>
          </a:xfrm>
          <a:prstGeom prst="rect">
            <a:avLst/>
          </a:prstGeom>
          <a:noFill/>
          <a:ln/>
        </p:spPr>
        <p:txBody>
          <a:bodyPr wrap="square" lIns="0" tIns="0" rIns="0" bIns="0" rtlCol="0" anchor="ctr"/>
          <a:lstStyle/>
          <a:p>
            <a:pPr marL="0" indent="0">
              <a:buNone/>
            </a:pPr>
            <a:r>
              <a:rPr lang="en-US" sz="850" b="1" dirty="0">
                <a:solidFill>
                  <a:srgbClr val="185FA5"/>
                </a:solidFill>
              </a:rPr>
              <a:t>0.098</a:t>
            </a:r>
            <a:endParaRPr lang="en-US" sz="850" dirty="0"/>
          </a:p>
        </p:txBody>
      </p:sp>
      <p:sp>
        <p:nvSpPr>
          <p:cNvPr id="45" name="Text 43"/>
          <p:cNvSpPr/>
          <p:nvPr/>
        </p:nvSpPr>
        <p:spPr>
          <a:xfrm>
            <a:off x="3182112" y="2798064"/>
            <a:ext cx="2011680" cy="292608"/>
          </a:xfrm>
          <a:prstGeom prst="rect">
            <a:avLst/>
          </a:prstGeom>
          <a:noFill/>
          <a:ln/>
        </p:spPr>
        <p:txBody>
          <a:bodyPr wrap="square" lIns="0" tIns="0" rIns="0" bIns="0" rtlCol="0" anchor="ctr"/>
          <a:lstStyle/>
          <a:p>
            <a:pPr marL="0" indent="0">
              <a:buNone/>
            </a:pPr>
            <a:r>
              <a:rPr lang="en-US" sz="850" dirty="0">
                <a:solidFill>
                  <a:srgbClr val="1A3A1A"/>
                </a:solidFill>
              </a:rPr>
              <a:t>Year (long-term trend)</a:t>
            </a:r>
            <a:endParaRPr lang="en-US" sz="850" dirty="0"/>
          </a:p>
        </p:txBody>
      </p:sp>
      <p:sp>
        <p:nvSpPr>
          <p:cNvPr id="46" name="Shape 44"/>
          <p:cNvSpPr/>
          <p:nvPr/>
        </p:nvSpPr>
        <p:spPr>
          <a:xfrm>
            <a:off x="5230368" y="2834640"/>
            <a:ext cx="811705" cy="274320"/>
          </a:xfrm>
          <a:prstGeom prst="rect">
            <a:avLst/>
          </a:prstGeom>
          <a:solidFill>
            <a:srgbClr val="94A3B8"/>
          </a:solidFill>
          <a:ln w="12700">
            <a:solidFill>
              <a:srgbClr val="94A3B8"/>
            </a:solidFill>
            <a:prstDash val="solid"/>
          </a:ln>
        </p:spPr>
        <p:txBody>
          <a:bodyPr/>
          <a:lstStyle/>
          <a:p>
            <a:endParaRPr lang="en-AU"/>
          </a:p>
        </p:txBody>
      </p:sp>
      <p:sp>
        <p:nvSpPr>
          <p:cNvPr id="47" name="Text 45"/>
          <p:cNvSpPr/>
          <p:nvPr/>
        </p:nvSpPr>
        <p:spPr>
          <a:xfrm>
            <a:off x="8485632" y="2788920"/>
            <a:ext cx="548640" cy="219456"/>
          </a:xfrm>
          <a:prstGeom prst="rect">
            <a:avLst/>
          </a:prstGeom>
          <a:noFill/>
          <a:ln/>
        </p:spPr>
        <p:txBody>
          <a:bodyPr wrap="square" lIns="0" tIns="0" rIns="0" bIns="0" rtlCol="0" anchor="ctr"/>
          <a:lstStyle/>
          <a:p>
            <a:pPr marL="0" indent="0">
              <a:buNone/>
            </a:pPr>
            <a:r>
              <a:rPr lang="en-US" sz="850" b="1" dirty="0">
                <a:solidFill>
                  <a:schemeClr val="accent1">
                    <a:lumMod val="75000"/>
                  </a:schemeClr>
                </a:solidFill>
              </a:rPr>
              <a:t>0.081</a:t>
            </a:r>
            <a:endParaRPr lang="en-US" sz="850" dirty="0">
              <a:solidFill>
                <a:schemeClr val="accent1">
                  <a:lumMod val="75000"/>
                </a:schemeClr>
              </a:solidFill>
            </a:endParaRPr>
          </a:p>
        </p:txBody>
      </p:sp>
      <p:sp>
        <p:nvSpPr>
          <p:cNvPr id="48" name="Text 46"/>
          <p:cNvSpPr/>
          <p:nvPr/>
        </p:nvSpPr>
        <p:spPr>
          <a:xfrm>
            <a:off x="3182112" y="3182112"/>
            <a:ext cx="5669280" cy="219456"/>
          </a:xfrm>
          <a:prstGeom prst="rect">
            <a:avLst/>
          </a:prstGeom>
          <a:noFill/>
          <a:ln/>
        </p:spPr>
        <p:txBody>
          <a:bodyPr wrap="square" lIns="0" tIns="0" rIns="0" bIns="0" rtlCol="0" anchor="ctr"/>
          <a:lstStyle/>
          <a:p>
            <a:pPr marL="0" indent="0">
              <a:buNone/>
            </a:pPr>
            <a:r>
              <a:rPr lang="en-US" sz="950" b="1" kern="0" spc="50" dirty="0">
                <a:solidFill>
                  <a:srgbClr val="1A4A24"/>
                </a:solidFill>
              </a:rPr>
              <a:t>FY production risk — RF rainfall forecast × Pearson R = −0.621</a:t>
            </a:r>
            <a:endParaRPr lang="en-US" sz="950" dirty="0"/>
          </a:p>
        </p:txBody>
      </p:sp>
      <p:sp>
        <p:nvSpPr>
          <p:cNvPr id="49" name="Shape 47"/>
          <p:cNvSpPr/>
          <p:nvPr/>
        </p:nvSpPr>
        <p:spPr>
          <a:xfrm>
            <a:off x="3182112" y="3456432"/>
            <a:ext cx="1005840" cy="256032"/>
          </a:xfrm>
          <a:prstGeom prst="rect">
            <a:avLst/>
          </a:prstGeom>
          <a:solidFill>
            <a:srgbClr val="1A4A24"/>
          </a:solidFill>
          <a:ln w="5080">
            <a:solidFill>
              <a:srgbClr val="2D8A4E"/>
            </a:solidFill>
            <a:prstDash val="solid"/>
          </a:ln>
        </p:spPr>
        <p:txBody>
          <a:bodyPr/>
          <a:lstStyle/>
          <a:p>
            <a:endParaRPr lang="en-AU"/>
          </a:p>
        </p:txBody>
      </p:sp>
      <p:sp>
        <p:nvSpPr>
          <p:cNvPr id="50" name="Text 48"/>
          <p:cNvSpPr/>
          <p:nvPr/>
        </p:nvSpPr>
        <p:spPr>
          <a:xfrm>
            <a:off x="3182112" y="3456432"/>
            <a:ext cx="1005840" cy="256032"/>
          </a:xfrm>
          <a:prstGeom prst="rect">
            <a:avLst/>
          </a:prstGeom>
          <a:noFill/>
          <a:ln/>
        </p:spPr>
        <p:txBody>
          <a:bodyPr wrap="square" lIns="0" tIns="0" rIns="0" bIns="0" rtlCol="0" anchor="ctr"/>
          <a:lstStyle/>
          <a:p>
            <a:pPr marL="0" indent="0" algn="ctr">
              <a:buNone/>
            </a:pPr>
            <a:r>
              <a:rPr lang="en-US" sz="800" b="1" dirty="0">
                <a:solidFill>
                  <a:srgbClr val="FFFFFF"/>
                </a:solidFill>
              </a:rPr>
              <a:t>FY</a:t>
            </a:r>
            <a:endParaRPr lang="en-US" sz="800" dirty="0"/>
          </a:p>
        </p:txBody>
      </p:sp>
      <p:sp>
        <p:nvSpPr>
          <p:cNvPr id="51" name="Shape 49"/>
          <p:cNvSpPr/>
          <p:nvPr/>
        </p:nvSpPr>
        <p:spPr>
          <a:xfrm>
            <a:off x="4224528" y="3456432"/>
            <a:ext cx="969264" cy="256032"/>
          </a:xfrm>
          <a:prstGeom prst="rect">
            <a:avLst/>
          </a:prstGeom>
          <a:solidFill>
            <a:srgbClr val="1A4A24"/>
          </a:solidFill>
          <a:ln w="5080">
            <a:solidFill>
              <a:srgbClr val="2D8A4E"/>
            </a:solidFill>
            <a:prstDash val="solid"/>
          </a:ln>
        </p:spPr>
        <p:txBody>
          <a:bodyPr/>
          <a:lstStyle/>
          <a:p>
            <a:endParaRPr lang="en-AU"/>
          </a:p>
        </p:txBody>
      </p:sp>
      <p:sp>
        <p:nvSpPr>
          <p:cNvPr id="52" name="Text 50"/>
          <p:cNvSpPr/>
          <p:nvPr/>
        </p:nvSpPr>
        <p:spPr>
          <a:xfrm>
            <a:off x="4224528" y="3456432"/>
            <a:ext cx="969264" cy="256032"/>
          </a:xfrm>
          <a:prstGeom prst="rect">
            <a:avLst/>
          </a:prstGeom>
          <a:noFill/>
          <a:ln/>
        </p:spPr>
        <p:txBody>
          <a:bodyPr wrap="square" lIns="0" tIns="0" rIns="0" bIns="0" rtlCol="0" anchor="ctr"/>
          <a:lstStyle/>
          <a:p>
            <a:pPr marL="0" indent="0" algn="ctr">
              <a:buNone/>
            </a:pPr>
            <a:r>
              <a:rPr lang="en-US" sz="800" b="1" dirty="0">
                <a:solidFill>
                  <a:srgbClr val="FFFFFF"/>
                </a:solidFill>
              </a:rPr>
              <a:t>RF Rain (mm)</a:t>
            </a:r>
            <a:endParaRPr lang="en-US" sz="800" dirty="0"/>
          </a:p>
        </p:txBody>
      </p:sp>
      <p:sp>
        <p:nvSpPr>
          <p:cNvPr id="53" name="Shape 51"/>
          <p:cNvSpPr/>
          <p:nvPr/>
        </p:nvSpPr>
        <p:spPr>
          <a:xfrm>
            <a:off x="5230368" y="3456432"/>
            <a:ext cx="1133856" cy="256032"/>
          </a:xfrm>
          <a:prstGeom prst="rect">
            <a:avLst/>
          </a:prstGeom>
          <a:solidFill>
            <a:srgbClr val="1A4A24"/>
          </a:solidFill>
          <a:ln w="5080">
            <a:solidFill>
              <a:srgbClr val="2D8A4E"/>
            </a:solidFill>
            <a:prstDash val="solid"/>
          </a:ln>
        </p:spPr>
        <p:txBody>
          <a:bodyPr/>
          <a:lstStyle/>
          <a:p>
            <a:endParaRPr lang="en-AU"/>
          </a:p>
        </p:txBody>
      </p:sp>
      <p:sp>
        <p:nvSpPr>
          <p:cNvPr id="54" name="Text 52"/>
          <p:cNvSpPr/>
          <p:nvPr/>
        </p:nvSpPr>
        <p:spPr>
          <a:xfrm>
            <a:off x="5230368" y="3456432"/>
            <a:ext cx="1133856" cy="256032"/>
          </a:xfrm>
          <a:prstGeom prst="rect">
            <a:avLst/>
          </a:prstGeom>
          <a:noFill/>
          <a:ln/>
        </p:spPr>
        <p:txBody>
          <a:bodyPr wrap="square" lIns="0" tIns="0" rIns="0" bIns="0" rtlCol="0" anchor="ctr"/>
          <a:lstStyle/>
          <a:p>
            <a:pPr marL="0" indent="0" algn="ctr">
              <a:buNone/>
            </a:pPr>
            <a:r>
              <a:rPr lang="en-US" sz="800" b="1" dirty="0">
                <a:solidFill>
                  <a:srgbClr val="FFFFFF"/>
                </a:solidFill>
              </a:rPr>
              <a:t>Δ Rain vs mean</a:t>
            </a:r>
            <a:endParaRPr lang="en-US" sz="800" dirty="0"/>
          </a:p>
        </p:txBody>
      </p:sp>
      <p:sp>
        <p:nvSpPr>
          <p:cNvPr id="55" name="Shape 53"/>
          <p:cNvSpPr/>
          <p:nvPr/>
        </p:nvSpPr>
        <p:spPr>
          <a:xfrm>
            <a:off x="6400800" y="3456432"/>
            <a:ext cx="1133856" cy="256032"/>
          </a:xfrm>
          <a:prstGeom prst="rect">
            <a:avLst/>
          </a:prstGeom>
          <a:solidFill>
            <a:srgbClr val="1A4A24"/>
          </a:solidFill>
          <a:ln w="5080">
            <a:solidFill>
              <a:srgbClr val="2D8A4E"/>
            </a:solidFill>
            <a:prstDash val="solid"/>
          </a:ln>
        </p:spPr>
        <p:txBody>
          <a:bodyPr/>
          <a:lstStyle/>
          <a:p>
            <a:endParaRPr lang="en-AU"/>
          </a:p>
        </p:txBody>
      </p:sp>
      <p:sp>
        <p:nvSpPr>
          <p:cNvPr id="56" name="Text 54"/>
          <p:cNvSpPr/>
          <p:nvPr/>
        </p:nvSpPr>
        <p:spPr>
          <a:xfrm>
            <a:off x="6400800" y="3456432"/>
            <a:ext cx="1133856" cy="256032"/>
          </a:xfrm>
          <a:prstGeom prst="rect">
            <a:avLst/>
          </a:prstGeom>
          <a:noFill/>
          <a:ln/>
        </p:spPr>
        <p:txBody>
          <a:bodyPr wrap="square" lIns="0" tIns="0" rIns="0" bIns="0" rtlCol="0" anchor="ctr"/>
          <a:lstStyle/>
          <a:p>
            <a:pPr marL="0" indent="0" algn="ctr">
              <a:buNone/>
            </a:pPr>
            <a:r>
              <a:rPr lang="en-US" sz="800" b="1" dirty="0">
                <a:solidFill>
                  <a:srgbClr val="FFFFFF"/>
                </a:solidFill>
              </a:rPr>
              <a:t>Δ Prod est %</a:t>
            </a:r>
            <a:endParaRPr lang="en-US" sz="800" dirty="0"/>
          </a:p>
        </p:txBody>
      </p:sp>
      <p:sp>
        <p:nvSpPr>
          <p:cNvPr id="57" name="Shape 55"/>
          <p:cNvSpPr/>
          <p:nvPr/>
        </p:nvSpPr>
        <p:spPr>
          <a:xfrm>
            <a:off x="7571232" y="3456432"/>
            <a:ext cx="1280160" cy="256032"/>
          </a:xfrm>
          <a:prstGeom prst="rect">
            <a:avLst/>
          </a:prstGeom>
          <a:solidFill>
            <a:srgbClr val="1A4A24"/>
          </a:solidFill>
          <a:ln w="5080">
            <a:solidFill>
              <a:srgbClr val="2D8A4E"/>
            </a:solidFill>
            <a:prstDash val="solid"/>
          </a:ln>
        </p:spPr>
        <p:txBody>
          <a:bodyPr/>
          <a:lstStyle/>
          <a:p>
            <a:endParaRPr lang="en-AU"/>
          </a:p>
        </p:txBody>
      </p:sp>
      <p:sp>
        <p:nvSpPr>
          <p:cNvPr id="58" name="Text 56"/>
          <p:cNvSpPr/>
          <p:nvPr/>
        </p:nvSpPr>
        <p:spPr>
          <a:xfrm>
            <a:off x="7571232" y="3456432"/>
            <a:ext cx="1280160" cy="256032"/>
          </a:xfrm>
          <a:prstGeom prst="rect">
            <a:avLst/>
          </a:prstGeom>
          <a:noFill/>
          <a:ln/>
        </p:spPr>
        <p:txBody>
          <a:bodyPr wrap="square" lIns="0" tIns="0" rIns="0" bIns="0" rtlCol="0" anchor="ctr"/>
          <a:lstStyle/>
          <a:p>
            <a:pPr marL="0" indent="0" algn="ctr">
              <a:buNone/>
            </a:pPr>
            <a:r>
              <a:rPr lang="en-US" sz="800" b="1" dirty="0">
                <a:solidFill>
                  <a:srgbClr val="FFFFFF"/>
                </a:solidFill>
              </a:rPr>
              <a:t>Risk</a:t>
            </a:r>
            <a:endParaRPr lang="en-US" sz="800" dirty="0"/>
          </a:p>
        </p:txBody>
      </p:sp>
      <p:sp>
        <p:nvSpPr>
          <p:cNvPr id="59" name="Shape 57"/>
          <p:cNvSpPr/>
          <p:nvPr/>
        </p:nvSpPr>
        <p:spPr>
          <a:xfrm>
            <a:off x="3182112" y="3749040"/>
            <a:ext cx="1005840" cy="246888"/>
          </a:xfrm>
          <a:prstGeom prst="rect">
            <a:avLst/>
          </a:prstGeom>
          <a:solidFill>
            <a:srgbClr val="EEF4EE"/>
          </a:solidFill>
          <a:ln w="3810">
            <a:solidFill>
              <a:srgbClr val="C8D4C8"/>
            </a:solidFill>
            <a:prstDash val="solid"/>
          </a:ln>
        </p:spPr>
        <p:txBody>
          <a:bodyPr/>
          <a:lstStyle/>
          <a:p>
            <a:endParaRPr lang="en-AU"/>
          </a:p>
        </p:txBody>
      </p:sp>
      <p:sp>
        <p:nvSpPr>
          <p:cNvPr id="60" name="Text 58"/>
          <p:cNvSpPr/>
          <p:nvPr/>
        </p:nvSpPr>
        <p:spPr>
          <a:xfrm>
            <a:off x="3182112" y="3749040"/>
            <a:ext cx="1005840" cy="246888"/>
          </a:xfrm>
          <a:prstGeom prst="rect">
            <a:avLst/>
          </a:prstGeom>
          <a:noFill/>
          <a:ln/>
        </p:spPr>
        <p:txBody>
          <a:bodyPr wrap="square" lIns="0" tIns="0" rIns="0" bIns="0" rtlCol="0" anchor="ctr"/>
          <a:lstStyle/>
          <a:p>
            <a:pPr marL="0" indent="0" algn="ctr">
              <a:buNone/>
            </a:pPr>
            <a:r>
              <a:rPr lang="en-US" sz="850" b="1" dirty="0">
                <a:solidFill>
                  <a:srgbClr val="1A4A24"/>
                </a:solidFill>
              </a:rPr>
              <a:t>2025/26</a:t>
            </a:r>
            <a:endParaRPr lang="en-US" sz="850" dirty="0"/>
          </a:p>
        </p:txBody>
      </p:sp>
      <p:sp>
        <p:nvSpPr>
          <p:cNvPr id="61" name="Shape 59"/>
          <p:cNvSpPr/>
          <p:nvPr/>
        </p:nvSpPr>
        <p:spPr>
          <a:xfrm>
            <a:off x="4224528" y="3749040"/>
            <a:ext cx="969264" cy="246888"/>
          </a:xfrm>
          <a:prstGeom prst="rect">
            <a:avLst/>
          </a:prstGeom>
          <a:solidFill>
            <a:srgbClr val="EEF4EE"/>
          </a:solidFill>
          <a:ln w="3810">
            <a:solidFill>
              <a:srgbClr val="C8D4C8"/>
            </a:solidFill>
            <a:prstDash val="solid"/>
          </a:ln>
        </p:spPr>
        <p:txBody>
          <a:bodyPr/>
          <a:lstStyle/>
          <a:p>
            <a:endParaRPr lang="en-AU"/>
          </a:p>
        </p:txBody>
      </p:sp>
      <p:sp>
        <p:nvSpPr>
          <p:cNvPr id="62" name="Text 60"/>
          <p:cNvSpPr/>
          <p:nvPr/>
        </p:nvSpPr>
        <p:spPr>
          <a:xfrm>
            <a:off x="4224528" y="3749040"/>
            <a:ext cx="969264" cy="246888"/>
          </a:xfrm>
          <a:prstGeom prst="rect">
            <a:avLst/>
          </a:prstGeom>
          <a:noFill/>
          <a:ln/>
        </p:spPr>
        <p:txBody>
          <a:bodyPr wrap="square" lIns="0" tIns="0" rIns="0" bIns="0" rtlCol="0" anchor="ctr"/>
          <a:lstStyle/>
          <a:p>
            <a:pPr marL="0" indent="0" algn="ctr">
              <a:buNone/>
            </a:pPr>
            <a:r>
              <a:rPr lang="en-US" sz="850" dirty="0">
                <a:solidFill>
                  <a:srgbClr val="1A3A1A"/>
                </a:solidFill>
              </a:rPr>
              <a:t>~1,952</a:t>
            </a:r>
            <a:endParaRPr lang="en-US" sz="850" dirty="0"/>
          </a:p>
        </p:txBody>
      </p:sp>
      <p:sp>
        <p:nvSpPr>
          <p:cNvPr id="63" name="Shape 61"/>
          <p:cNvSpPr/>
          <p:nvPr/>
        </p:nvSpPr>
        <p:spPr>
          <a:xfrm>
            <a:off x="5230368" y="3749040"/>
            <a:ext cx="1133856" cy="246888"/>
          </a:xfrm>
          <a:prstGeom prst="rect">
            <a:avLst/>
          </a:prstGeom>
          <a:solidFill>
            <a:srgbClr val="EEF4EE"/>
          </a:solidFill>
          <a:ln w="3810">
            <a:solidFill>
              <a:srgbClr val="C8D4C8"/>
            </a:solidFill>
            <a:prstDash val="solid"/>
          </a:ln>
        </p:spPr>
        <p:txBody>
          <a:bodyPr/>
          <a:lstStyle/>
          <a:p>
            <a:endParaRPr lang="en-AU"/>
          </a:p>
        </p:txBody>
      </p:sp>
      <p:sp>
        <p:nvSpPr>
          <p:cNvPr id="64" name="Text 62"/>
          <p:cNvSpPr/>
          <p:nvPr/>
        </p:nvSpPr>
        <p:spPr>
          <a:xfrm>
            <a:off x="5230368" y="3749040"/>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+2.8%</a:t>
            </a:r>
            <a:endParaRPr lang="en-US" sz="850" dirty="0"/>
          </a:p>
        </p:txBody>
      </p:sp>
      <p:sp>
        <p:nvSpPr>
          <p:cNvPr id="65" name="Shape 63"/>
          <p:cNvSpPr/>
          <p:nvPr/>
        </p:nvSpPr>
        <p:spPr>
          <a:xfrm>
            <a:off x="6400800" y="3749040"/>
            <a:ext cx="1133856" cy="246888"/>
          </a:xfrm>
          <a:prstGeom prst="rect">
            <a:avLst/>
          </a:prstGeom>
          <a:solidFill>
            <a:srgbClr val="EEF4EE"/>
          </a:solidFill>
          <a:ln w="3810">
            <a:solidFill>
              <a:srgbClr val="C8D4C8"/>
            </a:solidFill>
            <a:prstDash val="solid"/>
          </a:ln>
        </p:spPr>
        <p:txBody>
          <a:bodyPr/>
          <a:lstStyle/>
          <a:p>
            <a:endParaRPr lang="en-AU"/>
          </a:p>
        </p:txBody>
      </p:sp>
      <p:sp>
        <p:nvSpPr>
          <p:cNvPr id="66" name="Text 64"/>
          <p:cNvSpPr/>
          <p:nvPr/>
        </p:nvSpPr>
        <p:spPr>
          <a:xfrm>
            <a:off x="6400800" y="3749040"/>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-2.6%</a:t>
            </a:r>
            <a:endParaRPr lang="en-US" sz="850" dirty="0"/>
          </a:p>
        </p:txBody>
      </p:sp>
      <p:sp>
        <p:nvSpPr>
          <p:cNvPr id="67" name="Shape 65"/>
          <p:cNvSpPr/>
          <p:nvPr/>
        </p:nvSpPr>
        <p:spPr>
          <a:xfrm>
            <a:off x="7571232" y="3749040"/>
            <a:ext cx="1280160" cy="246888"/>
          </a:xfrm>
          <a:prstGeom prst="rect">
            <a:avLst/>
          </a:prstGeom>
          <a:solidFill>
            <a:srgbClr val="E8A230"/>
          </a:solidFill>
          <a:ln w="3810">
            <a:solidFill>
              <a:srgbClr val="C8D4C8"/>
            </a:solidFill>
            <a:prstDash val="solid"/>
          </a:ln>
        </p:spPr>
        <p:txBody>
          <a:bodyPr/>
          <a:lstStyle/>
          <a:p>
            <a:endParaRPr lang="en-AU"/>
          </a:p>
        </p:txBody>
      </p:sp>
      <p:sp>
        <p:nvSpPr>
          <p:cNvPr id="68" name="Text 66"/>
          <p:cNvSpPr/>
          <p:nvPr/>
        </p:nvSpPr>
        <p:spPr>
          <a:xfrm>
            <a:off x="7571232" y="3749040"/>
            <a:ext cx="1280160" cy="246888"/>
          </a:xfrm>
          <a:prstGeom prst="rect">
            <a:avLst/>
          </a:prstGeom>
          <a:noFill/>
          <a:ln/>
        </p:spPr>
        <p:txBody>
          <a:bodyPr wrap="square" lIns="0" tIns="0" rIns="0" bIns="0" rtlCol="0" anchor="ctr"/>
          <a:lstStyle/>
          <a:p>
            <a:pPr marL="0" indent="0" algn="ctr">
              <a:buNone/>
            </a:pPr>
            <a:r>
              <a:rPr lang="en-US" sz="850" b="1" dirty="0">
                <a:solidFill>
                  <a:srgbClr val="FFFFFF"/>
                </a:solidFill>
              </a:rPr>
              <a:t>Medium</a:t>
            </a:r>
            <a:endParaRPr lang="en-US" sz="850" dirty="0"/>
          </a:p>
        </p:txBody>
      </p:sp>
      <p:sp>
        <p:nvSpPr>
          <p:cNvPr id="69" name="Shape 67"/>
          <p:cNvSpPr/>
          <p:nvPr/>
        </p:nvSpPr>
        <p:spPr>
          <a:xfrm>
            <a:off x="3182112" y="4005072"/>
            <a:ext cx="1005840" cy="246888"/>
          </a:xfrm>
          <a:prstGeom prst="rect">
            <a:avLst/>
          </a:prstGeom>
          <a:solidFill>
            <a:srgbClr val="FFFFFF"/>
          </a:solidFill>
          <a:ln w="3810">
            <a:solidFill>
              <a:srgbClr val="C8D4C8"/>
            </a:solidFill>
            <a:prstDash val="solid"/>
          </a:ln>
        </p:spPr>
        <p:txBody>
          <a:bodyPr/>
          <a:lstStyle/>
          <a:p>
            <a:endParaRPr lang="en-AU"/>
          </a:p>
        </p:txBody>
      </p:sp>
      <p:sp>
        <p:nvSpPr>
          <p:cNvPr id="70" name="Text 68"/>
          <p:cNvSpPr/>
          <p:nvPr/>
        </p:nvSpPr>
        <p:spPr>
          <a:xfrm>
            <a:off x="3182112" y="4005072"/>
            <a:ext cx="1005840" cy="246888"/>
          </a:xfrm>
          <a:prstGeom prst="rect">
            <a:avLst/>
          </a:prstGeom>
          <a:noFill/>
          <a:ln/>
        </p:spPr>
        <p:txBody>
          <a:bodyPr wrap="square" lIns="0" tIns="0" rIns="0" bIns="0" rtlCol="0" anchor="ctr"/>
          <a:lstStyle/>
          <a:p>
            <a:pPr marL="0" indent="0" algn="ctr">
              <a:buNone/>
            </a:pPr>
            <a:r>
              <a:rPr lang="en-US" sz="850" b="1" dirty="0">
                <a:solidFill>
                  <a:srgbClr val="1A4A24"/>
                </a:solidFill>
              </a:rPr>
              <a:t>2026/27</a:t>
            </a:r>
            <a:endParaRPr lang="en-US" sz="850" dirty="0"/>
          </a:p>
        </p:txBody>
      </p:sp>
      <p:sp>
        <p:nvSpPr>
          <p:cNvPr id="71" name="Shape 69"/>
          <p:cNvSpPr/>
          <p:nvPr/>
        </p:nvSpPr>
        <p:spPr>
          <a:xfrm>
            <a:off x="4224528" y="4005072"/>
            <a:ext cx="969264" cy="246888"/>
          </a:xfrm>
          <a:prstGeom prst="rect">
            <a:avLst/>
          </a:prstGeom>
          <a:solidFill>
            <a:srgbClr val="FFFFFF"/>
          </a:solidFill>
          <a:ln w="3810">
            <a:solidFill>
              <a:srgbClr val="C8D4C8"/>
            </a:solidFill>
            <a:prstDash val="solid"/>
          </a:ln>
        </p:spPr>
        <p:txBody>
          <a:bodyPr/>
          <a:lstStyle/>
          <a:p>
            <a:endParaRPr lang="en-AU"/>
          </a:p>
        </p:txBody>
      </p:sp>
      <p:sp>
        <p:nvSpPr>
          <p:cNvPr id="72" name="Text 70"/>
          <p:cNvSpPr/>
          <p:nvPr/>
        </p:nvSpPr>
        <p:spPr>
          <a:xfrm>
            <a:off x="4224528" y="4005072"/>
            <a:ext cx="969264" cy="246888"/>
          </a:xfrm>
          <a:prstGeom prst="rect">
            <a:avLst/>
          </a:prstGeom>
          <a:noFill/>
          <a:ln/>
        </p:spPr>
        <p:txBody>
          <a:bodyPr wrap="square" lIns="0" tIns="0" rIns="0" bIns="0" rtlCol="0" anchor="ctr"/>
          <a:lstStyle/>
          <a:p>
            <a:pPr marL="0" indent="0" algn="ctr">
              <a:buNone/>
            </a:pPr>
            <a:r>
              <a:rPr lang="en-US" sz="850" dirty="0">
                <a:solidFill>
                  <a:srgbClr val="1A3A1A"/>
                </a:solidFill>
              </a:rPr>
              <a:t>~1,820</a:t>
            </a:r>
            <a:endParaRPr lang="en-US" sz="850" dirty="0"/>
          </a:p>
        </p:txBody>
      </p:sp>
      <p:sp>
        <p:nvSpPr>
          <p:cNvPr id="73" name="Shape 71"/>
          <p:cNvSpPr/>
          <p:nvPr/>
        </p:nvSpPr>
        <p:spPr>
          <a:xfrm>
            <a:off x="5230368" y="4005072"/>
            <a:ext cx="1133856" cy="246888"/>
          </a:xfrm>
          <a:prstGeom prst="rect">
            <a:avLst/>
          </a:prstGeom>
          <a:solidFill>
            <a:srgbClr val="FFFFFF"/>
          </a:solidFill>
          <a:ln w="3810">
            <a:solidFill>
              <a:srgbClr val="C8D4C8"/>
            </a:solidFill>
            <a:prstDash val="solid"/>
          </a:ln>
        </p:spPr>
        <p:txBody>
          <a:bodyPr/>
          <a:lstStyle/>
          <a:p>
            <a:endParaRPr lang="en-AU"/>
          </a:p>
        </p:txBody>
      </p:sp>
      <p:sp>
        <p:nvSpPr>
          <p:cNvPr id="74" name="Text 72"/>
          <p:cNvSpPr/>
          <p:nvPr/>
        </p:nvSpPr>
        <p:spPr>
          <a:xfrm>
            <a:off x="5230368" y="4005072"/>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-4.1%</a:t>
            </a:r>
            <a:endParaRPr lang="en-US" sz="850" dirty="0"/>
          </a:p>
        </p:txBody>
      </p:sp>
      <p:sp>
        <p:nvSpPr>
          <p:cNvPr id="75" name="Shape 73"/>
          <p:cNvSpPr/>
          <p:nvPr/>
        </p:nvSpPr>
        <p:spPr>
          <a:xfrm>
            <a:off x="6400800" y="4005072"/>
            <a:ext cx="1133856" cy="246888"/>
          </a:xfrm>
          <a:prstGeom prst="rect">
            <a:avLst/>
          </a:prstGeom>
          <a:solidFill>
            <a:srgbClr val="FFFFFF"/>
          </a:solidFill>
          <a:ln w="3810">
            <a:solidFill>
              <a:srgbClr val="C8D4C8"/>
            </a:solidFill>
            <a:prstDash val="solid"/>
          </a:ln>
        </p:spPr>
        <p:txBody>
          <a:bodyPr/>
          <a:lstStyle/>
          <a:p>
            <a:endParaRPr lang="en-AU"/>
          </a:p>
        </p:txBody>
      </p:sp>
      <p:sp>
        <p:nvSpPr>
          <p:cNvPr id="76" name="Text 74"/>
          <p:cNvSpPr/>
          <p:nvPr/>
        </p:nvSpPr>
        <p:spPr>
          <a:xfrm>
            <a:off x="6400800" y="4005072"/>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+3.8%</a:t>
            </a:r>
            <a:endParaRPr lang="en-US" sz="850" dirty="0"/>
          </a:p>
        </p:txBody>
      </p:sp>
      <p:sp>
        <p:nvSpPr>
          <p:cNvPr id="77" name="Shape 75"/>
          <p:cNvSpPr/>
          <p:nvPr/>
        </p:nvSpPr>
        <p:spPr>
          <a:xfrm>
            <a:off x="7571232" y="4005072"/>
            <a:ext cx="1280160" cy="246888"/>
          </a:xfrm>
          <a:prstGeom prst="rect">
            <a:avLst/>
          </a:prstGeom>
          <a:solidFill>
            <a:srgbClr val="2D8A4E"/>
          </a:solidFill>
          <a:ln w="3810">
            <a:solidFill>
              <a:srgbClr val="C8D4C8"/>
            </a:solidFill>
            <a:prstDash val="solid"/>
          </a:ln>
        </p:spPr>
        <p:txBody>
          <a:bodyPr/>
          <a:lstStyle/>
          <a:p>
            <a:endParaRPr lang="en-AU"/>
          </a:p>
        </p:txBody>
      </p:sp>
      <p:sp>
        <p:nvSpPr>
          <p:cNvPr id="78" name="Text 76"/>
          <p:cNvSpPr/>
          <p:nvPr/>
        </p:nvSpPr>
        <p:spPr>
          <a:xfrm>
            <a:off x="7571232" y="4005072"/>
            <a:ext cx="1280160" cy="246888"/>
          </a:xfrm>
          <a:prstGeom prst="rect">
            <a:avLst/>
          </a:prstGeom>
          <a:noFill/>
          <a:ln/>
        </p:spPr>
        <p:txBody>
          <a:bodyPr wrap="square" lIns="0" tIns="0" rIns="0" bIns="0" rtlCol="0" anchor="ctr"/>
          <a:lstStyle/>
          <a:p>
            <a:pPr marL="0" indent="0" algn="ctr">
              <a:buNone/>
            </a:pPr>
            <a:r>
              <a:rPr lang="en-US" sz="850" b="1" dirty="0">
                <a:solidFill>
                  <a:srgbClr val="FFFFFF"/>
                </a:solidFill>
              </a:rPr>
              <a:t>Low</a:t>
            </a:r>
            <a:endParaRPr lang="en-US" sz="850" dirty="0"/>
          </a:p>
        </p:txBody>
      </p:sp>
      <p:sp>
        <p:nvSpPr>
          <p:cNvPr id="79" name="Shape 77"/>
          <p:cNvSpPr/>
          <p:nvPr/>
        </p:nvSpPr>
        <p:spPr>
          <a:xfrm>
            <a:off x="3182112" y="4261104"/>
            <a:ext cx="1005840" cy="246888"/>
          </a:xfrm>
          <a:prstGeom prst="rect">
            <a:avLst/>
          </a:prstGeom>
          <a:solidFill>
            <a:srgbClr val="EEF4EE"/>
          </a:solidFill>
          <a:ln w="3810">
            <a:solidFill>
              <a:srgbClr val="C8D4C8"/>
            </a:solidFill>
            <a:prstDash val="solid"/>
          </a:ln>
        </p:spPr>
        <p:txBody>
          <a:bodyPr/>
          <a:lstStyle/>
          <a:p>
            <a:endParaRPr lang="en-AU"/>
          </a:p>
        </p:txBody>
      </p:sp>
      <p:sp>
        <p:nvSpPr>
          <p:cNvPr id="80" name="Text 78"/>
          <p:cNvSpPr/>
          <p:nvPr/>
        </p:nvSpPr>
        <p:spPr>
          <a:xfrm>
            <a:off x="3182112" y="4261104"/>
            <a:ext cx="1005840" cy="246888"/>
          </a:xfrm>
          <a:prstGeom prst="rect">
            <a:avLst/>
          </a:prstGeom>
          <a:noFill/>
          <a:ln/>
        </p:spPr>
        <p:txBody>
          <a:bodyPr wrap="square" lIns="0" tIns="0" rIns="0" bIns="0" rtlCol="0" anchor="ctr"/>
          <a:lstStyle/>
          <a:p>
            <a:pPr marL="0" indent="0" algn="ctr">
              <a:buNone/>
            </a:pPr>
            <a:r>
              <a:rPr lang="en-US" sz="850" b="1" dirty="0">
                <a:solidFill>
                  <a:srgbClr val="1A4A24"/>
                </a:solidFill>
              </a:rPr>
              <a:t>2027/28</a:t>
            </a:r>
            <a:endParaRPr lang="en-US" sz="850" dirty="0"/>
          </a:p>
        </p:txBody>
      </p:sp>
      <p:sp>
        <p:nvSpPr>
          <p:cNvPr id="81" name="Shape 79"/>
          <p:cNvSpPr/>
          <p:nvPr/>
        </p:nvSpPr>
        <p:spPr>
          <a:xfrm>
            <a:off x="4224528" y="4261104"/>
            <a:ext cx="969264" cy="246888"/>
          </a:xfrm>
          <a:prstGeom prst="rect">
            <a:avLst/>
          </a:prstGeom>
          <a:solidFill>
            <a:srgbClr val="EEF4EE"/>
          </a:solidFill>
          <a:ln w="3810">
            <a:solidFill>
              <a:srgbClr val="C8D4C8"/>
            </a:solidFill>
            <a:prstDash val="solid"/>
          </a:ln>
        </p:spPr>
        <p:txBody>
          <a:bodyPr/>
          <a:lstStyle/>
          <a:p>
            <a:endParaRPr lang="en-AU"/>
          </a:p>
        </p:txBody>
      </p:sp>
      <p:sp>
        <p:nvSpPr>
          <p:cNvPr id="82" name="Text 80"/>
          <p:cNvSpPr/>
          <p:nvPr/>
        </p:nvSpPr>
        <p:spPr>
          <a:xfrm>
            <a:off x="4224528" y="4261104"/>
            <a:ext cx="969264" cy="246888"/>
          </a:xfrm>
          <a:prstGeom prst="rect">
            <a:avLst/>
          </a:prstGeom>
          <a:noFill/>
          <a:ln/>
        </p:spPr>
        <p:txBody>
          <a:bodyPr wrap="square" lIns="0" tIns="0" rIns="0" bIns="0" rtlCol="0" anchor="ctr"/>
          <a:lstStyle/>
          <a:p>
            <a:pPr marL="0" indent="0" algn="ctr">
              <a:buNone/>
            </a:pPr>
            <a:r>
              <a:rPr lang="en-US" sz="850" dirty="0">
                <a:solidFill>
                  <a:srgbClr val="1A3A1A"/>
                </a:solidFill>
              </a:rPr>
              <a:t>~1,680</a:t>
            </a:r>
            <a:endParaRPr lang="en-US" sz="850" dirty="0"/>
          </a:p>
        </p:txBody>
      </p:sp>
      <p:sp>
        <p:nvSpPr>
          <p:cNvPr id="83" name="Shape 81"/>
          <p:cNvSpPr/>
          <p:nvPr/>
        </p:nvSpPr>
        <p:spPr>
          <a:xfrm>
            <a:off x="5230368" y="4261104"/>
            <a:ext cx="1133856" cy="246888"/>
          </a:xfrm>
          <a:prstGeom prst="rect">
            <a:avLst/>
          </a:prstGeom>
          <a:solidFill>
            <a:srgbClr val="EEF4EE"/>
          </a:solidFill>
          <a:ln w="3810">
            <a:solidFill>
              <a:srgbClr val="C8D4C8"/>
            </a:solidFill>
            <a:prstDash val="solid"/>
          </a:ln>
        </p:spPr>
        <p:txBody>
          <a:bodyPr/>
          <a:lstStyle/>
          <a:p>
            <a:endParaRPr lang="en-AU"/>
          </a:p>
        </p:txBody>
      </p:sp>
      <p:sp>
        <p:nvSpPr>
          <p:cNvPr id="84" name="Text 82"/>
          <p:cNvSpPr/>
          <p:nvPr/>
        </p:nvSpPr>
        <p:spPr>
          <a:xfrm>
            <a:off x="5230368" y="4261104"/>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-11.5%</a:t>
            </a:r>
            <a:endParaRPr lang="en-US" sz="850" dirty="0"/>
          </a:p>
        </p:txBody>
      </p:sp>
      <p:sp>
        <p:nvSpPr>
          <p:cNvPr id="85" name="Shape 83"/>
          <p:cNvSpPr/>
          <p:nvPr/>
        </p:nvSpPr>
        <p:spPr>
          <a:xfrm>
            <a:off x="6400800" y="4261104"/>
            <a:ext cx="1133856" cy="246888"/>
          </a:xfrm>
          <a:prstGeom prst="rect">
            <a:avLst/>
          </a:prstGeom>
          <a:solidFill>
            <a:srgbClr val="EEF4EE"/>
          </a:solidFill>
          <a:ln w="3810">
            <a:solidFill>
              <a:srgbClr val="C8D4C8"/>
            </a:solidFill>
            <a:prstDash val="solid"/>
          </a:ln>
        </p:spPr>
        <p:txBody>
          <a:bodyPr/>
          <a:lstStyle/>
          <a:p>
            <a:endParaRPr lang="en-AU"/>
          </a:p>
        </p:txBody>
      </p:sp>
      <p:sp>
        <p:nvSpPr>
          <p:cNvPr id="86" name="Text 84"/>
          <p:cNvSpPr/>
          <p:nvPr/>
        </p:nvSpPr>
        <p:spPr>
          <a:xfrm>
            <a:off x="6400800" y="4261104"/>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+10.7%</a:t>
            </a:r>
            <a:endParaRPr lang="en-US" sz="850" dirty="0"/>
          </a:p>
        </p:txBody>
      </p:sp>
      <p:sp>
        <p:nvSpPr>
          <p:cNvPr id="87" name="Shape 85"/>
          <p:cNvSpPr/>
          <p:nvPr/>
        </p:nvSpPr>
        <p:spPr>
          <a:xfrm>
            <a:off x="7571232" y="4261104"/>
            <a:ext cx="1280160" cy="246888"/>
          </a:xfrm>
          <a:prstGeom prst="rect">
            <a:avLst/>
          </a:prstGeom>
          <a:solidFill>
            <a:srgbClr val="2D8A4E"/>
          </a:solidFill>
          <a:ln w="3810">
            <a:solidFill>
              <a:srgbClr val="C8D4C8"/>
            </a:solidFill>
            <a:prstDash val="solid"/>
          </a:ln>
        </p:spPr>
        <p:txBody>
          <a:bodyPr/>
          <a:lstStyle/>
          <a:p>
            <a:endParaRPr lang="en-AU"/>
          </a:p>
        </p:txBody>
      </p:sp>
      <p:sp>
        <p:nvSpPr>
          <p:cNvPr id="88" name="Text 86"/>
          <p:cNvSpPr/>
          <p:nvPr/>
        </p:nvSpPr>
        <p:spPr>
          <a:xfrm>
            <a:off x="7571232" y="4261104"/>
            <a:ext cx="1280160" cy="246888"/>
          </a:xfrm>
          <a:prstGeom prst="rect">
            <a:avLst/>
          </a:prstGeom>
          <a:noFill/>
          <a:ln/>
        </p:spPr>
        <p:txBody>
          <a:bodyPr wrap="square" lIns="0" tIns="0" rIns="0" bIns="0" rtlCol="0" anchor="ctr"/>
          <a:lstStyle/>
          <a:p>
            <a:pPr marL="0" indent="0" algn="ctr">
              <a:buNone/>
            </a:pPr>
            <a:r>
              <a:rPr lang="en-US" sz="850" b="1" dirty="0">
                <a:solidFill>
                  <a:srgbClr val="FFFFFF"/>
                </a:solidFill>
              </a:rPr>
              <a:t>Low</a:t>
            </a:r>
            <a:endParaRPr lang="en-US" sz="850" dirty="0"/>
          </a:p>
        </p:txBody>
      </p:sp>
      <p:sp>
        <p:nvSpPr>
          <p:cNvPr id="89" name="Shape 87"/>
          <p:cNvSpPr/>
          <p:nvPr/>
        </p:nvSpPr>
        <p:spPr>
          <a:xfrm>
            <a:off x="3182112" y="4517136"/>
            <a:ext cx="1005840" cy="246888"/>
          </a:xfrm>
          <a:prstGeom prst="rect">
            <a:avLst/>
          </a:prstGeom>
          <a:solidFill>
            <a:srgbClr val="FFFFFF"/>
          </a:solidFill>
          <a:ln w="3810">
            <a:solidFill>
              <a:srgbClr val="C8D4C8"/>
            </a:solidFill>
            <a:prstDash val="solid"/>
          </a:ln>
        </p:spPr>
        <p:txBody>
          <a:bodyPr/>
          <a:lstStyle/>
          <a:p>
            <a:endParaRPr lang="en-AU"/>
          </a:p>
        </p:txBody>
      </p:sp>
      <p:sp>
        <p:nvSpPr>
          <p:cNvPr id="90" name="Text 88"/>
          <p:cNvSpPr/>
          <p:nvPr/>
        </p:nvSpPr>
        <p:spPr>
          <a:xfrm>
            <a:off x="3182112" y="4517136"/>
            <a:ext cx="1005840" cy="246888"/>
          </a:xfrm>
          <a:prstGeom prst="rect">
            <a:avLst/>
          </a:prstGeom>
          <a:noFill/>
          <a:ln/>
        </p:spPr>
        <p:txBody>
          <a:bodyPr wrap="square" lIns="0" tIns="0" rIns="0" bIns="0" rtlCol="0" anchor="ctr"/>
          <a:lstStyle/>
          <a:p>
            <a:pPr marL="0" indent="0" algn="ctr">
              <a:buNone/>
            </a:pPr>
            <a:r>
              <a:rPr lang="en-US" sz="850" b="1" dirty="0">
                <a:solidFill>
                  <a:srgbClr val="1A4A24"/>
                </a:solidFill>
              </a:rPr>
              <a:t>2028/29</a:t>
            </a:r>
            <a:endParaRPr lang="en-US" sz="850" dirty="0"/>
          </a:p>
        </p:txBody>
      </p:sp>
      <p:sp>
        <p:nvSpPr>
          <p:cNvPr id="91" name="Shape 89"/>
          <p:cNvSpPr/>
          <p:nvPr/>
        </p:nvSpPr>
        <p:spPr>
          <a:xfrm>
            <a:off x="4224528" y="4517136"/>
            <a:ext cx="969264" cy="246888"/>
          </a:xfrm>
          <a:prstGeom prst="rect">
            <a:avLst/>
          </a:prstGeom>
          <a:solidFill>
            <a:srgbClr val="FFFFFF"/>
          </a:solidFill>
          <a:ln w="3810">
            <a:solidFill>
              <a:srgbClr val="C8D4C8"/>
            </a:solidFill>
            <a:prstDash val="solid"/>
          </a:ln>
        </p:spPr>
        <p:txBody>
          <a:bodyPr/>
          <a:lstStyle/>
          <a:p>
            <a:endParaRPr lang="en-AU"/>
          </a:p>
        </p:txBody>
      </p:sp>
      <p:sp>
        <p:nvSpPr>
          <p:cNvPr id="92" name="Text 90"/>
          <p:cNvSpPr/>
          <p:nvPr/>
        </p:nvSpPr>
        <p:spPr>
          <a:xfrm>
            <a:off x="4224528" y="4517136"/>
            <a:ext cx="969264" cy="246888"/>
          </a:xfrm>
          <a:prstGeom prst="rect">
            <a:avLst/>
          </a:prstGeom>
          <a:noFill/>
          <a:ln/>
        </p:spPr>
        <p:txBody>
          <a:bodyPr wrap="square" lIns="0" tIns="0" rIns="0" bIns="0" rtlCol="0" anchor="ctr"/>
          <a:lstStyle/>
          <a:p>
            <a:pPr marL="0" indent="0" algn="ctr">
              <a:buNone/>
            </a:pPr>
            <a:r>
              <a:rPr lang="en-US" sz="850" dirty="0">
                <a:solidFill>
                  <a:srgbClr val="1A3A1A"/>
                </a:solidFill>
              </a:rPr>
              <a:t>~1,580</a:t>
            </a:r>
            <a:endParaRPr lang="en-US" sz="850" dirty="0"/>
          </a:p>
        </p:txBody>
      </p:sp>
      <p:sp>
        <p:nvSpPr>
          <p:cNvPr id="93" name="Shape 91"/>
          <p:cNvSpPr/>
          <p:nvPr/>
        </p:nvSpPr>
        <p:spPr>
          <a:xfrm>
            <a:off x="5230368" y="4517136"/>
            <a:ext cx="1133856" cy="246888"/>
          </a:xfrm>
          <a:prstGeom prst="rect">
            <a:avLst/>
          </a:prstGeom>
          <a:solidFill>
            <a:srgbClr val="FFFFFF"/>
          </a:solidFill>
          <a:ln w="3810">
            <a:solidFill>
              <a:srgbClr val="C8D4C8"/>
            </a:solidFill>
            <a:prstDash val="solid"/>
          </a:ln>
        </p:spPr>
        <p:txBody>
          <a:bodyPr/>
          <a:lstStyle/>
          <a:p>
            <a:endParaRPr lang="en-AU"/>
          </a:p>
        </p:txBody>
      </p:sp>
      <p:sp>
        <p:nvSpPr>
          <p:cNvPr id="94" name="Text 92"/>
          <p:cNvSpPr/>
          <p:nvPr/>
        </p:nvSpPr>
        <p:spPr>
          <a:xfrm>
            <a:off x="5230368" y="4517136"/>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-16.8%</a:t>
            </a:r>
            <a:endParaRPr lang="en-US" sz="850" dirty="0"/>
          </a:p>
        </p:txBody>
      </p:sp>
      <p:sp>
        <p:nvSpPr>
          <p:cNvPr id="95" name="Shape 93"/>
          <p:cNvSpPr/>
          <p:nvPr/>
        </p:nvSpPr>
        <p:spPr>
          <a:xfrm>
            <a:off x="6400800" y="4517136"/>
            <a:ext cx="1133856" cy="246888"/>
          </a:xfrm>
          <a:prstGeom prst="rect">
            <a:avLst/>
          </a:prstGeom>
          <a:solidFill>
            <a:srgbClr val="FFFFFF"/>
          </a:solidFill>
          <a:ln w="3810">
            <a:solidFill>
              <a:srgbClr val="C8D4C8"/>
            </a:solidFill>
            <a:prstDash val="solid"/>
          </a:ln>
        </p:spPr>
        <p:txBody>
          <a:bodyPr/>
          <a:lstStyle/>
          <a:p>
            <a:endParaRPr lang="en-AU"/>
          </a:p>
        </p:txBody>
      </p:sp>
      <p:sp>
        <p:nvSpPr>
          <p:cNvPr id="96" name="Text 94"/>
          <p:cNvSpPr/>
          <p:nvPr/>
        </p:nvSpPr>
        <p:spPr>
          <a:xfrm>
            <a:off x="6400800" y="4517136"/>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+15.6%</a:t>
            </a:r>
            <a:endParaRPr lang="en-US" sz="850" dirty="0"/>
          </a:p>
        </p:txBody>
      </p:sp>
      <p:sp>
        <p:nvSpPr>
          <p:cNvPr id="97" name="Shape 95"/>
          <p:cNvSpPr/>
          <p:nvPr/>
        </p:nvSpPr>
        <p:spPr>
          <a:xfrm>
            <a:off x="7571232" y="4517136"/>
            <a:ext cx="1280160" cy="246888"/>
          </a:xfrm>
          <a:prstGeom prst="rect">
            <a:avLst/>
          </a:prstGeom>
          <a:solidFill>
            <a:srgbClr val="2D8A4E"/>
          </a:solidFill>
          <a:ln w="3810">
            <a:solidFill>
              <a:srgbClr val="C8D4C8"/>
            </a:solidFill>
            <a:prstDash val="solid"/>
          </a:ln>
        </p:spPr>
        <p:txBody>
          <a:bodyPr/>
          <a:lstStyle/>
          <a:p>
            <a:endParaRPr lang="en-AU"/>
          </a:p>
        </p:txBody>
      </p:sp>
      <p:sp>
        <p:nvSpPr>
          <p:cNvPr id="98" name="Text 96"/>
          <p:cNvSpPr/>
          <p:nvPr/>
        </p:nvSpPr>
        <p:spPr>
          <a:xfrm>
            <a:off x="7571232" y="4517136"/>
            <a:ext cx="1280160" cy="246888"/>
          </a:xfrm>
          <a:prstGeom prst="rect">
            <a:avLst/>
          </a:prstGeom>
          <a:noFill/>
          <a:ln/>
        </p:spPr>
        <p:txBody>
          <a:bodyPr wrap="square" lIns="0" tIns="0" rIns="0" bIns="0" rtlCol="0" anchor="ctr"/>
          <a:lstStyle/>
          <a:p>
            <a:pPr marL="0" indent="0" algn="ctr">
              <a:buNone/>
            </a:pPr>
            <a:r>
              <a:rPr lang="en-US" sz="850" b="1" dirty="0">
                <a:solidFill>
                  <a:srgbClr val="FFFFFF"/>
                </a:solidFill>
              </a:rPr>
              <a:t>Low</a:t>
            </a:r>
            <a:endParaRPr lang="en-US" sz="850" dirty="0"/>
          </a:p>
        </p:txBody>
      </p:sp>
      <p:sp>
        <p:nvSpPr>
          <p:cNvPr id="99" name="Shape 97"/>
          <p:cNvSpPr/>
          <p:nvPr/>
        </p:nvSpPr>
        <p:spPr>
          <a:xfrm>
            <a:off x="3182112" y="4773168"/>
            <a:ext cx="1005840" cy="246888"/>
          </a:xfrm>
          <a:prstGeom prst="rect">
            <a:avLst/>
          </a:prstGeom>
          <a:solidFill>
            <a:srgbClr val="EEF4EE"/>
          </a:solidFill>
          <a:ln w="3810">
            <a:solidFill>
              <a:srgbClr val="C8D4C8"/>
            </a:solidFill>
            <a:prstDash val="solid"/>
          </a:ln>
        </p:spPr>
        <p:txBody>
          <a:bodyPr/>
          <a:lstStyle/>
          <a:p>
            <a:endParaRPr lang="en-AU"/>
          </a:p>
        </p:txBody>
      </p:sp>
      <p:sp>
        <p:nvSpPr>
          <p:cNvPr id="100" name="Text 98"/>
          <p:cNvSpPr/>
          <p:nvPr/>
        </p:nvSpPr>
        <p:spPr>
          <a:xfrm>
            <a:off x="3182112" y="4773168"/>
            <a:ext cx="1005840" cy="246888"/>
          </a:xfrm>
          <a:prstGeom prst="rect">
            <a:avLst/>
          </a:prstGeom>
          <a:noFill/>
          <a:ln/>
        </p:spPr>
        <p:txBody>
          <a:bodyPr wrap="square" lIns="0" tIns="0" rIns="0" bIns="0" rtlCol="0" anchor="ctr"/>
          <a:lstStyle/>
          <a:p>
            <a:pPr marL="0" indent="0" algn="ctr">
              <a:buNone/>
            </a:pPr>
            <a:r>
              <a:rPr lang="en-US" sz="850" b="1" dirty="0">
                <a:solidFill>
                  <a:srgbClr val="1A4A24"/>
                </a:solidFill>
              </a:rPr>
              <a:t>2029/30</a:t>
            </a:r>
            <a:endParaRPr lang="en-US" sz="850" dirty="0"/>
          </a:p>
        </p:txBody>
      </p:sp>
      <p:sp>
        <p:nvSpPr>
          <p:cNvPr id="101" name="Shape 99"/>
          <p:cNvSpPr/>
          <p:nvPr/>
        </p:nvSpPr>
        <p:spPr>
          <a:xfrm>
            <a:off x="4224528" y="4773168"/>
            <a:ext cx="969264" cy="246888"/>
          </a:xfrm>
          <a:prstGeom prst="rect">
            <a:avLst/>
          </a:prstGeom>
          <a:solidFill>
            <a:srgbClr val="EEF4EE"/>
          </a:solidFill>
          <a:ln w="3810">
            <a:solidFill>
              <a:srgbClr val="C8D4C8"/>
            </a:solidFill>
            <a:prstDash val="solid"/>
          </a:ln>
        </p:spPr>
        <p:txBody>
          <a:bodyPr/>
          <a:lstStyle/>
          <a:p>
            <a:endParaRPr lang="en-AU"/>
          </a:p>
        </p:txBody>
      </p:sp>
      <p:sp>
        <p:nvSpPr>
          <p:cNvPr id="102" name="Text 100"/>
          <p:cNvSpPr/>
          <p:nvPr/>
        </p:nvSpPr>
        <p:spPr>
          <a:xfrm>
            <a:off x="4224528" y="4773168"/>
            <a:ext cx="969264" cy="246888"/>
          </a:xfrm>
          <a:prstGeom prst="rect">
            <a:avLst/>
          </a:prstGeom>
          <a:noFill/>
          <a:ln/>
        </p:spPr>
        <p:txBody>
          <a:bodyPr wrap="square" lIns="0" tIns="0" rIns="0" bIns="0" rtlCol="0" anchor="ctr"/>
          <a:lstStyle/>
          <a:p>
            <a:pPr marL="0" indent="0" algn="ctr">
              <a:buNone/>
            </a:pPr>
            <a:r>
              <a:rPr lang="en-US" sz="850" dirty="0">
                <a:solidFill>
                  <a:srgbClr val="1A3A1A"/>
                </a:solidFill>
              </a:rPr>
              <a:t>~1,490</a:t>
            </a:r>
            <a:endParaRPr lang="en-US" sz="850" dirty="0"/>
          </a:p>
        </p:txBody>
      </p:sp>
      <p:sp>
        <p:nvSpPr>
          <p:cNvPr id="103" name="Shape 101"/>
          <p:cNvSpPr/>
          <p:nvPr/>
        </p:nvSpPr>
        <p:spPr>
          <a:xfrm>
            <a:off x="5230368" y="4773168"/>
            <a:ext cx="1133856" cy="246888"/>
          </a:xfrm>
          <a:prstGeom prst="rect">
            <a:avLst/>
          </a:prstGeom>
          <a:solidFill>
            <a:srgbClr val="EEF4EE"/>
          </a:solidFill>
          <a:ln w="3810">
            <a:solidFill>
              <a:srgbClr val="C8D4C8"/>
            </a:solidFill>
            <a:prstDash val="solid"/>
          </a:ln>
        </p:spPr>
        <p:txBody>
          <a:bodyPr/>
          <a:lstStyle/>
          <a:p>
            <a:endParaRPr lang="en-AU"/>
          </a:p>
        </p:txBody>
      </p:sp>
      <p:sp>
        <p:nvSpPr>
          <p:cNvPr id="104" name="Text 102"/>
          <p:cNvSpPr/>
          <p:nvPr/>
        </p:nvSpPr>
        <p:spPr>
          <a:xfrm>
            <a:off x="5230368" y="4773168"/>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-21.5%</a:t>
            </a:r>
            <a:endParaRPr lang="en-US" sz="850" dirty="0"/>
          </a:p>
        </p:txBody>
      </p:sp>
      <p:sp>
        <p:nvSpPr>
          <p:cNvPr id="105" name="Shape 103"/>
          <p:cNvSpPr/>
          <p:nvPr/>
        </p:nvSpPr>
        <p:spPr>
          <a:xfrm>
            <a:off x="6400800" y="4773168"/>
            <a:ext cx="1133856" cy="246888"/>
          </a:xfrm>
          <a:prstGeom prst="rect">
            <a:avLst/>
          </a:prstGeom>
          <a:solidFill>
            <a:srgbClr val="EEF4EE"/>
          </a:solidFill>
          <a:ln w="3810">
            <a:solidFill>
              <a:srgbClr val="C8D4C8"/>
            </a:solidFill>
            <a:prstDash val="solid"/>
          </a:ln>
        </p:spPr>
        <p:txBody>
          <a:bodyPr/>
          <a:lstStyle/>
          <a:p>
            <a:endParaRPr lang="en-AU"/>
          </a:p>
        </p:txBody>
      </p:sp>
      <p:sp>
        <p:nvSpPr>
          <p:cNvPr id="106" name="Text 104"/>
          <p:cNvSpPr/>
          <p:nvPr/>
        </p:nvSpPr>
        <p:spPr>
          <a:xfrm>
            <a:off x="6400800" y="4773168"/>
            <a:ext cx="1133856" cy="246888"/>
          </a:xfrm>
          <a:prstGeom prst="rect">
            <a:avLst/>
          </a:prstGeom>
          <a:noFill/>
          <a:ln/>
        </p:spPr>
        <p:txBody>
          <a:bodyPr wrap="square" lIns="0" tIns="0" rIns="0" bIns="0" rtlCol="0" anchor="ctr"/>
          <a:lstStyle/>
          <a:p>
            <a:pPr marL="0" indent="0" algn="ctr">
              <a:buNone/>
            </a:pPr>
            <a:r>
              <a:rPr lang="en-US" sz="850" dirty="0">
                <a:solidFill>
                  <a:srgbClr val="1A3A1A"/>
                </a:solidFill>
              </a:rPr>
              <a:t>+20.0%</a:t>
            </a:r>
            <a:endParaRPr lang="en-US" sz="850" dirty="0"/>
          </a:p>
        </p:txBody>
      </p:sp>
      <p:sp>
        <p:nvSpPr>
          <p:cNvPr id="107" name="Shape 105"/>
          <p:cNvSpPr/>
          <p:nvPr/>
        </p:nvSpPr>
        <p:spPr>
          <a:xfrm>
            <a:off x="7571232" y="4773168"/>
            <a:ext cx="1280160" cy="246888"/>
          </a:xfrm>
          <a:prstGeom prst="rect">
            <a:avLst/>
          </a:prstGeom>
          <a:solidFill>
            <a:srgbClr val="2D8A4E"/>
          </a:solidFill>
          <a:ln w="3810">
            <a:solidFill>
              <a:srgbClr val="C8D4C8"/>
            </a:solidFill>
            <a:prstDash val="solid"/>
          </a:ln>
        </p:spPr>
        <p:txBody>
          <a:bodyPr/>
          <a:lstStyle/>
          <a:p>
            <a:endParaRPr lang="en-AU"/>
          </a:p>
        </p:txBody>
      </p:sp>
      <p:sp>
        <p:nvSpPr>
          <p:cNvPr id="108" name="Text 106"/>
          <p:cNvSpPr/>
          <p:nvPr/>
        </p:nvSpPr>
        <p:spPr>
          <a:xfrm>
            <a:off x="7571232" y="4773168"/>
            <a:ext cx="1280160" cy="246888"/>
          </a:xfrm>
          <a:prstGeom prst="rect">
            <a:avLst/>
          </a:prstGeom>
          <a:noFill/>
          <a:ln/>
        </p:spPr>
        <p:txBody>
          <a:bodyPr wrap="square" lIns="0" tIns="0" rIns="0" bIns="0" rtlCol="0" anchor="ctr"/>
          <a:lstStyle/>
          <a:p>
            <a:pPr marL="0" indent="0" algn="ctr">
              <a:buNone/>
            </a:pPr>
            <a:r>
              <a:rPr lang="en-US" sz="850" b="1" dirty="0">
                <a:solidFill>
                  <a:srgbClr val="FFFFFF"/>
                </a:solidFill>
              </a:rPr>
              <a:t>Low</a:t>
            </a:r>
            <a:endParaRPr lang="en-US" sz="850" dirty="0"/>
          </a:p>
        </p:txBody>
      </p:sp>
      <p:sp>
        <p:nvSpPr>
          <p:cNvPr id="109" name="Text 107"/>
          <p:cNvSpPr/>
          <p:nvPr/>
        </p:nvSpPr>
        <p:spPr>
          <a:xfrm>
            <a:off x="301048" y="4764024"/>
            <a:ext cx="2250831" cy="182880"/>
          </a:xfrm>
          <a:prstGeom prst="rect">
            <a:avLst/>
          </a:prstGeom>
          <a:noFill/>
          <a:ln/>
        </p:spPr>
        <p:txBody>
          <a:bodyPr wrap="square" lIns="0" tIns="0" rIns="0" bIns="0" rtlCol="0" anchor="ctr"/>
          <a:lstStyle/>
          <a:p>
            <a:pPr marL="0" indent="0">
              <a:buNone/>
            </a:pPr>
            <a:r>
              <a:rPr lang="en-US" sz="750" i="1" dirty="0"/>
              <a:t>Note: Production risk estimated directionally — RF forecasts monthly rainfall · aggregated to FY · applied to R = −0.621 · run RandomForest_Rainfall.py for exact values</a:t>
            </a:r>
            <a:endParaRPr lang="en-US" sz="750" dirty="0"/>
          </a:p>
        </p:txBody>
      </p:sp>
      <p:sp>
        <p:nvSpPr>
          <p:cNvPr id="113" name="TextBox 112">
            <a:extLst>
              <a:ext uri="{FF2B5EF4-FFF2-40B4-BE49-F238E27FC236}">
                <a16:creationId xmlns:a16="http://schemas.microsoft.com/office/drawing/2014/main" id="{EFA5F76B-3C8A-96DB-F602-DDD67E5E4975}"/>
              </a:ext>
            </a:extLst>
          </p:cNvPr>
          <p:cNvSpPr txBox="1"/>
          <p:nvPr/>
        </p:nvSpPr>
        <p:spPr>
          <a:xfrm>
            <a:off x="8897112" y="4879770"/>
            <a:ext cx="114300" cy="215444"/>
          </a:xfrm>
          <a:prstGeom prst="rect">
            <a:avLst/>
          </a:prstGeom>
          <a:noFill/>
        </p:spPr>
        <p:txBody>
          <a:bodyPr wrap="square" rtlCol="0">
            <a:spAutoFit/>
          </a:bodyPr>
          <a:lstStyle/>
          <a:p>
            <a:r>
              <a:rPr lang="en-AU" sz="800" dirty="0"/>
              <a:t>5</a:t>
            </a:r>
            <a:endParaRPr lang="en-A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8"/>
        </a:solidFill>
        <a:effectLst/>
      </p:bgPr>
    </p:bg>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52712417-4FAB-8530-4CE7-72281FD07D4F}"/>
              </a:ext>
            </a:extLst>
          </p:cNvPr>
          <p:cNvPicPr>
            <a:picLocks noChangeAspect="1"/>
          </p:cNvPicPr>
          <p:nvPr/>
        </p:nvPicPr>
        <p:blipFill>
          <a:blip r:embed="rId3">
            <a:alphaModFix amt="50000"/>
          </a:blip>
          <a:stretch>
            <a:fillRect/>
          </a:stretch>
        </p:blipFill>
        <p:spPr>
          <a:xfrm>
            <a:off x="0" y="-40509"/>
            <a:ext cx="9144000" cy="5123986"/>
          </a:xfrm>
          <a:prstGeom prst="rect">
            <a:avLst/>
          </a:prstGeom>
        </p:spPr>
      </p:pic>
      <p:sp>
        <p:nvSpPr>
          <p:cNvPr id="2" name="Text 0"/>
          <p:cNvSpPr/>
          <p:nvPr/>
        </p:nvSpPr>
        <p:spPr>
          <a:xfrm>
            <a:off x="274320" y="164592"/>
            <a:ext cx="8595360" cy="438912"/>
          </a:xfrm>
          <a:prstGeom prst="rect">
            <a:avLst/>
          </a:prstGeom>
          <a:noFill/>
          <a:ln/>
        </p:spPr>
        <p:txBody>
          <a:bodyPr wrap="square" lIns="0" tIns="0" rIns="0" bIns="0" rtlCol="0" anchor="ctr"/>
          <a:lstStyle/>
          <a:p>
            <a:pPr marL="0" indent="0">
              <a:buNone/>
            </a:pPr>
            <a:r>
              <a:rPr lang="en-US" sz="2400" b="1" dirty="0">
                <a:solidFill>
                  <a:srgbClr val="1A4A24"/>
                </a:solidFill>
                <a:latin typeface="Calibri" pitchFamily="34" charset="0"/>
                <a:ea typeface="Calibri" pitchFamily="34" charset="-122"/>
                <a:cs typeface="Calibri" pitchFamily="34" charset="-120"/>
              </a:rPr>
              <a:t>Outcomes - Descriptive &amp; Predictive Analysis</a:t>
            </a:r>
            <a:endParaRPr lang="en-US" sz="2400" dirty="0"/>
          </a:p>
        </p:txBody>
      </p:sp>
      <p:sp>
        <p:nvSpPr>
          <p:cNvPr id="3" name="Shape 1"/>
          <p:cNvSpPr/>
          <p:nvPr/>
        </p:nvSpPr>
        <p:spPr>
          <a:xfrm>
            <a:off x="274320" y="694944"/>
            <a:ext cx="4160520" cy="256032"/>
          </a:xfrm>
          <a:prstGeom prst="rect">
            <a:avLst/>
          </a:prstGeom>
          <a:solidFill>
            <a:srgbClr val="1A4A24"/>
          </a:solidFill>
          <a:ln w="12700">
            <a:solidFill>
              <a:srgbClr val="2D8A4E"/>
            </a:solidFill>
            <a:prstDash val="solid"/>
          </a:ln>
        </p:spPr>
        <p:txBody>
          <a:bodyPr/>
          <a:lstStyle/>
          <a:p>
            <a:endParaRPr lang="en-AU"/>
          </a:p>
        </p:txBody>
      </p:sp>
      <p:sp>
        <p:nvSpPr>
          <p:cNvPr id="4" name="Text 2"/>
          <p:cNvSpPr/>
          <p:nvPr/>
        </p:nvSpPr>
        <p:spPr>
          <a:xfrm>
            <a:off x="274320" y="694944"/>
            <a:ext cx="4160520" cy="256032"/>
          </a:xfrm>
          <a:prstGeom prst="rect">
            <a:avLst/>
          </a:prstGeom>
          <a:noFill/>
          <a:ln/>
        </p:spPr>
        <p:txBody>
          <a:bodyPr wrap="square" lIns="0" tIns="0" rIns="0" bIns="0" rtlCol="0" anchor="ctr"/>
          <a:lstStyle/>
          <a:p>
            <a:pPr marL="0" indent="0" algn="ctr">
              <a:buNone/>
            </a:pPr>
            <a:r>
              <a:rPr lang="en-US" sz="1000" b="1" dirty="0">
                <a:solidFill>
                  <a:srgbClr val="FFFFFF"/>
                </a:solidFill>
              </a:rPr>
              <a:t>Descriptive analytics — key insights</a:t>
            </a:r>
            <a:endParaRPr lang="en-US" sz="1000" dirty="0"/>
          </a:p>
        </p:txBody>
      </p:sp>
      <p:sp>
        <p:nvSpPr>
          <p:cNvPr id="5" name="Shape 3"/>
          <p:cNvSpPr/>
          <p:nvPr/>
        </p:nvSpPr>
        <p:spPr>
          <a:xfrm>
            <a:off x="274320" y="1005840"/>
            <a:ext cx="1965960" cy="749808"/>
          </a:xfrm>
          <a:prstGeom prst="rect">
            <a:avLst/>
          </a:prstGeom>
          <a:solidFill>
            <a:srgbClr val="1A4A24"/>
          </a:solidFill>
          <a:ln w="1524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6" name="Text 4"/>
          <p:cNvSpPr/>
          <p:nvPr/>
        </p:nvSpPr>
        <p:spPr>
          <a:xfrm>
            <a:off x="274320" y="1060704"/>
            <a:ext cx="1965960" cy="310896"/>
          </a:xfrm>
          <a:prstGeom prst="rect">
            <a:avLst/>
          </a:prstGeom>
          <a:noFill/>
          <a:ln/>
        </p:spPr>
        <p:txBody>
          <a:bodyPr wrap="square" lIns="0" tIns="0" rIns="0" bIns="0" rtlCol="0" anchor="ctr"/>
          <a:lstStyle/>
          <a:p>
            <a:pPr marL="0" indent="0" algn="ctr">
              <a:buNone/>
            </a:pPr>
            <a:r>
              <a:rPr lang="en-US" sz="2000" b="1" dirty="0">
                <a:solidFill>
                  <a:srgbClr val="2D8A4E"/>
                </a:solidFill>
              </a:rPr>
              <a:t>R = -0.621</a:t>
            </a:r>
            <a:endParaRPr lang="en-US" sz="2000" dirty="0"/>
          </a:p>
        </p:txBody>
      </p:sp>
      <p:sp>
        <p:nvSpPr>
          <p:cNvPr id="7" name="Text 5"/>
          <p:cNvSpPr/>
          <p:nvPr/>
        </p:nvSpPr>
        <p:spPr>
          <a:xfrm>
            <a:off x="274320" y="1371600"/>
            <a:ext cx="1965960" cy="182880"/>
          </a:xfrm>
          <a:prstGeom prst="rect">
            <a:avLst/>
          </a:prstGeom>
          <a:noFill/>
          <a:ln/>
        </p:spPr>
        <p:txBody>
          <a:bodyPr wrap="square" lIns="0" tIns="0" rIns="0" bIns="0" rtlCol="0" anchor="ctr"/>
          <a:lstStyle/>
          <a:p>
            <a:pPr marL="0" indent="0" algn="ctr">
              <a:buNone/>
            </a:pPr>
            <a:r>
              <a:rPr lang="en-US" sz="800" b="1" dirty="0">
                <a:solidFill>
                  <a:srgbClr val="FFFFFF"/>
                </a:solidFill>
              </a:rPr>
              <a:t>Rainfall vs veg production</a:t>
            </a:r>
            <a:endParaRPr lang="en-US" sz="800" dirty="0"/>
          </a:p>
        </p:txBody>
      </p:sp>
      <p:sp>
        <p:nvSpPr>
          <p:cNvPr id="8" name="Text 6"/>
          <p:cNvSpPr/>
          <p:nvPr/>
        </p:nvSpPr>
        <p:spPr>
          <a:xfrm>
            <a:off x="274320" y="1554480"/>
            <a:ext cx="1965960" cy="164592"/>
          </a:xfrm>
          <a:prstGeom prst="rect">
            <a:avLst/>
          </a:prstGeom>
          <a:noFill/>
          <a:ln/>
        </p:spPr>
        <p:txBody>
          <a:bodyPr wrap="square" lIns="0" tIns="0" rIns="0" bIns="0" rtlCol="0" anchor="ctr"/>
          <a:lstStyle/>
          <a:p>
            <a:pPr marL="0" indent="0" algn="ctr">
              <a:buNone/>
            </a:pPr>
            <a:r>
              <a:rPr lang="en-US" sz="700" dirty="0">
                <a:solidFill>
                  <a:srgbClr val="94A3B8"/>
                </a:solidFill>
              </a:rPr>
              <a:t>Moderate inverse - irrigation dependency</a:t>
            </a:r>
            <a:endParaRPr lang="en-US" sz="700" dirty="0"/>
          </a:p>
        </p:txBody>
      </p:sp>
      <p:sp>
        <p:nvSpPr>
          <p:cNvPr id="9" name="Shape 7"/>
          <p:cNvSpPr/>
          <p:nvPr/>
        </p:nvSpPr>
        <p:spPr>
          <a:xfrm>
            <a:off x="2377440" y="1005840"/>
            <a:ext cx="1965960" cy="749808"/>
          </a:xfrm>
          <a:prstGeom prst="rect">
            <a:avLst/>
          </a:prstGeom>
          <a:solidFill>
            <a:srgbClr val="1A4A24"/>
          </a:solidFill>
          <a:ln w="15240">
            <a:solidFill>
              <a:srgbClr val="D85A30"/>
            </a:solidFill>
            <a:prstDash val="solid"/>
          </a:ln>
          <a:effectLst>
            <a:outerShdw blurRad="101600" dist="38100" dir="8100000" algn="bl" rotWithShape="0">
              <a:srgbClr val="000000">
                <a:alpha val="18000"/>
              </a:srgbClr>
            </a:outerShdw>
          </a:effectLst>
        </p:spPr>
        <p:txBody>
          <a:bodyPr/>
          <a:lstStyle/>
          <a:p>
            <a:endParaRPr lang="en-AU"/>
          </a:p>
        </p:txBody>
      </p:sp>
      <p:sp>
        <p:nvSpPr>
          <p:cNvPr id="10" name="Text 8"/>
          <p:cNvSpPr/>
          <p:nvPr/>
        </p:nvSpPr>
        <p:spPr>
          <a:xfrm>
            <a:off x="2377440" y="1060704"/>
            <a:ext cx="1965960" cy="310896"/>
          </a:xfrm>
          <a:prstGeom prst="rect">
            <a:avLst/>
          </a:prstGeom>
          <a:noFill/>
          <a:ln/>
        </p:spPr>
        <p:txBody>
          <a:bodyPr wrap="square" lIns="0" tIns="0" rIns="0" bIns="0" rtlCol="0" anchor="ctr"/>
          <a:lstStyle/>
          <a:p>
            <a:pPr marL="0" indent="0" algn="ctr">
              <a:buNone/>
            </a:pPr>
            <a:r>
              <a:rPr lang="en-US" sz="2000" b="1" dirty="0">
                <a:solidFill>
                  <a:srgbClr val="D85A30"/>
                </a:solidFill>
              </a:rPr>
              <a:t>9.2%</a:t>
            </a:r>
            <a:endParaRPr lang="en-US" sz="2000" dirty="0"/>
          </a:p>
        </p:txBody>
      </p:sp>
      <p:sp>
        <p:nvSpPr>
          <p:cNvPr id="11" name="Text 9"/>
          <p:cNvSpPr/>
          <p:nvPr/>
        </p:nvSpPr>
        <p:spPr>
          <a:xfrm>
            <a:off x="2377440" y="1371600"/>
            <a:ext cx="1965960" cy="182880"/>
          </a:xfrm>
          <a:prstGeom prst="rect">
            <a:avLst/>
          </a:prstGeom>
          <a:noFill/>
          <a:ln/>
        </p:spPr>
        <p:txBody>
          <a:bodyPr wrap="square" lIns="0" tIns="0" rIns="0" bIns="0" rtlCol="0" anchor="ctr"/>
          <a:lstStyle/>
          <a:p>
            <a:pPr marL="0" indent="0" algn="ctr">
              <a:buNone/>
            </a:pPr>
            <a:r>
              <a:rPr lang="en-US" sz="800" b="1" dirty="0">
                <a:solidFill>
                  <a:srgbClr val="FFFFFF"/>
                </a:solidFill>
              </a:rPr>
              <a:t>CPI peak FY 2022/23</a:t>
            </a:r>
            <a:endParaRPr lang="en-US" sz="800" dirty="0"/>
          </a:p>
        </p:txBody>
      </p:sp>
      <p:sp>
        <p:nvSpPr>
          <p:cNvPr id="12" name="Text 10"/>
          <p:cNvSpPr/>
          <p:nvPr/>
        </p:nvSpPr>
        <p:spPr>
          <a:xfrm>
            <a:off x="2377440" y="1554480"/>
            <a:ext cx="1965960" cy="164592"/>
          </a:xfrm>
          <a:prstGeom prst="rect">
            <a:avLst/>
          </a:prstGeom>
          <a:noFill/>
          <a:ln/>
        </p:spPr>
        <p:txBody>
          <a:bodyPr wrap="square" lIns="0" tIns="0" rIns="0" bIns="0" rtlCol="0" anchor="ctr"/>
          <a:lstStyle/>
          <a:p>
            <a:pPr marL="0" indent="0" algn="ctr">
              <a:buNone/>
            </a:pPr>
            <a:r>
              <a:rPr lang="en-US" sz="700" dirty="0">
                <a:solidFill>
                  <a:srgbClr val="94A3B8"/>
                </a:solidFill>
              </a:rPr>
              <a:t>Simultaneous production dip 1.007M t</a:t>
            </a:r>
            <a:endParaRPr lang="en-US" sz="700" dirty="0"/>
          </a:p>
        </p:txBody>
      </p:sp>
      <p:sp>
        <p:nvSpPr>
          <p:cNvPr id="13" name="Shape 11"/>
          <p:cNvSpPr/>
          <p:nvPr/>
        </p:nvSpPr>
        <p:spPr>
          <a:xfrm>
            <a:off x="274320" y="1847088"/>
            <a:ext cx="1965960" cy="749808"/>
          </a:xfrm>
          <a:prstGeom prst="rect">
            <a:avLst/>
          </a:prstGeom>
          <a:solidFill>
            <a:srgbClr val="1A4A24"/>
          </a:solidFill>
          <a:ln w="15240">
            <a:solidFill>
              <a:srgbClr val="1A5276"/>
            </a:solidFill>
            <a:prstDash val="solid"/>
          </a:ln>
          <a:effectLst>
            <a:outerShdw blurRad="101600" dist="38100" dir="8100000" algn="bl" rotWithShape="0">
              <a:srgbClr val="000000">
                <a:alpha val="18000"/>
              </a:srgbClr>
            </a:outerShdw>
          </a:effectLst>
        </p:spPr>
        <p:txBody>
          <a:bodyPr/>
          <a:lstStyle/>
          <a:p>
            <a:endParaRPr lang="en-AU"/>
          </a:p>
        </p:txBody>
      </p:sp>
      <p:sp>
        <p:nvSpPr>
          <p:cNvPr id="14" name="Text 12"/>
          <p:cNvSpPr/>
          <p:nvPr/>
        </p:nvSpPr>
        <p:spPr>
          <a:xfrm>
            <a:off x="274320" y="1901952"/>
            <a:ext cx="1965960" cy="310896"/>
          </a:xfrm>
          <a:prstGeom prst="rect">
            <a:avLst/>
          </a:prstGeom>
          <a:noFill/>
          <a:ln/>
        </p:spPr>
        <p:txBody>
          <a:bodyPr wrap="square" lIns="0" tIns="0" rIns="0" bIns="0" rtlCol="0" anchor="ctr"/>
          <a:lstStyle/>
          <a:p>
            <a:pPr marL="0" indent="0" algn="ctr">
              <a:buNone/>
            </a:pPr>
            <a:r>
              <a:rPr lang="en-US" sz="2000" b="1" dirty="0">
                <a:solidFill>
                  <a:schemeClr val="accent1"/>
                </a:solidFill>
              </a:rPr>
              <a:t>~75%</a:t>
            </a:r>
            <a:endParaRPr lang="en-US" sz="2000" dirty="0">
              <a:solidFill>
                <a:schemeClr val="accent1"/>
              </a:solidFill>
            </a:endParaRPr>
          </a:p>
        </p:txBody>
      </p:sp>
      <p:sp>
        <p:nvSpPr>
          <p:cNvPr id="15" name="Text 13"/>
          <p:cNvSpPr/>
          <p:nvPr/>
        </p:nvSpPr>
        <p:spPr>
          <a:xfrm>
            <a:off x="274320" y="2212848"/>
            <a:ext cx="1965960" cy="182880"/>
          </a:xfrm>
          <a:prstGeom prst="rect">
            <a:avLst/>
          </a:prstGeom>
          <a:noFill/>
          <a:ln/>
        </p:spPr>
        <p:txBody>
          <a:bodyPr wrap="square" lIns="0" tIns="0" rIns="0" bIns="0" rtlCol="0" anchor="ctr"/>
          <a:lstStyle/>
          <a:p>
            <a:pPr marL="0" indent="0" algn="ctr">
              <a:buNone/>
            </a:pPr>
            <a:r>
              <a:rPr lang="en-US" sz="800" b="1" dirty="0">
                <a:solidFill>
                  <a:srgbClr val="FFFFFF"/>
                </a:solidFill>
              </a:rPr>
              <a:t>Veg share of output</a:t>
            </a:r>
            <a:endParaRPr lang="en-US" sz="800" dirty="0"/>
          </a:p>
        </p:txBody>
      </p:sp>
      <p:sp>
        <p:nvSpPr>
          <p:cNvPr id="16" name="Text 14"/>
          <p:cNvSpPr/>
          <p:nvPr/>
        </p:nvSpPr>
        <p:spPr>
          <a:xfrm>
            <a:off x="274320" y="2395728"/>
            <a:ext cx="1965960" cy="164592"/>
          </a:xfrm>
          <a:prstGeom prst="rect">
            <a:avLst/>
          </a:prstGeom>
          <a:noFill/>
          <a:ln/>
        </p:spPr>
        <p:txBody>
          <a:bodyPr wrap="square" lIns="0" tIns="0" rIns="0" bIns="0" rtlCol="0" anchor="ctr"/>
          <a:lstStyle/>
          <a:p>
            <a:pPr marL="0" indent="0" algn="ctr">
              <a:buNone/>
            </a:pPr>
            <a:r>
              <a:rPr lang="en-US" sz="700" dirty="0">
                <a:solidFill>
                  <a:srgbClr val="94A3B8"/>
                </a:solidFill>
              </a:rPr>
              <a:t>All 5 financial years consistent</a:t>
            </a:r>
            <a:endParaRPr lang="en-US" sz="700" dirty="0"/>
          </a:p>
        </p:txBody>
      </p:sp>
      <p:sp>
        <p:nvSpPr>
          <p:cNvPr id="17" name="Shape 15"/>
          <p:cNvSpPr/>
          <p:nvPr/>
        </p:nvSpPr>
        <p:spPr>
          <a:xfrm>
            <a:off x="2377440" y="1847088"/>
            <a:ext cx="1965960" cy="749808"/>
          </a:xfrm>
          <a:prstGeom prst="rect">
            <a:avLst/>
          </a:prstGeom>
          <a:solidFill>
            <a:srgbClr val="1A4A24"/>
          </a:solidFill>
          <a:ln w="15240">
            <a:solidFill>
              <a:srgbClr val="E8A230"/>
            </a:solidFill>
            <a:prstDash val="solid"/>
          </a:ln>
          <a:effectLst>
            <a:outerShdw blurRad="101600" dist="38100" dir="8100000" algn="bl" rotWithShape="0">
              <a:srgbClr val="000000">
                <a:alpha val="18000"/>
              </a:srgbClr>
            </a:outerShdw>
          </a:effectLst>
        </p:spPr>
        <p:txBody>
          <a:bodyPr/>
          <a:lstStyle/>
          <a:p>
            <a:endParaRPr lang="en-AU"/>
          </a:p>
        </p:txBody>
      </p:sp>
      <p:sp>
        <p:nvSpPr>
          <p:cNvPr id="18" name="Text 16"/>
          <p:cNvSpPr/>
          <p:nvPr/>
        </p:nvSpPr>
        <p:spPr>
          <a:xfrm>
            <a:off x="2377440" y="1901952"/>
            <a:ext cx="1965960" cy="310896"/>
          </a:xfrm>
          <a:prstGeom prst="rect">
            <a:avLst/>
          </a:prstGeom>
          <a:noFill/>
          <a:ln/>
        </p:spPr>
        <p:txBody>
          <a:bodyPr wrap="square" lIns="0" tIns="0" rIns="0" bIns="0" rtlCol="0" anchor="ctr"/>
          <a:lstStyle/>
          <a:p>
            <a:pPr marL="0" indent="0" algn="ctr">
              <a:buNone/>
            </a:pPr>
            <a:r>
              <a:rPr lang="en-US" sz="2000" b="1" dirty="0">
                <a:solidFill>
                  <a:srgbClr val="E8A230"/>
                </a:solidFill>
              </a:rPr>
              <a:t>-2.5%</a:t>
            </a:r>
            <a:endParaRPr lang="en-US" sz="2000" dirty="0"/>
          </a:p>
        </p:txBody>
      </p:sp>
      <p:sp>
        <p:nvSpPr>
          <p:cNvPr id="19" name="Text 17"/>
          <p:cNvSpPr/>
          <p:nvPr/>
        </p:nvSpPr>
        <p:spPr>
          <a:xfrm>
            <a:off x="2377440" y="2212848"/>
            <a:ext cx="1965960" cy="182880"/>
          </a:xfrm>
          <a:prstGeom prst="rect">
            <a:avLst/>
          </a:prstGeom>
          <a:noFill/>
          <a:ln/>
        </p:spPr>
        <p:txBody>
          <a:bodyPr wrap="square" lIns="0" tIns="0" rIns="0" bIns="0" rtlCol="0" anchor="ctr"/>
          <a:lstStyle/>
          <a:p>
            <a:pPr marL="0" indent="0" algn="ctr">
              <a:buNone/>
            </a:pPr>
            <a:r>
              <a:rPr lang="en-US" sz="800" b="1" dirty="0">
                <a:solidFill>
                  <a:srgbClr val="FFFFFF"/>
                </a:solidFill>
              </a:rPr>
              <a:t>Fruit decline 2021–2025</a:t>
            </a:r>
            <a:endParaRPr lang="en-US" sz="800" dirty="0"/>
          </a:p>
        </p:txBody>
      </p:sp>
      <p:sp>
        <p:nvSpPr>
          <p:cNvPr id="20" name="Text 18"/>
          <p:cNvSpPr/>
          <p:nvPr/>
        </p:nvSpPr>
        <p:spPr>
          <a:xfrm>
            <a:off x="2377440" y="2395728"/>
            <a:ext cx="1965960" cy="164592"/>
          </a:xfrm>
          <a:prstGeom prst="rect">
            <a:avLst/>
          </a:prstGeom>
          <a:noFill/>
          <a:ln/>
        </p:spPr>
        <p:txBody>
          <a:bodyPr wrap="square" lIns="0" tIns="0" rIns="0" bIns="0" rtlCol="0" anchor="ctr"/>
          <a:lstStyle/>
          <a:p>
            <a:pPr marL="0" indent="0" algn="ctr">
              <a:buNone/>
            </a:pPr>
            <a:r>
              <a:rPr lang="en-US" sz="700" dirty="0">
                <a:solidFill>
                  <a:srgbClr val="94A3B8"/>
                </a:solidFill>
              </a:rPr>
              <a:t>Structural trend - farm exits</a:t>
            </a:r>
            <a:endParaRPr lang="en-US" sz="700" dirty="0"/>
          </a:p>
        </p:txBody>
      </p:sp>
      <p:sp>
        <p:nvSpPr>
          <p:cNvPr id="21" name="Shape 19"/>
          <p:cNvSpPr/>
          <p:nvPr/>
        </p:nvSpPr>
        <p:spPr>
          <a:xfrm>
            <a:off x="274319" y="2724912"/>
            <a:ext cx="4201131" cy="877824"/>
          </a:xfrm>
          <a:prstGeom prst="rect">
            <a:avLst/>
          </a:prstGeom>
          <a:solidFill>
            <a:srgbClr val="0A2E0F"/>
          </a:solidFill>
          <a:ln w="10160">
            <a:solidFill>
              <a:srgbClr val="5AAF6A"/>
            </a:solidFill>
            <a:prstDash val="solid"/>
          </a:ln>
          <a:effectLst>
            <a:outerShdw blurRad="101600" dist="38100" dir="8100000" algn="bl" rotWithShape="0">
              <a:srgbClr val="000000">
                <a:alpha val="18000"/>
              </a:srgbClr>
            </a:outerShdw>
          </a:effectLst>
        </p:spPr>
        <p:txBody>
          <a:bodyPr/>
          <a:lstStyle/>
          <a:p>
            <a:endParaRPr lang="en-AU"/>
          </a:p>
        </p:txBody>
      </p:sp>
      <p:sp>
        <p:nvSpPr>
          <p:cNvPr id="22" name="Text 20"/>
          <p:cNvSpPr/>
          <p:nvPr/>
        </p:nvSpPr>
        <p:spPr>
          <a:xfrm>
            <a:off x="420624" y="2779776"/>
            <a:ext cx="1828800" cy="201168"/>
          </a:xfrm>
          <a:prstGeom prst="rect">
            <a:avLst/>
          </a:prstGeom>
          <a:noFill/>
          <a:ln/>
        </p:spPr>
        <p:txBody>
          <a:bodyPr wrap="square" lIns="0" tIns="0" rIns="0" bIns="0" rtlCol="0" anchor="ctr"/>
          <a:lstStyle/>
          <a:p>
            <a:pPr marL="0" indent="0">
              <a:buNone/>
            </a:pPr>
            <a:endParaRPr lang="en-US" sz="900" dirty="0"/>
          </a:p>
        </p:txBody>
      </p:sp>
      <p:sp>
        <p:nvSpPr>
          <p:cNvPr id="23" name="Text 21"/>
          <p:cNvSpPr/>
          <p:nvPr/>
        </p:nvSpPr>
        <p:spPr>
          <a:xfrm>
            <a:off x="457200" y="2915412"/>
            <a:ext cx="3840480" cy="493776"/>
          </a:xfrm>
          <a:prstGeom prst="rect">
            <a:avLst/>
          </a:prstGeom>
          <a:noFill/>
          <a:ln/>
        </p:spPr>
        <p:txBody>
          <a:bodyPr wrap="square" lIns="0" tIns="0" rIns="0" bIns="0" rtlCol="0" anchor="ctr"/>
          <a:lstStyle/>
          <a:p>
            <a:pPr marL="0" indent="0">
              <a:buNone/>
            </a:pPr>
            <a:r>
              <a:rPr lang="en-GB" sz="1000" dirty="0">
                <a:solidFill>
                  <a:srgbClr val="FFFFFF"/>
                </a:solidFill>
              </a:rPr>
              <a:t>SA horticulture depends on irrigation; farmers increase irrigation to make up for poor rainfall, which explains R = -0.621 (p = 0.2634). Water reserves are being depleted by the protracted drought during 2023/24; the buffer is disintegrating.</a:t>
            </a:r>
            <a:endParaRPr lang="en-US" sz="1000" dirty="0"/>
          </a:p>
        </p:txBody>
      </p:sp>
      <p:sp>
        <p:nvSpPr>
          <p:cNvPr id="24" name="Shape 22"/>
          <p:cNvSpPr/>
          <p:nvPr/>
        </p:nvSpPr>
        <p:spPr>
          <a:xfrm>
            <a:off x="4617720" y="694944"/>
            <a:ext cx="4206240" cy="256032"/>
          </a:xfrm>
          <a:prstGeom prst="rect">
            <a:avLst/>
          </a:prstGeom>
          <a:solidFill>
            <a:srgbClr val="1A4A24"/>
          </a:solidFill>
          <a:ln w="12700">
            <a:solidFill>
              <a:srgbClr val="2D8A4E"/>
            </a:solidFill>
            <a:prstDash val="solid"/>
          </a:ln>
        </p:spPr>
        <p:txBody>
          <a:bodyPr/>
          <a:lstStyle/>
          <a:p>
            <a:endParaRPr lang="en-AU"/>
          </a:p>
        </p:txBody>
      </p:sp>
      <p:sp>
        <p:nvSpPr>
          <p:cNvPr id="25" name="Text 23"/>
          <p:cNvSpPr/>
          <p:nvPr/>
        </p:nvSpPr>
        <p:spPr>
          <a:xfrm>
            <a:off x="4617720" y="694944"/>
            <a:ext cx="4206240" cy="256032"/>
          </a:xfrm>
          <a:prstGeom prst="rect">
            <a:avLst/>
          </a:prstGeom>
          <a:noFill/>
          <a:ln/>
        </p:spPr>
        <p:txBody>
          <a:bodyPr wrap="square" lIns="0" tIns="0" rIns="0" bIns="0" rtlCol="0" anchor="ctr"/>
          <a:lstStyle/>
          <a:p>
            <a:pPr marL="0" indent="0" algn="ctr">
              <a:buNone/>
            </a:pPr>
            <a:r>
              <a:rPr lang="en-US" sz="1000" b="1" dirty="0">
                <a:solidFill>
                  <a:srgbClr val="FFFFFF"/>
                </a:solidFill>
              </a:rPr>
              <a:t>Predictive analytics — 5-FY forecast insights</a:t>
            </a:r>
            <a:endParaRPr lang="en-US" sz="1000" dirty="0"/>
          </a:p>
        </p:txBody>
      </p:sp>
      <p:sp>
        <p:nvSpPr>
          <p:cNvPr id="42" name="Text 39"/>
          <p:cNvSpPr/>
          <p:nvPr/>
        </p:nvSpPr>
        <p:spPr>
          <a:xfrm>
            <a:off x="274320" y="4828032"/>
            <a:ext cx="8595360" cy="201168"/>
          </a:xfrm>
          <a:prstGeom prst="rect">
            <a:avLst/>
          </a:prstGeom>
          <a:noFill/>
          <a:ln/>
        </p:spPr>
        <p:txBody>
          <a:bodyPr wrap="square" lIns="0" tIns="0" rIns="0" bIns="0" rtlCol="0" anchor="ctr"/>
          <a:lstStyle/>
          <a:p>
            <a:pPr marL="0" indent="0">
              <a:buNone/>
            </a:pPr>
            <a:r>
              <a:rPr lang="en-US" sz="750" i="1" dirty="0"/>
              <a:t>Source: ABS 2025; BOM 2026</a:t>
            </a:r>
            <a:endParaRPr lang="en-US" sz="750" dirty="0"/>
          </a:p>
        </p:txBody>
      </p:sp>
      <p:sp>
        <p:nvSpPr>
          <p:cNvPr id="45" name="TextBox 44">
            <a:extLst>
              <a:ext uri="{FF2B5EF4-FFF2-40B4-BE49-F238E27FC236}">
                <a16:creationId xmlns:a16="http://schemas.microsoft.com/office/drawing/2014/main" id="{0DEFABF4-BC3F-814C-FD60-71371440DEEC}"/>
              </a:ext>
            </a:extLst>
          </p:cNvPr>
          <p:cNvSpPr txBox="1"/>
          <p:nvPr/>
        </p:nvSpPr>
        <p:spPr>
          <a:xfrm>
            <a:off x="8949690" y="4894078"/>
            <a:ext cx="114300" cy="215444"/>
          </a:xfrm>
          <a:prstGeom prst="rect">
            <a:avLst/>
          </a:prstGeom>
          <a:noFill/>
        </p:spPr>
        <p:txBody>
          <a:bodyPr wrap="square" rtlCol="0">
            <a:spAutoFit/>
          </a:bodyPr>
          <a:lstStyle/>
          <a:p>
            <a:r>
              <a:rPr lang="en-AU" sz="800" dirty="0"/>
              <a:t>6</a:t>
            </a:r>
            <a:endParaRPr lang="en-AU" dirty="0"/>
          </a:p>
        </p:txBody>
      </p:sp>
      <p:pic>
        <p:nvPicPr>
          <p:cNvPr id="54" name="Picture 53" descr="ChartI_MultiModel_Forecast.png">
            <a:extLst>
              <a:ext uri="{FF2B5EF4-FFF2-40B4-BE49-F238E27FC236}">
                <a16:creationId xmlns:a16="http://schemas.microsoft.com/office/drawing/2014/main" id="{25FE2CBF-9229-8D5C-A68B-2D2E1507E0CD}"/>
              </a:ext>
            </a:extLst>
          </p:cNvPr>
          <p:cNvPicPr>
            <a:picLocks noChangeAspect="1"/>
          </p:cNvPicPr>
          <p:nvPr/>
        </p:nvPicPr>
        <p:blipFill>
          <a:blip r:embed="rId4"/>
          <a:stretch>
            <a:fillRect/>
          </a:stretch>
        </p:blipFill>
        <p:spPr>
          <a:xfrm>
            <a:off x="4628682" y="1003189"/>
            <a:ext cx="4003925" cy="2754994"/>
          </a:xfrm>
          <a:prstGeom prst="rect">
            <a:avLst/>
          </a:prstGeom>
          <a:ln w="12700">
            <a:solidFill>
              <a:srgbClr val="0C100B"/>
            </a:solidFill>
          </a:ln>
        </p:spPr>
      </p:pic>
      <p:sp>
        <p:nvSpPr>
          <p:cNvPr id="55" name="Shape 19">
            <a:extLst>
              <a:ext uri="{FF2B5EF4-FFF2-40B4-BE49-F238E27FC236}">
                <a16:creationId xmlns:a16="http://schemas.microsoft.com/office/drawing/2014/main" id="{66B0DCC3-3DEC-E214-28F7-9EE9C65D060B}"/>
              </a:ext>
            </a:extLst>
          </p:cNvPr>
          <p:cNvSpPr/>
          <p:nvPr/>
        </p:nvSpPr>
        <p:spPr>
          <a:xfrm>
            <a:off x="4620274" y="3812460"/>
            <a:ext cx="4201131" cy="1081618"/>
          </a:xfrm>
          <a:prstGeom prst="rect">
            <a:avLst/>
          </a:prstGeom>
          <a:solidFill>
            <a:srgbClr val="0A2E0F"/>
          </a:solidFill>
          <a:ln w="10160">
            <a:solidFill>
              <a:srgbClr val="5AAF6A"/>
            </a:solidFill>
            <a:prstDash val="solid"/>
          </a:ln>
          <a:effectLst>
            <a:outerShdw blurRad="101600" dist="38100" dir="8100000" algn="bl" rotWithShape="0">
              <a:srgbClr val="000000">
                <a:alpha val="18000"/>
              </a:srgbClr>
            </a:outerShdw>
          </a:effectLst>
        </p:spPr>
        <p:txBody>
          <a:bodyPr/>
          <a:lstStyle/>
          <a:p>
            <a:endParaRPr lang="en-AU" dirty="0"/>
          </a:p>
        </p:txBody>
      </p:sp>
      <p:sp>
        <p:nvSpPr>
          <p:cNvPr id="41" name="Text 38"/>
          <p:cNvSpPr/>
          <p:nvPr/>
        </p:nvSpPr>
        <p:spPr>
          <a:xfrm>
            <a:off x="4703311" y="4236131"/>
            <a:ext cx="4006349" cy="229187"/>
          </a:xfrm>
          <a:prstGeom prst="rect">
            <a:avLst/>
          </a:prstGeom>
          <a:noFill/>
          <a:ln/>
        </p:spPr>
        <p:txBody>
          <a:bodyPr wrap="square" lIns="0" tIns="0" rIns="0" bIns="0" rtlCol="0" anchor="ctr"/>
          <a:lstStyle/>
          <a:p>
            <a:r>
              <a:rPr lang="en-GB" sz="1000" dirty="0">
                <a:solidFill>
                  <a:schemeClr val="bg1"/>
                </a:solidFill>
              </a:rPr>
              <a:t>All three models predict that SA horticulture production will remain within a narrow range of 1,024K-1,065K tonnes between 2026 and 2028, with no model predicting a return to the FY 2023/24 peak of 1,038K tonnes. Prophet (RMSE = 10.7K, best fit) predicts gradual growth to 1,065K t, ARIMA oscillates around the 1,024-1,032K range due to mean-reversion.</a:t>
            </a:r>
            <a:endParaRPr lang="en-US" sz="10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917A8E12-978D-F7DA-DAA9-6A90A04AA9C3}"/>
              </a:ext>
            </a:extLst>
          </p:cNvPr>
          <p:cNvPicPr>
            <a:picLocks noChangeAspect="1"/>
          </p:cNvPicPr>
          <p:nvPr/>
        </p:nvPicPr>
        <p:blipFill>
          <a:blip r:embed="rId2">
            <a:alphaModFix/>
          </a:blip>
          <a:stretch>
            <a:fillRect/>
          </a:stretch>
        </p:blipFill>
        <p:spPr>
          <a:xfrm>
            <a:off x="0" y="0"/>
            <a:ext cx="9144000" cy="5143500"/>
          </a:xfrm>
          <a:prstGeom prst="rect">
            <a:avLst/>
          </a:prstGeom>
        </p:spPr>
      </p:pic>
      <p:sp>
        <p:nvSpPr>
          <p:cNvPr id="3" name="Rectangle 2"/>
          <p:cNvSpPr/>
          <p:nvPr/>
        </p:nvSpPr>
        <p:spPr>
          <a:xfrm>
            <a:off x="0" y="0"/>
            <a:ext cx="9144000" cy="54864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36576"/>
            <a:ext cx="8412480" cy="292608"/>
          </a:xfrm>
          <a:prstGeom prst="rect">
            <a:avLst/>
          </a:prstGeom>
          <a:noFill/>
        </p:spPr>
        <p:txBody>
          <a:bodyPr wrap="square">
            <a:spAutoFit/>
          </a:bodyPr>
          <a:lstStyle/>
          <a:p>
            <a:pPr algn="l"/>
            <a:r>
              <a:rPr sz="1500" b="1" i="0" dirty="0">
                <a:solidFill>
                  <a:srgbClr val="FFFFFF"/>
                </a:solidFill>
                <a:latin typeface="Calibri"/>
              </a:rPr>
              <a:t>Descriptive Analysis — CPI vs Horticulture Production</a:t>
            </a:r>
          </a:p>
        </p:txBody>
      </p:sp>
      <p:sp>
        <p:nvSpPr>
          <p:cNvPr id="5" name="TextBox 4"/>
          <p:cNvSpPr txBox="1"/>
          <p:nvPr/>
        </p:nvSpPr>
        <p:spPr>
          <a:xfrm>
            <a:off x="201168" y="329184"/>
            <a:ext cx="8412480" cy="182880"/>
          </a:xfrm>
          <a:prstGeom prst="rect">
            <a:avLst/>
          </a:prstGeom>
          <a:noFill/>
        </p:spPr>
        <p:txBody>
          <a:bodyPr wrap="square">
            <a:spAutoFit/>
          </a:bodyPr>
          <a:lstStyle/>
          <a:p>
            <a:pPr algn="l"/>
            <a:r>
              <a:rPr sz="800" b="0" i="1">
                <a:solidFill>
                  <a:srgbClr val="5AAF6A"/>
                </a:solidFill>
                <a:latin typeface="Calibri"/>
              </a:rPr>
              <a:t>CPI, Total Production, Veg Production and Fruit Production by Financial Year (2020/21–2024/25)</a:t>
            </a:r>
          </a:p>
        </p:txBody>
      </p:sp>
      <p:pic>
        <p:nvPicPr>
          <p:cNvPr id="6" name="Picture 5" descr="CPI_v_Horti.png"/>
          <p:cNvPicPr>
            <a:picLocks noChangeAspect="1"/>
          </p:cNvPicPr>
          <p:nvPr/>
        </p:nvPicPr>
        <p:blipFill>
          <a:blip r:embed="rId3"/>
          <a:stretch>
            <a:fillRect/>
          </a:stretch>
        </p:blipFill>
        <p:spPr>
          <a:xfrm>
            <a:off x="25053" y="621792"/>
            <a:ext cx="6275163" cy="4307527"/>
          </a:xfrm>
          <a:prstGeom prst="rect">
            <a:avLst/>
          </a:prstGeom>
        </p:spPr>
      </p:pic>
      <p:sp>
        <p:nvSpPr>
          <p:cNvPr id="7" name="Rectangle 6"/>
          <p:cNvSpPr/>
          <p:nvPr/>
        </p:nvSpPr>
        <p:spPr>
          <a:xfrm>
            <a:off x="6402911" y="658368"/>
            <a:ext cx="2576498" cy="27432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88152" y="663831"/>
            <a:ext cx="3699803" cy="223138"/>
          </a:xfrm>
          <a:prstGeom prst="rect">
            <a:avLst/>
          </a:prstGeom>
          <a:noFill/>
        </p:spPr>
        <p:txBody>
          <a:bodyPr wrap="square">
            <a:spAutoFit/>
          </a:bodyPr>
          <a:lstStyle/>
          <a:p>
            <a:pPr algn="ctr"/>
            <a:r>
              <a:rPr sz="850" b="1" i="0" dirty="0">
                <a:solidFill>
                  <a:srgbClr val="E8A230"/>
                </a:solidFill>
                <a:latin typeface="Calibri"/>
              </a:rPr>
              <a:t>KEY INSIGHTS</a:t>
            </a:r>
          </a:p>
        </p:txBody>
      </p:sp>
      <p:sp>
        <p:nvSpPr>
          <p:cNvPr id="9" name="Rectangle 8"/>
          <p:cNvSpPr/>
          <p:nvPr/>
        </p:nvSpPr>
        <p:spPr>
          <a:xfrm>
            <a:off x="6402910" y="1042416"/>
            <a:ext cx="2608502" cy="1303020"/>
          </a:xfrm>
          <a:prstGeom prst="rect">
            <a:avLst/>
          </a:prstGeom>
          <a:solidFill>
            <a:srgbClr val="FFFFFF"/>
          </a:solidFill>
          <a:ln w="8890">
            <a:solidFill>
              <a:srgbClr val="D85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2910" y="1036527"/>
            <a:ext cx="45719" cy="1298405"/>
          </a:xfrm>
          <a:prstGeom prst="rect">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67415" y="1068445"/>
            <a:ext cx="310896" cy="310896"/>
          </a:xfrm>
          <a:prstGeom prst="ellipse">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1</a:t>
            </a:r>
          </a:p>
        </p:txBody>
      </p:sp>
      <p:sp>
        <p:nvSpPr>
          <p:cNvPr id="12" name="TextBox 11"/>
          <p:cNvSpPr txBox="1"/>
          <p:nvPr/>
        </p:nvSpPr>
        <p:spPr>
          <a:xfrm>
            <a:off x="6742306" y="1058594"/>
            <a:ext cx="2743200" cy="201168"/>
          </a:xfrm>
          <a:prstGeom prst="rect">
            <a:avLst/>
          </a:prstGeom>
          <a:noFill/>
        </p:spPr>
        <p:txBody>
          <a:bodyPr wrap="square">
            <a:spAutoFit/>
          </a:bodyPr>
          <a:lstStyle/>
          <a:p>
            <a:pPr algn="l"/>
            <a:r>
              <a:rPr sz="900" b="1" i="0" dirty="0">
                <a:solidFill>
                  <a:srgbClr val="D85A30"/>
                </a:solidFill>
                <a:latin typeface="Calibri"/>
              </a:rPr>
              <a:t>CPI peak did not suppress production</a:t>
            </a:r>
          </a:p>
        </p:txBody>
      </p:sp>
      <p:sp>
        <p:nvSpPr>
          <p:cNvPr id="13" name="TextBox 12"/>
          <p:cNvSpPr txBox="1"/>
          <p:nvPr/>
        </p:nvSpPr>
        <p:spPr>
          <a:xfrm>
            <a:off x="6474450" y="1453106"/>
            <a:ext cx="2608502" cy="784830"/>
          </a:xfrm>
          <a:prstGeom prst="rect">
            <a:avLst/>
          </a:prstGeom>
          <a:noFill/>
        </p:spPr>
        <p:txBody>
          <a:bodyPr wrap="square">
            <a:spAutoFit/>
          </a:bodyPr>
          <a:lstStyle/>
          <a:p>
            <a:r>
              <a:rPr lang="en-AU" sz="900" dirty="0"/>
              <a:t>Production slightly decreased to 1.01M tonnes during the 2022/23 CPI spike to 9.2% inflation; nevertheless, the next year, 2023/24, witnessed the highest production in the dataset at 1.04M tonnes despite ongoing price pressure. </a:t>
            </a:r>
            <a:endParaRPr sz="400" b="0" i="0" dirty="0">
              <a:solidFill>
                <a:srgbClr val="0B1F12"/>
              </a:solidFill>
              <a:latin typeface="Calibri"/>
            </a:endParaRPr>
          </a:p>
        </p:txBody>
      </p:sp>
      <p:sp>
        <p:nvSpPr>
          <p:cNvPr id="14" name="Rectangle 13"/>
          <p:cNvSpPr/>
          <p:nvPr/>
        </p:nvSpPr>
        <p:spPr>
          <a:xfrm>
            <a:off x="6395039" y="2421929"/>
            <a:ext cx="2616373" cy="1281215"/>
          </a:xfrm>
          <a:prstGeom prst="rect">
            <a:avLst/>
          </a:prstGeom>
          <a:solidFill>
            <a:srgbClr val="FFFFFF"/>
          </a:solidFill>
          <a:ln w="8890">
            <a:solidFill>
              <a:srgbClr val="2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91062" y="2431775"/>
            <a:ext cx="50887" cy="1265654"/>
          </a:xfrm>
          <a:prstGeom prst="rect">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74450" y="2460441"/>
            <a:ext cx="310896" cy="310896"/>
          </a:xfrm>
          <a:prstGeom prst="ellipse">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dirty="0">
                <a:solidFill>
                  <a:srgbClr val="FFFFFF"/>
                </a:solidFill>
                <a:latin typeface="Calibri"/>
              </a:rPr>
              <a:t>2</a:t>
            </a:r>
          </a:p>
        </p:txBody>
      </p:sp>
      <p:sp>
        <p:nvSpPr>
          <p:cNvPr id="17" name="TextBox 16"/>
          <p:cNvSpPr txBox="1"/>
          <p:nvPr/>
        </p:nvSpPr>
        <p:spPr>
          <a:xfrm>
            <a:off x="6742306" y="2399865"/>
            <a:ext cx="2269106" cy="369332"/>
          </a:xfrm>
          <a:prstGeom prst="rect">
            <a:avLst/>
          </a:prstGeom>
          <a:noFill/>
        </p:spPr>
        <p:txBody>
          <a:bodyPr wrap="square">
            <a:spAutoFit/>
          </a:bodyPr>
          <a:lstStyle/>
          <a:p>
            <a:pPr algn="l"/>
            <a:r>
              <a:rPr sz="900" b="1" i="0" dirty="0">
                <a:solidFill>
                  <a:srgbClr val="2D8A4E"/>
                </a:solidFill>
                <a:latin typeface="Calibri"/>
              </a:rPr>
              <a:t>Vegetables at ~75%</a:t>
            </a:r>
            <a:r>
              <a:rPr lang="en-AU" sz="900" b="1" i="0" dirty="0">
                <a:solidFill>
                  <a:srgbClr val="2D8A4E"/>
                </a:solidFill>
                <a:latin typeface="Calibri"/>
              </a:rPr>
              <a:t> - </a:t>
            </a:r>
            <a:r>
              <a:rPr sz="900" b="1" i="0" dirty="0">
                <a:solidFill>
                  <a:srgbClr val="2D8A4E"/>
                </a:solidFill>
                <a:latin typeface="Calibri"/>
              </a:rPr>
              <a:t> concentration risk for SA retail</a:t>
            </a:r>
          </a:p>
        </p:txBody>
      </p:sp>
      <p:sp>
        <p:nvSpPr>
          <p:cNvPr id="18" name="TextBox 17"/>
          <p:cNvSpPr txBox="1"/>
          <p:nvPr/>
        </p:nvSpPr>
        <p:spPr>
          <a:xfrm>
            <a:off x="6441949" y="2758047"/>
            <a:ext cx="2641003" cy="784830"/>
          </a:xfrm>
          <a:prstGeom prst="rect">
            <a:avLst/>
          </a:prstGeom>
          <a:noFill/>
        </p:spPr>
        <p:txBody>
          <a:bodyPr wrap="square">
            <a:spAutoFit/>
          </a:bodyPr>
          <a:lstStyle/>
          <a:p>
            <a:r>
              <a:rPr lang="en-AU" sz="900" dirty="0"/>
              <a:t>Fruit production remained stable between 0.24M and 0.26M tonnes during all 5 years, whereas vegetable production maintained roughly 75% of the overall horticultural output, ranging from 0.75M to 0.79M tonnes. </a:t>
            </a:r>
            <a:endParaRPr sz="900" b="0" i="0" dirty="0">
              <a:solidFill>
                <a:srgbClr val="0B1F12"/>
              </a:solidFill>
              <a:latin typeface="Calibri"/>
            </a:endParaRPr>
          </a:p>
        </p:txBody>
      </p:sp>
      <p:sp>
        <p:nvSpPr>
          <p:cNvPr id="19" name="Rectangle 18"/>
          <p:cNvSpPr/>
          <p:nvPr/>
        </p:nvSpPr>
        <p:spPr>
          <a:xfrm>
            <a:off x="6380092" y="3768030"/>
            <a:ext cx="2622135" cy="1228813"/>
          </a:xfrm>
          <a:prstGeom prst="rect">
            <a:avLst/>
          </a:prstGeom>
          <a:solidFill>
            <a:srgbClr val="FFFFFF"/>
          </a:solidFill>
          <a:ln w="8890">
            <a:solidFill>
              <a:srgbClr val="E8A2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75478" y="3779637"/>
            <a:ext cx="45719" cy="1217206"/>
          </a:xfrm>
          <a:prstGeom prst="rect">
            <a:avLst/>
          </a:prstGeom>
          <a:solidFill>
            <a:srgbClr val="E8A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41949" y="3790100"/>
            <a:ext cx="310896" cy="310896"/>
          </a:xfrm>
          <a:prstGeom prst="ellipse">
            <a:avLst/>
          </a:prstGeom>
          <a:solidFill>
            <a:srgbClr val="E8A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3</a:t>
            </a:r>
          </a:p>
        </p:txBody>
      </p:sp>
      <p:sp>
        <p:nvSpPr>
          <p:cNvPr id="22" name="TextBox 21"/>
          <p:cNvSpPr txBox="1"/>
          <p:nvPr/>
        </p:nvSpPr>
        <p:spPr>
          <a:xfrm>
            <a:off x="6742306" y="3829050"/>
            <a:ext cx="2743200" cy="201168"/>
          </a:xfrm>
          <a:prstGeom prst="rect">
            <a:avLst/>
          </a:prstGeom>
          <a:noFill/>
        </p:spPr>
        <p:txBody>
          <a:bodyPr wrap="square">
            <a:spAutoFit/>
          </a:bodyPr>
          <a:lstStyle/>
          <a:p>
            <a:pPr algn="l"/>
            <a:r>
              <a:rPr sz="900" b="1" i="0" dirty="0">
                <a:solidFill>
                  <a:srgbClr val="E8A230"/>
                </a:solidFill>
                <a:latin typeface="Calibri"/>
              </a:rPr>
              <a:t>Fruit in structural decline since 2021/22</a:t>
            </a:r>
          </a:p>
        </p:txBody>
      </p:sp>
      <p:sp>
        <p:nvSpPr>
          <p:cNvPr id="23" name="TextBox 22"/>
          <p:cNvSpPr txBox="1"/>
          <p:nvPr/>
        </p:nvSpPr>
        <p:spPr>
          <a:xfrm>
            <a:off x="6483635" y="4196384"/>
            <a:ext cx="2527777" cy="646331"/>
          </a:xfrm>
          <a:prstGeom prst="rect">
            <a:avLst/>
          </a:prstGeom>
          <a:noFill/>
        </p:spPr>
        <p:txBody>
          <a:bodyPr wrap="square">
            <a:spAutoFit/>
          </a:bodyPr>
          <a:lstStyle/>
          <a:p>
            <a:r>
              <a:rPr lang="en-AU" sz="900" dirty="0"/>
              <a:t>Fruit production decreased gradually over 4 years, from 0.26 million tonnes in 2021/22 to 0.24 million tonnes in 2024/25 a decrease of roughly 2.5%. </a:t>
            </a:r>
            <a:endParaRPr sz="900" b="0" i="0" dirty="0">
              <a:solidFill>
                <a:srgbClr val="0B1F12"/>
              </a:solidFill>
              <a:latin typeface="Calibri"/>
            </a:endParaRPr>
          </a:p>
        </p:txBody>
      </p:sp>
      <p:sp>
        <p:nvSpPr>
          <p:cNvPr id="24" name="TextBox 23"/>
          <p:cNvSpPr txBox="1"/>
          <p:nvPr/>
        </p:nvSpPr>
        <p:spPr>
          <a:xfrm>
            <a:off x="164592" y="6638544"/>
            <a:ext cx="8778240" cy="164592"/>
          </a:xfrm>
          <a:prstGeom prst="rect">
            <a:avLst/>
          </a:prstGeom>
          <a:noFill/>
        </p:spPr>
        <p:txBody>
          <a:bodyPr wrap="square">
            <a:spAutoFit/>
          </a:bodyPr>
          <a:lstStyle/>
          <a:p>
            <a:pPr algn="l"/>
            <a:r>
              <a:rPr sz="720" b="0" i="1">
                <a:solidFill>
                  <a:srgbClr val="94A3B8"/>
                </a:solidFill>
                <a:latin typeface="Calibri"/>
              </a:rPr>
              <a:t>Source: BOM 2026; ABS 2025  ·  Power BI  ·  DATA6000 Capstone</a:t>
            </a:r>
          </a:p>
        </p:txBody>
      </p:sp>
      <p:sp>
        <p:nvSpPr>
          <p:cNvPr id="30" name="TextBox 29">
            <a:extLst>
              <a:ext uri="{FF2B5EF4-FFF2-40B4-BE49-F238E27FC236}">
                <a16:creationId xmlns:a16="http://schemas.microsoft.com/office/drawing/2014/main" id="{947A3DD0-63E7-5E18-48F1-C199DA90BAFC}"/>
              </a:ext>
            </a:extLst>
          </p:cNvPr>
          <p:cNvSpPr txBox="1"/>
          <p:nvPr/>
        </p:nvSpPr>
        <p:spPr>
          <a:xfrm>
            <a:off x="9020576" y="4914724"/>
            <a:ext cx="114300" cy="215444"/>
          </a:xfrm>
          <a:prstGeom prst="rect">
            <a:avLst/>
          </a:prstGeom>
          <a:noFill/>
        </p:spPr>
        <p:txBody>
          <a:bodyPr wrap="square" rtlCol="0">
            <a:spAutoFit/>
          </a:bodyPr>
          <a:lstStyle/>
          <a:p>
            <a:r>
              <a:rPr lang="en-AU" sz="800" dirty="0">
                <a:solidFill>
                  <a:schemeClr val="accent6">
                    <a:lumMod val="40000"/>
                    <a:lumOff val="60000"/>
                  </a:schemeClr>
                </a:solidFill>
              </a:rPr>
              <a:t>7</a:t>
            </a:r>
            <a:endParaRPr lang="en-AU" dirty="0">
              <a:solidFill>
                <a:schemeClr val="accent6">
                  <a:lumMod val="40000"/>
                  <a:lumOff val="6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C580B-4658-88EC-B202-4163747F1AD1}"/>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DF44F55B-EA2E-4355-7147-73BAF3E4E283}"/>
              </a:ext>
            </a:extLst>
          </p:cNvPr>
          <p:cNvPicPr>
            <a:picLocks noChangeAspect="1"/>
          </p:cNvPicPr>
          <p:nvPr/>
        </p:nvPicPr>
        <p:blipFill>
          <a:blip r:embed="rId2"/>
          <a:stretch>
            <a:fillRect/>
          </a:stretch>
        </p:blipFill>
        <p:spPr>
          <a:xfrm>
            <a:off x="0" y="0"/>
            <a:ext cx="9144000" cy="5143500"/>
          </a:xfrm>
          <a:prstGeom prst="rect">
            <a:avLst/>
          </a:prstGeom>
        </p:spPr>
      </p:pic>
      <p:sp>
        <p:nvSpPr>
          <p:cNvPr id="3" name="Rectangle 2">
            <a:extLst>
              <a:ext uri="{FF2B5EF4-FFF2-40B4-BE49-F238E27FC236}">
                <a16:creationId xmlns:a16="http://schemas.microsoft.com/office/drawing/2014/main" id="{2626B9F7-5973-D41C-EACA-82FB0B315300}"/>
              </a:ext>
            </a:extLst>
          </p:cNvPr>
          <p:cNvSpPr/>
          <p:nvPr/>
        </p:nvSpPr>
        <p:spPr>
          <a:xfrm>
            <a:off x="0" y="0"/>
            <a:ext cx="9144000" cy="54864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1A6580D-1CA7-CF1D-B607-2704EF162855}"/>
              </a:ext>
            </a:extLst>
          </p:cNvPr>
          <p:cNvSpPr txBox="1"/>
          <p:nvPr/>
        </p:nvSpPr>
        <p:spPr>
          <a:xfrm>
            <a:off x="201168" y="36576"/>
            <a:ext cx="8412480" cy="323165"/>
          </a:xfrm>
          <a:prstGeom prst="rect">
            <a:avLst/>
          </a:prstGeom>
          <a:noFill/>
        </p:spPr>
        <p:txBody>
          <a:bodyPr wrap="square">
            <a:spAutoFit/>
          </a:bodyPr>
          <a:lstStyle/>
          <a:p>
            <a:r>
              <a:rPr lang="en-GB" sz="1500" b="1" dirty="0">
                <a:solidFill>
                  <a:srgbClr val="FFFFFF"/>
                </a:solidFill>
              </a:rPr>
              <a:t>Descriptive Analysis — CPI Change and Total Rainfall by Year</a:t>
            </a:r>
          </a:p>
        </p:txBody>
      </p:sp>
      <p:sp>
        <p:nvSpPr>
          <p:cNvPr id="5" name="TextBox 4">
            <a:extLst>
              <a:ext uri="{FF2B5EF4-FFF2-40B4-BE49-F238E27FC236}">
                <a16:creationId xmlns:a16="http://schemas.microsoft.com/office/drawing/2014/main" id="{E80F7910-2986-7F5D-0173-F406BE19FCF5}"/>
              </a:ext>
            </a:extLst>
          </p:cNvPr>
          <p:cNvSpPr txBox="1"/>
          <p:nvPr/>
        </p:nvSpPr>
        <p:spPr>
          <a:xfrm>
            <a:off x="201168" y="329184"/>
            <a:ext cx="8412480" cy="215444"/>
          </a:xfrm>
          <a:prstGeom prst="rect">
            <a:avLst/>
          </a:prstGeom>
          <a:noFill/>
        </p:spPr>
        <p:txBody>
          <a:bodyPr wrap="square">
            <a:spAutoFit/>
          </a:bodyPr>
          <a:lstStyle/>
          <a:p>
            <a:r>
              <a:rPr lang="en-GB" sz="800" i="1" dirty="0">
                <a:solidFill>
                  <a:srgbClr val="5AAF6A"/>
                </a:solidFill>
              </a:rPr>
              <a:t>Price change and SA rainfall co-movement across FY 2020/21–2024/25</a:t>
            </a:r>
          </a:p>
        </p:txBody>
      </p:sp>
      <p:sp>
        <p:nvSpPr>
          <p:cNvPr id="7" name="Rectangle 6">
            <a:extLst>
              <a:ext uri="{FF2B5EF4-FFF2-40B4-BE49-F238E27FC236}">
                <a16:creationId xmlns:a16="http://schemas.microsoft.com/office/drawing/2014/main" id="{F9A7F90F-C483-3DE3-9520-65ADD03A5260}"/>
              </a:ext>
            </a:extLst>
          </p:cNvPr>
          <p:cNvSpPr/>
          <p:nvPr/>
        </p:nvSpPr>
        <p:spPr>
          <a:xfrm>
            <a:off x="6402911" y="658368"/>
            <a:ext cx="2576498" cy="27432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586EA28F-09F8-597C-FDF0-5470B0279256}"/>
              </a:ext>
            </a:extLst>
          </p:cNvPr>
          <p:cNvSpPr txBox="1"/>
          <p:nvPr/>
        </p:nvSpPr>
        <p:spPr>
          <a:xfrm>
            <a:off x="5788152" y="663831"/>
            <a:ext cx="3699803" cy="223138"/>
          </a:xfrm>
          <a:prstGeom prst="rect">
            <a:avLst/>
          </a:prstGeom>
          <a:noFill/>
        </p:spPr>
        <p:txBody>
          <a:bodyPr wrap="square">
            <a:spAutoFit/>
          </a:bodyPr>
          <a:lstStyle/>
          <a:p>
            <a:pPr algn="ctr"/>
            <a:r>
              <a:rPr sz="850" b="1" i="0" dirty="0">
                <a:solidFill>
                  <a:srgbClr val="E8A230"/>
                </a:solidFill>
                <a:latin typeface="Calibri"/>
              </a:rPr>
              <a:t>KEY INSIGHTS</a:t>
            </a:r>
          </a:p>
        </p:txBody>
      </p:sp>
      <p:sp>
        <p:nvSpPr>
          <p:cNvPr id="9" name="Rectangle 8">
            <a:extLst>
              <a:ext uri="{FF2B5EF4-FFF2-40B4-BE49-F238E27FC236}">
                <a16:creationId xmlns:a16="http://schemas.microsoft.com/office/drawing/2014/main" id="{F512653F-9DC3-8AE4-7FF0-303C3F8CB133}"/>
              </a:ext>
            </a:extLst>
          </p:cNvPr>
          <p:cNvSpPr/>
          <p:nvPr/>
        </p:nvSpPr>
        <p:spPr>
          <a:xfrm>
            <a:off x="6402910" y="1042416"/>
            <a:ext cx="2608502" cy="1303020"/>
          </a:xfrm>
          <a:prstGeom prst="rect">
            <a:avLst/>
          </a:prstGeom>
          <a:solidFill>
            <a:srgbClr val="FFFFFF"/>
          </a:solidFill>
          <a:ln w="8890">
            <a:solidFill>
              <a:srgbClr val="D85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F66AC3CB-765B-D7DF-CD58-E8B840848CC8}"/>
              </a:ext>
            </a:extLst>
          </p:cNvPr>
          <p:cNvSpPr/>
          <p:nvPr/>
        </p:nvSpPr>
        <p:spPr>
          <a:xfrm>
            <a:off x="6402910" y="1036527"/>
            <a:ext cx="45719" cy="1298405"/>
          </a:xfrm>
          <a:prstGeom prst="rect">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D1BC85D9-1678-FC34-FF4B-42637928270A}"/>
              </a:ext>
            </a:extLst>
          </p:cNvPr>
          <p:cNvSpPr/>
          <p:nvPr/>
        </p:nvSpPr>
        <p:spPr>
          <a:xfrm>
            <a:off x="6467415" y="1068445"/>
            <a:ext cx="310896" cy="310896"/>
          </a:xfrm>
          <a:prstGeom prst="ellipse">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4</a:t>
            </a:r>
            <a:endParaRPr sz="1000" b="1" dirty="0">
              <a:solidFill>
                <a:srgbClr val="FFFFFF"/>
              </a:solidFill>
              <a:latin typeface="Calibri"/>
            </a:endParaRPr>
          </a:p>
        </p:txBody>
      </p:sp>
      <p:sp>
        <p:nvSpPr>
          <p:cNvPr id="12" name="TextBox 11">
            <a:extLst>
              <a:ext uri="{FF2B5EF4-FFF2-40B4-BE49-F238E27FC236}">
                <a16:creationId xmlns:a16="http://schemas.microsoft.com/office/drawing/2014/main" id="{D99903AA-9B3F-938D-9125-14EA2F2F9CE7}"/>
              </a:ext>
            </a:extLst>
          </p:cNvPr>
          <p:cNvSpPr txBox="1"/>
          <p:nvPr/>
        </p:nvSpPr>
        <p:spPr>
          <a:xfrm>
            <a:off x="6742306" y="1058594"/>
            <a:ext cx="2743200" cy="369332"/>
          </a:xfrm>
          <a:prstGeom prst="rect">
            <a:avLst/>
          </a:prstGeom>
          <a:noFill/>
        </p:spPr>
        <p:txBody>
          <a:bodyPr wrap="square">
            <a:spAutoFit/>
          </a:bodyPr>
          <a:lstStyle/>
          <a:p>
            <a:pPr algn="l"/>
            <a:r>
              <a:rPr lang="en-GB" sz="900" b="1" i="0" dirty="0">
                <a:solidFill>
                  <a:srgbClr val="D85A30"/>
                </a:solidFill>
                <a:latin typeface="Calibri"/>
              </a:rPr>
              <a:t>Rainfall and CPI peaked simultaneously - compounding risk</a:t>
            </a:r>
          </a:p>
        </p:txBody>
      </p:sp>
      <p:sp>
        <p:nvSpPr>
          <p:cNvPr id="13" name="TextBox 12">
            <a:extLst>
              <a:ext uri="{FF2B5EF4-FFF2-40B4-BE49-F238E27FC236}">
                <a16:creationId xmlns:a16="http://schemas.microsoft.com/office/drawing/2014/main" id="{85253226-666D-B5F1-778A-3468B93B5D08}"/>
              </a:ext>
            </a:extLst>
          </p:cNvPr>
          <p:cNvSpPr txBox="1"/>
          <p:nvPr/>
        </p:nvSpPr>
        <p:spPr>
          <a:xfrm>
            <a:off x="6495202" y="1444328"/>
            <a:ext cx="2608502" cy="923330"/>
          </a:xfrm>
          <a:prstGeom prst="rect">
            <a:avLst/>
          </a:prstGeom>
          <a:noFill/>
        </p:spPr>
        <p:txBody>
          <a:bodyPr wrap="square">
            <a:spAutoFit/>
          </a:bodyPr>
          <a:lstStyle/>
          <a:p>
            <a:r>
              <a:rPr lang="en-AU" sz="900" dirty="0"/>
              <a:t>In FY 2022/23, SA had the most rainfall in the dataset roughly 2,633 mm while the CPI reached a peak of 9.2%. High rainfall indicated favourable growing conditions, however production fell to 1.01 million tons that year despite both variables rising at the same time. </a:t>
            </a:r>
            <a:endParaRPr sz="100" b="0" i="0" dirty="0">
              <a:solidFill>
                <a:srgbClr val="0B1F12"/>
              </a:solidFill>
              <a:latin typeface="Calibri"/>
            </a:endParaRPr>
          </a:p>
        </p:txBody>
      </p:sp>
      <p:sp>
        <p:nvSpPr>
          <p:cNvPr id="14" name="Rectangle 13">
            <a:extLst>
              <a:ext uri="{FF2B5EF4-FFF2-40B4-BE49-F238E27FC236}">
                <a16:creationId xmlns:a16="http://schemas.microsoft.com/office/drawing/2014/main" id="{46F74242-F845-264E-95D6-2E6878FEDB8F}"/>
              </a:ext>
            </a:extLst>
          </p:cNvPr>
          <p:cNvSpPr/>
          <p:nvPr/>
        </p:nvSpPr>
        <p:spPr>
          <a:xfrm>
            <a:off x="6395039" y="2421929"/>
            <a:ext cx="2616373" cy="1281215"/>
          </a:xfrm>
          <a:prstGeom prst="rect">
            <a:avLst/>
          </a:prstGeom>
          <a:solidFill>
            <a:srgbClr val="FFFFFF"/>
          </a:solidFill>
          <a:ln w="8890">
            <a:solidFill>
              <a:srgbClr val="2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7EC7BEE7-D074-7F6A-C725-D4F01235C421}"/>
              </a:ext>
            </a:extLst>
          </p:cNvPr>
          <p:cNvSpPr/>
          <p:nvPr/>
        </p:nvSpPr>
        <p:spPr>
          <a:xfrm>
            <a:off x="6391062" y="2431775"/>
            <a:ext cx="50887" cy="1265654"/>
          </a:xfrm>
          <a:prstGeom prst="rect">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E4D84186-684C-E3AE-CA44-4A75084F87A9}"/>
              </a:ext>
            </a:extLst>
          </p:cNvPr>
          <p:cNvSpPr/>
          <p:nvPr/>
        </p:nvSpPr>
        <p:spPr>
          <a:xfrm>
            <a:off x="6474450" y="2460441"/>
            <a:ext cx="310896" cy="310896"/>
          </a:xfrm>
          <a:prstGeom prst="ellipse">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5</a:t>
            </a:r>
            <a:endParaRPr sz="1000" b="1" dirty="0">
              <a:solidFill>
                <a:srgbClr val="FFFFFF"/>
              </a:solidFill>
              <a:latin typeface="Calibri"/>
            </a:endParaRPr>
          </a:p>
        </p:txBody>
      </p:sp>
      <p:sp>
        <p:nvSpPr>
          <p:cNvPr id="17" name="TextBox 16">
            <a:extLst>
              <a:ext uri="{FF2B5EF4-FFF2-40B4-BE49-F238E27FC236}">
                <a16:creationId xmlns:a16="http://schemas.microsoft.com/office/drawing/2014/main" id="{032B5DC9-C99B-F792-4493-BD39DEDB81BF}"/>
              </a:ext>
            </a:extLst>
          </p:cNvPr>
          <p:cNvSpPr txBox="1"/>
          <p:nvPr/>
        </p:nvSpPr>
        <p:spPr>
          <a:xfrm>
            <a:off x="6742306" y="2399865"/>
            <a:ext cx="2269106" cy="369332"/>
          </a:xfrm>
          <a:prstGeom prst="rect">
            <a:avLst/>
          </a:prstGeom>
          <a:noFill/>
        </p:spPr>
        <p:txBody>
          <a:bodyPr wrap="square">
            <a:spAutoFit/>
          </a:bodyPr>
          <a:lstStyle/>
          <a:p>
            <a:pPr algn="l"/>
            <a:r>
              <a:rPr lang="en-GB" sz="900" b="1" i="0" dirty="0">
                <a:solidFill>
                  <a:srgbClr val="2D8A4E"/>
                </a:solidFill>
                <a:latin typeface="Calibri"/>
              </a:rPr>
              <a:t>Rainfall falling while CPI remains elevated - double squeeze</a:t>
            </a:r>
          </a:p>
        </p:txBody>
      </p:sp>
      <p:sp>
        <p:nvSpPr>
          <p:cNvPr id="18" name="TextBox 17">
            <a:extLst>
              <a:ext uri="{FF2B5EF4-FFF2-40B4-BE49-F238E27FC236}">
                <a16:creationId xmlns:a16="http://schemas.microsoft.com/office/drawing/2014/main" id="{9568DCA5-4A1C-D9F8-EDF5-765CAA01D700}"/>
              </a:ext>
            </a:extLst>
          </p:cNvPr>
          <p:cNvSpPr txBox="1"/>
          <p:nvPr/>
        </p:nvSpPr>
        <p:spPr>
          <a:xfrm>
            <a:off x="6441949" y="2852701"/>
            <a:ext cx="2641003" cy="784830"/>
          </a:xfrm>
          <a:prstGeom prst="rect">
            <a:avLst/>
          </a:prstGeom>
          <a:noFill/>
        </p:spPr>
        <p:txBody>
          <a:bodyPr wrap="square">
            <a:spAutoFit/>
          </a:bodyPr>
          <a:lstStyle/>
          <a:p>
            <a:r>
              <a:rPr lang="en-AU" sz="900" dirty="0"/>
              <a:t>SA rainfall dropped significantly from its peak of 2,633 mm in 2022/23 to 1,531 mm in 2023/24 and then to 1,352 mm in 2024/25, a 49% decrease in just 2 years. Simultaneously CPI has only decreased from 9.2% to 3.0%, still beyond the RBA's target range. </a:t>
            </a:r>
            <a:endParaRPr sz="100" b="0" i="0" dirty="0">
              <a:solidFill>
                <a:srgbClr val="0B1F12"/>
              </a:solidFill>
              <a:latin typeface="Calibri"/>
            </a:endParaRPr>
          </a:p>
        </p:txBody>
      </p:sp>
      <p:sp>
        <p:nvSpPr>
          <p:cNvPr id="19" name="Rectangle 18">
            <a:extLst>
              <a:ext uri="{FF2B5EF4-FFF2-40B4-BE49-F238E27FC236}">
                <a16:creationId xmlns:a16="http://schemas.microsoft.com/office/drawing/2014/main" id="{5593D8F2-56E4-F5E3-2217-4B95B7460CA6}"/>
              </a:ext>
            </a:extLst>
          </p:cNvPr>
          <p:cNvSpPr/>
          <p:nvPr/>
        </p:nvSpPr>
        <p:spPr>
          <a:xfrm>
            <a:off x="6380092" y="3768030"/>
            <a:ext cx="2622135" cy="1296133"/>
          </a:xfrm>
          <a:prstGeom prst="rect">
            <a:avLst/>
          </a:prstGeom>
          <a:solidFill>
            <a:srgbClr val="FFFFFF"/>
          </a:solidFill>
          <a:ln w="8890">
            <a:solidFill>
              <a:srgbClr val="E8A2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66DF18EB-4C5F-E9E7-05E5-CA2CC51D3592}"/>
              </a:ext>
            </a:extLst>
          </p:cNvPr>
          <p:cNvSpPr/>
          <p:nvPr/>
        </p:nvSpPr>
        <p:spPr>
          <a:xfrm>
            <a:off x="6375478" y="3779636"/>
            <a:ext cx="45719" cy="1295141"/>
          </a:xfrm>
          <a:prstGeom prst="rect">
            <a:avLst/>
          </a:prstGeom>
          <a:solidFill>
            <a:srgbClr val="E8A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a:extLst>
              <a:ext uri="{FF2B5EF4-FFF2-40B4-BE49-F238E27FC236}">
                <a16:creationId xmlns:a16="http://schemas.microsoft.com/office/drawing/2014/main" id="{AD8BE9AD-58AB-AFBB-3CC8-AD8FA73D9228}"/>
              </a:ext>
            </a:extLst>
          </p:cNvPr>
          <p:cNvSpPr/>
          <p:nvPr/>
        </p:nvSpPr>
        <p:spPr>
          <a:xfrm>
            <a:off x="6441949" y="3790100"/>
            <a:ext cx="310896" cy="310896"/>
          </a:xfrm>
          <a:prstGeom prst="ellipse">
            <a:avLst/>
          </a:prstGeom>
          <a:solidFill>
            <a:srgbClr val="E8A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6</a:t>
            </a:r>
            <a:endParaRPr sz="1000" b="1" dirty="0">
              <a:solidFill>
                <a:srgbClr val="FFFFFF"/>
              </a:solidFill>
              <a:latin typeface="Calibri"/>
            </a:endParaRPr>
          </a:p>
        </p:txBody>
      </p:sp>
      <p:sp>
        <p:nvSpPr>
          <p:cNvPr id="22" name="TextBox 21">
            <a:extLst>
              <a:ext uri="{FF2B5EF4-FFF2-40B4-BE49-F238E27FC236}">
                <a16:creationId xmlns:a16="http://schemas.microsoft.com/office/drawing/2014/main" id="{74EA9228-9601-5B87-A509-B6B6BB845B83}"/>
              </a:ext>
            </a:extLst>
          </p:cNvPr>
          <p:cNvSpPr txBox="1"/>
          <p:nvPr/>
        </p:nvSpPr>
        <p:spPr>
          <a:xfrm>
            <a:off x="6693069" y="3757415"/>
            <a:ext cx="2450931" cy="369332"/>
          </a:xfrm>
          <a:prstGeom prst="rect">
            <a:avLst/>
          </a:prstGeom>
          <a:noFill/>
        </p:spPr>
        <p:txBody>
          <a:bodyPr wrap="square">
            <a:spAutoFit/>
          </a:bodyPr>
          <a:lstStyle/>
          <a:p>
            <a:pPr algn="l"/>
            <a:r>
              <a:rPr lang="en-GB" sz="900" b="1" i="0" dirty="0">
                <a:solidFill>
                  <a:srgbClr val="E8A230"/>
                </a:solidFill>
                <a:latin typeface="Calibri"/>
              </a:rPr>
              <a:t>2024/25 breaks pattern - drought buffer collapse confirmed</a:t>
            </a:r>
          </a:p>
        </p:txBody>
      </p:sp>
      <p:sp>
        <p:nvSpPr>
          <p:cNvPr id="23" name="TextBox 22">
            <a:extLst>
              <a:ext uri="{FF2B5EF4-FFF2-40B4-BE49-F238E27FC236}">
                <a16:creationId xmlns:a16="http://schemas.microsoft.com/office/drawing/2014/main" id="{15EB2525-6E90-24A9-02FB-5891B38E62EC}"/>
              </a:ext>
            </a:extLst>
          </p:cNvPr>
          <p:cNvSpPr txBox="1"/>
          <p:nvPr/>
        </p:nvSpPr>
        <p:spPr>
          <a:xfrm>
            <a:off x="6495202" y="4043308"/>
            <a:ext cx="2527777" cy="1061829"/>
          </a:xfrm>
          <a:prstGeom prst="rect">
            <a:avLst/>
          </a:prstGeom>
          <a:noFill/>
        </p:spPr>
        <p:txBody>
          <a:bodyPr wrap="square">
            <a:spAutoFit/>
          </a:bodyPr>
          <a:lstStyle/>
          <a:p>
            <a:r>
              <a:rPr lang="en-AU" sz="900" dirty="0"/>
              <a:t>The graph indicates that the two variables moved somewhat independently in all prior years when rainfall was comparatively lower, such as in 2020/21 and 2023/24. But in 2024/25, production fell together with rainfall and CPI, marking the first time that all three factors moved in the same direction. </a:t>
            </a:r>
            <a:endParaRPr sz="900" b="0" i="0" dirty="0">
              <a:solidFill>
                <a:srgbClr val="0B1F12"/>
              </a:solidFill>
              <a:latin typeface="Calibri"/>
            </a:endParaRPr>
          </a:p>
        </p:txBody>
      </p:sp>
      <p:sp>
        <p:nvSpPr>
          <p:cNvPr id="24" name="TextBox 23">
            <a:extLst>
              <a:ext uri="{FF2B5EF4-FFF2-40B4-BE49-F238E27FC236}">
                <a16:creationId xmlns:a16="http://schemas.microsoft.com/office/drawing/2014/main" id="{49381678-A8FA-2011-E895-553494CD3458}"/>
              </a:ext>
            </a:extLst>
          </p:cNvPr>
          <p:cNvSpPr txBox="1"/>
          <p:nvPr/>
        </p:nvSpPr>
        <p:spPr>
          <a:xfrm>
            <a:off x="164592" y="6638544"/>
            <a:ext cx="8778240" cy="164592"/>
          </a:xfrm>
          <a:prstGeom prst="rect">
            <a:avLst/>
          </a:prstGeom>
          <a:noFill/>
        </p:spPr>
        <p:txBody>
          <a:bodyPr wrap="square">
            <a:spAutoFit/>
          </a:bodyPr>
          <a:lstStyle/>
          <a:p>
            <a:pPr algn="l"/>
            <a:r>
              <a:rPr sz="720" b="0" i="1">
                <a:solidFill>
                  <a:srgbClr val="94A3B8"/>
                </a:solidFill>
                <a:latin typeface="Calibri"/>
              </a:rPr>
              <a:t>Source: BOM 2026; ABS 2025  ·  Power BI  ·  DATA6000 Capstone</a:t>
            </a:r>
          </a:p>
        </p:txBody>
      </p:sp>
      <p:pic>
        <p:nvPicPr>
          <p:cNvPr id="2" name="Picture 1" descr="Rain_v_CPI.png">
            <a:extLst>
              <a:ext uri="{FF2B5EF4-FFF2-40B4-BE49-F238E27FC236}">
                <a16:creationId xmlns:a16="http://schemas.microsoft.com/office/drawing/2014/main" id="{E3BF7BBA-389A-9155-448E-7A95D3D1A5A6}"/>
              </a:ext>
            </a:extLst>
          </p:cNvPr>
          <p:cNvPicPr>
            <a:picLocks noChangeAspect="1"/>
          </p:cNvPicPr>
          <p:nvPr/>
        </p:nvPicPr>
        <p:blipFill>
          <a:blip r:embed="rId3"/>
          <a:stretch>
            <a:fillRect/>
          </a:stretch>
        </p:blipFill>
        <p:spPr>
          <a:xfrm>
            <a:off x="57595" y="658368"/>
            <a:ext cx="6234176" cy="4279392"/>
          </a:xfrm>
          <a:prstGeom prst="rect">
            <a:avLst/>
          </a:prstGeom>
        </p:spPr>
      </p:pic>
      <p:sp>
        <p:nvSpPr>
          <p:cNvPr id="28" name="TextBox 27">
            <a:extLst>
              <a:ext uri="{FF2B5EF4-FFF2-40B4-BE49-F238E27FC236}">
                <a16:creationId xmlns:a16="http://schemas.microsoft.com/office/drawing/2014/main" id="{F0E790F0-01A5-4AC6-7A3E-727DC7071CC2}"/>
              </a:ext>
            </a:extLst>
          </p:cNvPr>
          <p:cNvSpPr txBox="1"/>
          <p:nvPr/>
        </p:nvSpPr>
        <p:spPr>
          <a:xfrm>
            <a:off x="9020576" y="4914724"/>
            <a:ext cx="114300" cy="215444"/>
          </a:xfrm>
          <a:prstGeom prst="rect">
            <a:avLst/>
          </a:prstGeom>
          <a:noFill/>
        </p:spPr>
        <p:txBody>
          <a:bodyPr wrap="square" rtlCol="0">
            <a:spAutoFit/>
          </a:bodyPr>
          <a:lstStyle/>
          <a:p>
            <a:r>
              <a:rPr lang="en-AU" sz="800" dirty="0">
                <a:solidFill>
                  <a:schemeClr val="accent6">
                    <a:lumMod val="40000"/>
                    <a:lumOff val="60000"/>
                  </a:schemeClr>
                </a:solidFill>
              </a:rPr>
              <a:t>8</a:t>
            </a:r>
            <a:endParaRPr lang="en-AU" dirty="0">
              <a:solidFill>
                <a:schemeClr val="accent6">
                  <a:lumMod val="40000"/>
                  <a:lumOff val="60000"/>
                </a:schemeClr>
              </a:solidFill>
            </a:endParaRPr>
          </a:p>
        </p:txBody>
      </p:sp>
    </p:spTree>
    <p:extLst>
      <p:ext uri="{BB962C8B-B14F-4D97-AF65-F5344CB8AC3E}">
        <p14:creationId xmlns:p14="http://schemas.microsoft.com/office/powerpoint/2010/main" val="1226193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14C78-5D17-09AF-985F-7F7391DF9638}"/>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14F1745F-78CF-7F8C-9FBC-E3C1D2B75965}"/>
              </a:ext>
            </a:extLst>
          </p:cNvPr>
          <p:cNvPicPr>
            <a:picLocks noChangeAspect="1"/>
          </p:cNvPicPr>
          <p:nvPr/>
        </p:nvPicPr>
        <p:blipFill>
          <a:blip r:embed="rId2"/>
          <a:stretch>
            <a:fillRect/>
          </a:stretch>
        </p:blipFill>
        <p:spPr>
          <a:xfrm>
            <a:off x="-1" y="0"/>
            <a:ext cx="9152589" cy="5143500"/>
          </a:xfrm>
          <a:prstGeom prst="rect">
            <a:avLst/>
          </a:prstGeom>
        </p:spPr>
      </p:pic>
      <p:sp>
        <p:nvSpPr>
          <p:cNvPr id="3" name="Rectangle 2">
            <a:extLst>
              <a:ext uri="{FF2B5EF4-FFF2-40B4-BE49-F238E27FC236}">
                <a16:creationId xmlns:a16="http://schemas.microsoft.com/office/drawing/2014/main" id="{E4550DF8-B1B4-ADC8-7051-59A843250C11}"/>
              </a:ext>
            </a:extLst>
          </p:cNvPr>
          <p:cNvSpPr/>
          <p:nvPr/>
        </p:nvSpPr>
        <p:spPr>
          <a:xfrm>
            <a:off x="0" y="0"/>
            <a:ext cx="9144000" cy="54864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08046E5-ABD8-C673-6C11-60A8985E1AE6}"/>
              </a:ext>
            </a:extLst>
          </p:cNvPr>
          <p:cNvSpPr txBox="1"/>
          <p:nvPr/>
        </p:nvSpPr>
        <p:spPr>
          <a:xfrm>
            <a:off x="201168" y="36576"/>
            <a:ext cx="8412480" cy="323165"/>
          </a:xfrm>
          <a:prstGeom prst="rect">
            <a:avLst/>
          </a:prstGeom>
          <a:noFill/>
        </p:spPr>
        <p:txBody>
          <a:bodyPr wrap="square">
            <a:spAutoFit/>
          </a:bodyPr>
          <a:lstStyle/>
          <a:p>
            <a:r>
              <a:rPr lang="en-GB" sz="1500" b="1" dirty="0">
                <a:solidFill>
                  <a:srgbClr val="FFFFFF"/>
                </a:solidFill>
              </a:rPr>
              <a:t>Descriptive Analysis — Total Rainfall and Fruit Production by Year</a:t>
            </a:r>
          </a:p>
        </p:txBody>
      </p:sp>
      <p:sp>
        <p:nvSpPr>
          <p:cNvPr id="5" name="TextBox 4">
            <a:extLst>
              <a:ext uri="{FF2B5EF4-FFF2-40B4-BE49-F238E27FC236}">
                <a16:creationId xmlns:a16="http://schemas.microsoft.com/office/drawing/2014/main" id="{6F2C3DA2-DF0E-B0B5-5E64-BE674DF33DA4}"/>
              </a:ext>
            </a:extLst>
          </p:cNvPr>
          <p:cNvSpPr txBox="1"/>
          <p:nvPr/>
        </p:nvSpPr>
        <p:spPr>
          <a:xfrm>
            <a:off x="201168" y="329184"/>
            <a:ext cx="8412480" cy="215444"/>
          </a:xfrm>
          <a:prstGeom prst="rect">
            <a:avLst/>
          </a:prstGeom>
          <a:noFill/>
        </p:spPr>
        <p:txBody>
          <a:bodyPr wrap="square">
            <a:spAutoFit/>
          </a:bodyPr>
          <a:lstStyle/>
          <a:p>
            <a:r>
              <a:rPr lang="fr-FR" sz="800" i="1" dirty="0">
                <a:solidFill>
                  <a:srgbClr val="5AAF6A"/>
                </a:solidFill>
              </a:rPr>
              <a:t>SA </a:t>
            </a:r>
            <a:r>
              <a:rPr lang="fr-FR" sz="800" i="1" dirty="0" err="1">
                <a:solidFill>
                  <a:srgbClr val="5AAF6A"/>
                </a:solidFill>
              </a:rPr>
              <a:t>rainfall</a:t>
            </a:r>
            <a:r>
              <a:rPr lang="fr-FR" sz="800" i="1" dirty="0">
                <a:solidFill>
                  <a:srgbClr val="5AAF6A"/>
                </a:solidFill>
              </a:rPr>
              <a:t> vs fruit production tonnes — FY 2020/21–2024/25</a:t>
            </a:r>
          </a:p>
        </p:txBody>
      </p:sp>
      <p:sp>
        <p:nvSpPr>
          <p:cNvPr id="7" name="Rectangle 6">
            <a:extLst>
              <a:ext uri="{FF2B5EF4-FFF2-40B4-BE49-F238E27FC236}">
                <a16:creationId xmlns:a16="http://schemas.microsoft.com/office/drawing/2014/main" id="{A4448203-FD99-BD59-D31D-D666EF0224A5}"/>
              </a:ext>
            </a:extLst>
          </p:cNvPr>
          <p:cNvSpPr/>
          <p:nvPr/>
        </p:nvSpPr>
        <p:spPr>
          <a:xfrm>
            <a:off x="6402911" y="658368"/>
            <a:ext cx="2576498" cy="27432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BC76AD5-10D2-3CCC-4A6B-A7616EAD2772}"/>
              </a:ext>
            </a:extLst>
          </p:cNvPr>
          <p:cNvSpPr txBox="1"/>
          <p:nvPr/>
        </p:nvSpPr>
        <p:spPr>
          <a:xfrm>
            <a:off x="5788152" y="663831"/>
            <a:ext cx="3699803" cy="223138"/>
          </a:xfrm>
          <a:prstGeom prst="rect">
            <a:avLst/>
          </a:prstGeom>
          <a:noFill/>
        </p:spPr>
        <p:txBody>
          <a:bodyPr wrap="square">
            <a:spAutoFit/>
          </a:bodyPr>
          <a:lstStyle/>
          <a:p>
            <a:pPr algn="ctr"/>
            <a:r>
              <a:rPr sz="850" b="1" i="0" dirty="0">
                <a:solidFill>
                  <a:srgbClr val="E8A230"/>
                </a:solidFill>
                <a:latin typeface="Calibri"/>
              </a:rPr>
              <a:t>KEY INSIGHTS</a:t>
            </a:r>
          </a:p>
        </p:txBody>
      </p:sp>
      <p:sp>
        <p:nvSpPr>
          <p:cNvPr id="9" name="Rectangle 8">
            <a:extLst>
              <a:ext uri="{FF2B5EF4-FFF2-40B4-BE49-F238E27FC236}">
                <a16:creationId xmlns:a16="http://schemas.microsoft.com/office/drawing/2014/main" id="{15D957B1-CD1E-138C-ADF2-2C6D83039311}"/>
              </a:ext>
            </a:extLst>
          </p:cNvPr>
          <p:cNvSpPr/>
          <p:nvPr/>
        </p:nvSpPr>
        <p:spPr>
          <a:xfrm>
            <a:off x="6402910" y="1042416"/>
            <a:ext cx="2608502" cy="1673816"/>
          </a:xfrm>
          <a:prstGeom prst="rect">
            <a:avLst/>
          </a:prstGeom>
          <a:solidFill>
            <a:srgbClr val="FFFFFF"/>
          </a:solidFill>
          <a:ln w="8890">
            <a:solidFill>
              <a:srgbClr val="D85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63815178-A09C-3DE0-2C5F-57E283618098}"/>
              </a:ext>
            </a:extLst>
          </p:cNvPr>
          <p:cNvSpPr/>
          <p:nvPr/>
        </p:nvSpPr>
        <p:spPr>
          <a:xfrm>
            <a:off x="6402910" y="1036527"/>
            <a:ext cx="45719" cy="1679705"/>
          </a:xfrm>
          <a:prstGeom prst="rect">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96EA4C59-3ACB-0183-5CAC-BF3E174BC164}"/>
              </a:ext>
            </a:extLst>
          </p:cNvPr>
          <p:cNvSpPr/>
          <p:nvPr/>
        </p:nvSpPr>
        <p:spPr>
          <a:xfrm>
            <a:off x="6467415" y="1068445"/>
            <a:ext cx="310896" cy="310896"/>
          </a:xfrm>
          <a:prstGeom prst="ellipse">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7</a:t>
            </a:r>
            <a:endParaRPr sz="1000" b="1" dirty="0">
              <a:solidFill>
                <a:srgbClr val="FFFFFF"/>
              </a:solidFill>
              <a:latin typeface="Calibri"/>
            </a:endParaRPr>
          </a:p>
        </p:txBody>
      </p:sp>
      <p:sp>
        <p:nvSpPr>
          <p:cNvPr id="12" name="TextBox 11">
            <a:extLst>
              <a:ext uri="{FF2B5EF4-FFF2-40B4-BE49-F238E27FC236}">
                <a16:creationId xmlns:a16="http://schemas.microsoft.com/office/drawing/2014/main" id="{F9DDB202-C257-DEB8-166B-3A5B1CF474F7}"/>
              </a:ext>
            </a:extLst>
          </p:cNvPr>
          <p:cNvSpPr txBox="1"/>
          <p:nvPr/>
        </p:nvSpPr>
        <p:spPr>
          <a:xfrm>
            <a:off x="6742306" y="1058594"/>
            <a:ext cx="2050002" cy="369332"/>
          </a:xfrm>
          <a:prstGeom prst="rect">
            <a:avLst/>
          </a:prstGeom>
          <a:noFill/>
        </p:spPr>
        <p:txBody>
          <a:bodyPr wrap="square">
            <a:spAutoFit/>
          </a:bodyPr>
          <a:lstStyle/>
          <a:p>
            <a:pPr algn="l"/>
            <a:r>
              <a:rPr lang="en-GB" sz="900" b="1" i="0" dirty="0">
                <a:solidFill>
                  <a:srgbClr val="D85A30"/>
                </a:solidFill>
                <a:latin typeface="Calibri"/>
              </a:rPr>
              <a:t>Fruit production decoupled from rainfall - irrigation dependency</a:t>
            </a:r>
          </a:p>
        </p:txBody>
      </p:sp>
      <p:sp>
        <p:nvSpPr>
          <p:cNvPr id="13" name="TextBox 12">
            <a:extLst>
              <a:ext uri="{FF2B5EF4-FFF2-40B4-BE49-F238E27FC236}">
                <a16:creationId xmlns:a16="http://schemas.microsoft.com/office/drawing/2014/main" id="{BD71786F-57DA-D104-E53E-5E8764A6EAE4}"/>
              </a:ext>
            </a:extLst>
          </p:cNvPr>
          <p:cNvSpPr txBox="1"/>
          <p:nvPr/>
        </p:nvSpPr>
        <p:spPr>
          <a:xfrm>
            <a:off x="6495202" y="1374697"/>
            <a:ext cx="2608502" cy="1323439"/>
          </a:xfrm>
          <a:prstGeom prst="rect">
            <a:avLst/>
          </a:prstGeom>
          <a:noFill/>
        </p:spPr>
        <p:txBody>
          <a:bodyPr wrap="square">
            <a:spAutoFit/>
          </a:bodyPr>
          <a:lstStyle/>
          <a:p>
            <a:r>
              <a:rPr lang="en-AU" sz="800" dirty="0"/>
              <a:t>Rainfall varied significantly across 5 years, nearly doubling from a low of 1,352 mm in 2024/25 to a high of 2,687 mm in 2022/23. However, fruit production stayed impressively steady, varying by only 7% between 242K and 259K tonnes. Fruit plantations in SA, including citrus, stone fruits, apples, and pears, rely almost </a:t>
            </a:r>
            <a:r>
              <a:rPr lang="en-AU" sz="700" dirty="0"/>
              <a:t>exclusively</a:t>
            </a:r>
            <a:r>
              <a:rPr lang="en-AU" sz="800" dirty="0"/>
              <a:t> on regulated drip irrigation from the Murray River and groundwater systems rather than natural rainfall, as evidenced by this nearly flat reaction to significant rainfall swings.</a:t>
            </a:r>
            <a:endParaRPr sz="100" b="0" i="0" dirty="0">
              <a:solidFill>
                <a:srgbClr val="0B1F12"/>
              </a:solidFill>
              <a:latin typeface="Calibri"/>
            </a:endParaRPr>
          </a:p>
        </p:txBody>
      </p:sp>
      <p:sp>
        <p:nvSpPr>
          <p:cNvPr id="14" name="Rectangle 13">
            <a:extLst>
              <a:ext uri="{FF2B5EF4-FFF2-40B4-BE49-F238E27FC236}">
                <a16:creationId xmlns:a16="http://schemas.microsoft.com/office/drawing/2014/main" id="{15599730-97F7-94F4-845F-12F9D49E20A2}"/>
              </a:ext>
            </a:extLst>
          </p:cNvPr>
          <p:cNvSpPr/>
          <p:nvPr/>
        </p:nvSpPr>
        <p:spPr>
          <a:xfrm>
            <a:off x="6425769" y="2793856"/>
            <a:ext cx="2616373" cy="1935100"/>
          </a:xfrm>
          <a:prstGeom prst="rect">
            <a:avLst/>
          </a:prstGeom>
          <a:solidFill>
            <a:srgbClr val="FFFFFF"/>
          </a:solidFill>
          <a:ln w="8890">
            <a:solidFill>
              <a:srgbClr val="2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DF310FF8-1449-3AC9-93D1-BE5CAFFF709D}"/>
              </a:ext>
            </a:extLst>
          </p:cNvPr>
          <p:cNvSpPr/>
          <p:nvPr/>
        </p:nvSpPr>
        <p:spPr>
          <a:xfrm>
            <a:off x="6425769" y="2793856"/>
            <a:ext cx="69433" cy="1935100"/>
          </a:xfrm>
          <a:prstGeom prst="rect">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49FCFF25-F44D-5BA2-2EE6-FFFE2A6FD2F5}"/>
              </a:ext>
            </a:extLst>
          </p:cNvPr>
          <p:cNvSpPr/>
          <p:nvPr/>
        </p:nvSpPr>
        <p:spPr>
          <a:xfrm>
            <a:off x="6511586" y="2838916"/>
            <a:ext cx="310896" cy="310896"/>
          </a:xfrm>
          <a:prstGeom prst="ellipse">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8</a:t>
            </a:r>
            <a:endParaRPr sz="1000" b="1" dirty="0">
              <a:solidFill>
                <a:srgbClr val="FFFFFF"/>
              </a:solidFill>
              <a:latin typeface="Calibri"/>
            </a:endParaRPr>
          </a:p>
        </p:txBody>
      </p:sp>
      <p:sp>
        <p:nvSpPr>
          <p:cNvPr id="17" name="TextBox 16">
            <a:extLst>
              <a:ext uri="{FF2B5EF4-FFF2-40B4-BE49-F238E27FC236}">
                <a16:creationId xmlns:a16="http://schemas.microsoft.com/office/drawing/2014/main" id="{ADC7613E-8E69-7B21-178D-CFFA35E5D1AC}"/>
              </a:ext>
            </a:extLst>
          </p:cNvPr>
          <p:cNvSpPr txBox="1"/>
          <p:nvPr/>
        </p:nvSpPr>
        <p:spPr>
          <a:xfrm>
            <a:off x="6797759" y="2820820"/>
            <a:ext cx="2269106" cy="369332"/>
          </a:xfrm>
          <a:prstGeom prst="rect">
            <a:avLst/>
          </a:prstGeom>
          <a:noFill/>
        </p:spPr>
        <p:txBody>
          <a:bodyPr wrap="square">
            <a:spAutoFit/>
          </a:bodyPr>
          <a:lstStyle/>
          <a:p>
            <a:r>
              <a:rPr lang="en-GB" sz="900" b="1" dirty="0">
                <a:solidFill>
                  <a:srgbClr val="2D8A4E"/>
                </a:solidFill>
              </a:rPr>
              <a:t>Fruit decline is structural — not weather driven</a:t>
            </a:r>
          </a:p>
        </p:txBody>
      </p:sp>
      <p:sp>
        <p:nvSpPr>
          <p:cNvPr id="18" name="TextBox 17">
            <a:extLst>
              <a:ext uri="{FF2B5EF4-FFF2-40B4-BE49-F238E27FC236}">
                <a16:creationId xmlns:a16="http://schemas.microsoft.com/office/drawing/2014/main" id="{EDE20A27-8252-4937-661F-A7A654A73C61}"/>
              </a:ext>
            </a:extLst>
          </p:cNvPr>
          <p:cNvSpPr txBox="1"/>
          <p:nvPr/>
        </p:nvSpPr>
        <p:spPr>
          <a:xfrm>
            <a:off x="6511586" y="3149812"/>
            <a:ext cx="2641003" cy="1615827"/>
          </a:xfrm>
          <a:prstGeom prst="rect">
            <a:avLst/>
          </a:prstGeom>
          <a:noFill/>
        </p:spPr>
        <p:txBody>
          <a:bodyPr wrap="square">
            <a:spAutoFit/>
          </a:bodyPr>
          <a:lstStyle/>
          <a:p>
            <a:r>
              <a:rPr lang="en-AU" sz="900" dirty="0"/>
              <a:t>Fruit production reached in 2021/22 at 259,335 tonnes, which was neither the year with the highest nor the lowest rainfall. After that, it steadily decreased through 2022/23, 2023/24, and 2024/25, reaching 242,146 tonnes. The reduction is attributed to structural issues, such as farm exits under persistent cost pressure, aging orchard stock not being replenished, and lower Murray River water allocations during drought, as rainfall cannot account for this decline, which moved in numerous directions throughout the same period.</a:t>
            </a:r>
            <a:endParaRPr sz="900" b="0" i="0" dirty="0">
              <a:solidFill>
                <a:srgbClr val="0B1F12"/>
              </a:solidFill>
              <a:latin typeface="Calibri"/>
            </a:endParaRPr>
          </a:p>
        </p:txBody>
      </p:sp>
      <p:sp>
        <p:nvSpPr>
          <p:cNvPr id="24" name="TextBox 23">
            <a:extLst>
              <a:ext uri="{FF2B5EF4-FFF2-40B4-BE49-F238E27FC236}">
                <a16:creationId xmlns:a16="http://schemas.microsoft.com/office/drawing/2014/main" id="{7BAB444A-D798-3CDA-5D91-0E34E8BFC8DE}"/>
              </a:ext>
            </a:extLst>
          </p:cNvPr>
          <p:cNvSpPr txBox="1"/>
          <p:nvPr/>
        </p:nvSpPr>
        <p:spPr>
          <a:xfrm>
            <a:off x="164592" y="6638544"/>
            <a:ext cx="8778240" cy="164592"/>
          </a:xfrm>
          <a:prstGeom prst="rect">
            <a:avLst/>
          </a:prstGeom>
          <a:noFill/>
        </p:spPr>
        <p:txBody>
          <a:bodyPr wrap="square">
            <a:spAutoFit/>
          </a:bodyPr>
          <a:lstStyle/>
          <a:p>
            <a:pPr algn="l"/>
            <a:r>
              <a:rPr sz="720" b="0" i="1">
                <a:solidFill>
                  <a:srgbClr val="94A3B8"/>
                </a:solidFill>
                <a:latin typeface="Calibri"/>
              </a:rPr>
              <a:t>Source: BOM 2026; ABS 2025  ·  Power BI  ·  DATA6000 Capstone</a:t>
            </a:r>
          </a:p>
        </p:txBody>
      </p:sp>
      <p:pic>
        <p:nvPicPr>
          <p:cNvPr id="6" name="Picture 5" descr="Rain_V_fruits.png">
            <a:extLst>
              <a:ext uri="{FF2B5EF4-FFF2-40B4-BE49-F238E27FC236}">
                <a16:creationId xmlns:a16="http://schemas.microsoft.com/office/drawing/2014/main" id="{8A2F3890-44F1-5957-5F46-95968C38ED31}"/>
              </a:ext>
            </a:extLst>
          </p:cNvPr>
          <p:cNvPicPr>
            <a:picLocks noChangeAspect="1"/>
          </p:cNvPicPr>
          <p:nvPr/>
        </p:nvPicPr>
        <p:blipFill>
          <a:blip r:embed="rId3"/>
          <a:stretch>
            <a:fillRect/>
          </a:stretch>
        </p:blipFill>
        <p:spPr>
          <a:xfrm>
            <a:off x="61047" y="658368"/>
            <a:ext cx="6203435" cy="4258290"/>
          </a:xfrm>
          <a:prstGeom prst="rect">
            <a:avLst/>
          </a:prstGeom>
        </p:spPr>
      </p:pic>
      <p:sp>
        <p:nvSpPr>
          <p:cNvPr id="27" name="TextBox 26">
            <a:extLst>
              <a:ext uri="{FF2B5EF4-FFF2-40B4-BE49-F238E27FC236}">
                <a16:creationId xmlns:a16="http://schemas.microsoft.com/office/drawing/2014/main" id="{36DAAAAC-270A-2770-E82B-3CD3CDF740D8}"/>
              </a:ext>
            </a:extLst>
          </p:cNvPr>
          <p:cNvSpPr txBox="1"/>
          <p:nvPr/>
        </p:nvSpPr>
        <p:spPr>
          <a:xfrm>
            <a:off x="9020576" y="4914724"/>
            <a:ext cx="114300" cy="215444"/>
          </a:xfrm>
          <a:prstGeom prst="rect">
            <a:avLst/>
          </a:prstGeom>
          <a:noFill/>
        </p:spPr>
        <p:txBody>
          <a:bodyPr wrap="square" rtlCol="0">
            <a:spAutoFit/>
          </a:bodyPr>
          <a:lstStyle/>
          <a:p>
            <a:r>
              <a:rPr lang="en-AU" sz="800" dirty="0">
                <a:solidFill>
                  <a:schemeClr val="accent6">
                    <a:lumMod val="40000"/>
                    <a:lumOff val="60000"/>
                  </a:schemeClr>
                </a:solidFill>
              </a:rPr>
              <a:t>9</a:t>
            </a:r>
            <a:endParaRPr lang="en-AU" dirty="0">
              <a:solidFill>
                <a:schemeClr val="accent6">
                  <a:lumMod val="40000"/>
                  <a:lumOff val="60000"/>
                </a:schemeClr>
              </a:solidFill>
            </a:endParaRPr>
          </a:p>
        </p:txBody>
      </p:sp>
    </p:spTree>
    <p:extLst>
      <p:ext uri="{BB962C8B-B14F-4D97-AF65-F5344CB8AC3E}">
        <p14:creationId xmlns:p14="http://schemas.microsoft.com/office/powerpoint/2010/main" val="3199294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DD0B2-B431-FEBC-4B38-8F0ADBAC692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EE261507-3A69-8F10-7F66-056A40ABB786}"/>
              </a:ext>
            </a:extLst>
          </p:cNvPr>
          <p:cNvPicPr>
            <a:picLocks noChangeAspect="1"/>
          </p:cNvPicPr>
          <p:nvPr/>
        </p:nvPicPr>
        <p:blipFill>
          <a:blip r:embed="rId2"/>
          <a:stretch>
            <a:fillRect/>
          </a:stretch>
        </p:blipFill>
        <p:spPr>
          <a:xfrm>
            <a:off x="0" y="0"/>
            <a:ext cx="9144000" cy="5143500"/>
          </a:xfrm>
          <a:prstGeom prst="rect">
            <a:avLst/>
          </a:prstGeom>
        </p:spPr>
      </p:pic>
      <p:sp>
        <p:nvSpPr>
          <p:cNvPr id="3" name="Rectangle 2">
            <a:extLst>
              <a:ext uri="{FF2B5EF4-FFF2-40B4-BE49-F238E27FC236}">
                <a16:creationId xmlns:a16="http://schemas.microsoft.com/office/drawing/2014/main" id="{7BD50E2E-45B7-D610-3496-52097D0C1BCC}"/>
              </a:ext>
            </a:extLst>
          </p:cNvPr>
          <p:cNvSpPr/>
          <p:nvPr/>
        </p:nvSpPr>
        <p:spPr>
          <a:xfrm>
            <a:off x="0" y="0"/>
            <a:ext cx="9144000" cy="54864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4195CDC-15F7-1E4D-7B15-61729090940D}"/>
              </a:ext>
            </a:extLst>
          </p:cNvPr>
          <p:cNvSpPr txBox="1"/>
          <p:nvPr/>
        </p:nvSpPr>
        <p:spPr>
          <a:xfrm>
            <a:off x="201168" y="36576"/>
            <a:ext cx="8412480" cy="323165"/>
          </a:xfrm>
          <a:prstGeom prst="rect">
            <a:avLst/>
          </a:prstGeom>
          <a:noFill/>
        </p:spPr>
        <p:txBody>
          <a:bodyPr wrap="square">
            <a:spAutoFit/>
          </a:bodyPr>
          <a:lstStyle/>
          <a:p>
            <a:r>
              <a:rPr lang="en-GB" sz="1500" b="1" dirty="0">
                <a:solidFill>
                  <a:srgbClr val="FFFFFF"/>
                </a:solidFill>
              </a:rPr>
              <a:t>Descriptive Analysis — Total Rainfall and Vegetable Production by Year</a:t>
            </a:r>
          </a:p>
        </p:txBody>
      </p:sp>
      <p:sp>
        <p:nvSpPr>
          <p:cNvPr id="5" name="TextBox 4">
            <a:extLst>
              <a:ext uri="{FF2B5EF4-FFF2-40B4-BE49-F238E27FC236}">
                <a16:creationId xmlns:a16="http://schemas.microsoft.com/office/drawing/2014/main" id="{45F7D010-7F26-49BF-2109-AD9AB1DD17A2}"/>
              </a:ext>
            </a:extLst>
          </p:cNvPr>
          <p:cNvSpPr txBox="1"/>
          <p:nvPr/>
        </p:nvSpPr>
        <p:spPr>
          <a:xfrm>
            <a:off x="201168" y="329184"/>
            <a:ext cx="8412480" cy="215444"/>
          </a:xfrm>
          <a:prstGeom prst="rect">
            <a:avLst/>
          </a:prstGeom>
          <a:noFill/>
        </p:spPr>
        <p:txBody>
          <a:bodyPr wrap="square">
            <a:spAutoFit/>
          </a:bodyPr>
          <a:lstStyle/>
          <a:p>
            <a:r>
              <a:rPr lang="fr-FR" sz="800" i="1" dirty="0">
                <a:solidFill>
                  <a:srgbClr val="5AAF6A"/>
                </a:solidFill>
              </a:rPr>
              <a:t>SA Rainfall vs Vegetable production tonnes — R = −0.621 (p = 0.2634) — FY 2020/21–2024/25</a:t>
            </a:r>
          </a:p>
        </p:txBody>
      </p:sp>
      <p:sp>
        <p:nvSpPr>
          <p:cNvPr id="7" name="Rectangle 6">
            <a:extLst>
              <a:ext uri="{FF2B5EF4-FFF2-40B4-BE49-F238E27FC236}">
                <a16:creationId xmlns:a16="http://schemas.microsoft.com/office/drawing/2014/main" id="{246D641D-4E26-802A-5114-E12C4F85BB52}"/>
              </a:ext>
            </a:extLst>
          </p:cNvPr>
          <p:cNvSpPr/>
          <p:nvPr/>
        </p:nvSpPr>
        <p:spPr>
          <a:xfrm>
            <a:off x="6402911" y="658368"/>
            <a:ext cx="2576498" cy="27432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D700582C-7B30-2E1B-D0D5-132B54163D14}"/>
              </a:ext>
            </a:extLst>
          </p:cNvPr>
          <p:cNvSpPr txBox="1"/>
          <p:nvPr/>
        </p:nvSpPr>
        <p:spPr>
          <a:xfrm>
            <a:off x="5788152" y="663831"/>
            <a:ext cx="3699803" cy="223138"/>
          </a:xfrm>
          <a:prstGeom prst="rect">
            <a:avLst/>
          </a:prstGeom>
          <a:noFill/>
        </p:spPr>
        <p:txBody>
          <a:bodyPr wrap="square">
            <a:spAutoFit/>
          </a:bodyPr>
          <a:lstStyle/>
          <a:p>
            <a:pPr algn="ctr"/>
            <a:r>
              <a:rPr sz="850" b="1" i="0" dirty="0">
                <a:solidFill>
                  <a:srgbClr val="E8A230"/>
                </a:solidFill>
                <a:latin typeface="Calibri"/>
              </a:rPr>
              <a:t>KEY INSIGHTS</a:t>
            </a:r>
          </a:p>
        </p:txBody>
      </p:sp>
      <p:sp>
        <p:nvSpPr>
          <p:cNvPr id="9" name="Rectangle 8">
            <a:extLst>
              <a:ext uri="{FF2B5EF4-FFF2-40B4-BE49-F238E27FC236}">
                <a16:creationId xmlns:a16="http://schemas.microsoft.com/office/drawing/2014/main" id="{0D602B81-8BD1-DD27-59FD-E21F73B7D499}"/>
              </a:ext>
            </a:extLst>
          </p:cNvPr>
          <p:cNvSpPr/>
          <p:nvPr/>
        </p:nvSpPr>
        <p:spPr>
          <a:xfrm>
            <a:off x="6402910" y="1042416"/>
            <a:ext cx="2608502" cy="1673816"/>
          </a:xfrm>
          <a:prstGeom prst="rect">
            <a:avLst/>
          </a:prstGeom>
          <a:solidFill>
            <a:srgbClr val="FFFFFF"/>
          </a:solidFill>
          <a:ln w="8890">
            <a:solidFill>
              <a:srgbClr val="D85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C6361D6A-8295-04C6-49CC-743292005D25}"/>
              </a:ext>
            </a:extLst>
          </p:cNvPr>
          <p:cNvSpPr/>
          <p:nvPr/>
        </p:nvSpPr>
        <p:spPr>
          <a:xfrm>
            <a:off x="6402910" y="1036527"/>
            <a:ext cx="45719" cy="1679705"/>
          </a:xfrm>
          <a:prstGeom prst="rect">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FD1F61F6-C6C6-013D-32C9-B4F86C2D5B78}"/>
              </a:ext>
            </a:extLst>
          </p:cNvPr>
          <p:cNvSpPr/>
          <p:nvPr/>
        </p:nvSpPr>
        <p:spPr>
          <a:xfrm>
            <a:off x="6467415" y="1068445"/>
            <a:ext cx="310896" cy="310896"/>
          </a:xfrm>
          <a:prstGeom prst="ellipse">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9</a:t>
            </a:r>
            <a:endParaRPr sz="1000" b="1" dirty="0">
              <a:solidFill>
                <a:srgbClr val="FFFFFF"/>
              </a:solidFill>
              <a:latin typeface="Calibri"/>
            </a:endParaRPr>
          </a:p>
        </p:txBody>
      </p:sp>
      <p:sp>
        <p:nvSpPr>
          <p:cNvPr id="12" name="TextBox 11">
            <a:extLst>
              <a:ext uri="{FF2B5EF4-FFF2-40B4-BE49-F238E27FC236}">
                <a16:creationId xmlns:a16="http://schemas.microsoft.com/office/drawing/2014/main" id="{39C68E17-096E-C8E9-C161-92ABA3D9300A}"/>
              </a:ext>
            </a:extLst>
          </p:cNvPr>
          <p:cNvSpPr txBox="1"/>
          <p:nvPr/>
        </p:nvSpPr>
        <p:spPr>
          <a:xfrm>
            <a:off x="6742306" y="1058594"/>
            <a:ext cx="2050002" cy="369332"/>
          </a:xfrm>
          <a:prstGeom prst="rect">
            <a:avLst/>
          </a:prstGeom>
          <a:noFill/>
        </p:spPr>
        <p:txBody>
          <a:bodyPr wrap="square">
            <a:spAutoFit/>
          </a:bodyPr>
          <a:lstStyle/>
          <a:p>
            <a:pPr algn="l"/>
            <a:r>
              <a:rPr lang="en-GB" sz="900" b="1" i="0" dirty="0">
                <a:solidFill>
                  <a:srgbClr val="D85A30"/>
                </a:solidFill>
                <a:latin typeface="Calibri"/>
              </a:rPr>
              <a:t>Inverse pattern confirms irrigation dependency - R = -0.621</a:t>
            </a:r>
          </a:p>
        </p:txBody>
      </p:sp>
      <p:sp>
        <p:nvSpPr>
          <p:cNvPr id="13" name="TextBox 12">
            <a:extLst>
              <a:ext uri="{FF2B5EF4-FFF2-40B4-BE49-F238E27FC236}">
                <a16:creationId xmlns:a16="http://schemas.microsoft.com/office/drawing/2014/main" id="{9895C330-F1AC-C9DF-E45F-7885E16DF7BC}"/>
              </a:ext>
            </a:extLst>
          </p:cNvPr>
          <p:cNvSpPr txBox="1"/>
          <p:nvPr/>
        </p:nvSpPr>
        <p:spPr>
          <a:xfrm>
            <a:off x="6495202" y="1374697"/>
            <a:ext cx="2608502" cy="1338828"/>
          </a:xfrm>
          <a:prstGeom prst="rect">
            <a:avLst/>
          </a:prstGeom>
          <a:noFill/>
        </p:spPr>
        <p:txBody>
          <a:bodyPr wrap="square">
            <a:spAutoFit/>
          </a:bodyPr>
          <a:lstStyle/>
          <a:p>
            <a:r>
              <a:rPr lang="en-AU" sz="900" dirty="0"/>
              <a:t>The crossing from 2022/23 to 2023/24 is the most striking pattern on this chart. Vegetable production increased from 756K to 792K tonnes, its greatest point in the entire dataset, while rainfall fell sharply from 2,687mm to 1,531mm, a reduction of 1,156mm. This directly verifies the inverse relationship of Pearson R = −0.621 and is the most obvious visual evidence of the irrigation dependency discovery. </a:t>
            </a:r>
            <a:endParaRPr sz="900" b="0" i="0" dirty="0">
              <a:solidFill>
                <a:srgbClr val="0B1F12"/>
              </a:solidFill>
              <a:latin typeface="Calibri"/>
            </a:endParaRPr>
          </a:p>
        </p:txBody>
      </p:sp>
      <p:sp>
        <p:nvSpPr>
          <p:cNvPr id="14" name="Rectangle 13">
            <a:extLst>
              <a:ext uri="{FF2B5EF4-FFF2-40B4-BE49-F238E27FC236}">
                <a16:creationId xmlns:a16="http://schemas.microsoft.com/office/drawing/2014/main" id="{5D801389-079D-15C0-860E-0467947FC081}"/>
              </a:ext>
            </a:extLst>
          </p:cNvPr>
          <p:cNvSpPr/>
          <p:nvPr/>
        </p:nvSpPr>
        <p:spPr>
          <a:xfrm>
            <a:off x="6425769" y="2793856"/>
            <a:ext cx="2616373" cy="1935100"/>
          </a:xfrm>
          <a:prstGeom prst="rect">
            <a:avLst/>
          </a:prstGeom>
          <a:solidFill>
            <a:srgbClr val="FFFFFF"/>
          </a:solidFill>
          <a:ln w="8890">
            <a:solidFill>
              <a:srgbClr val="2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D40E9A81-D05A-6C92-E7D0-CFA71ED11608}"/>
              </a:ext>
            </a:extLst>
          </p:cNvPr>
          <p:cNvSpPr/>
          <p:nvPr/>
        </p:nvSpPr>
        <p:spPr>
          <a:xfrm>
            <a:off x="6425769" y="2793856"/>
            <a:ext cx="69433" cy="1935100"/>
          </a:xfrm>
          <a:prstGeom prst="rect">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B20F9704-6535-C8A6-9054-22DAAB7076E3}"/>
              </a:ext>
            </a:extLst>
          </p:cNvPr>
          <p:cNvSpPr/>
          <p:nvPr/>
        </p:nvSpPr>
        <p:spPr>
          <a:xfrm>
            <a:off x="6511586" y="2838916"/>
            <a:ext cx="310896" cy="310896"/>
          </a:xfrm>
          <a:prstGeom prst="ellipse">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10</a:t>
            </a:r>
            <a:endParaRPr sz="1000" b="1" dirty="0">
              <a:solidFill>
                <a:srgbClr val="FFFFFF"/>
              </a:solidFill>
              <a:latin typeface="Calibri"/>
            </a:endParaRPr>
          </a:p>
        </p:txBody>
      </p:sp>
      <p:sp>
        <p:nvSpPr>
          <p:cNvPr id="17" name="TextBox 16">
            <a:extLst>
              <a:ext uri="{FF2B5EF4-FFF2-40B4-BE49-F238E27FC236}">
                <a16:creationId xmlns:a16="http://schemas.microsoft.com/office/drawing/2014/main" id="{49CC234B-F1F1-D938-66D0-ACBCCD059FD4}"/>
              </a:ext>
            </a:extLst>
          </p:cNvPr>
          <p:cNvSpPr txBox="1"/>
          <p:nvPr/>
        </p:nvSpPr>
        <p:spPr>
          <a:xfrm>
            <a:off x="6797759" y="2820820"/>
            <a:ext cx="2269106" cy="369332"/>
          </a:xfrm>
          <a:prstGeom prst="rect">
            <a:avLst/>
          </a:prstGeom>
          <a:noFill/>
        </p:spPr>
        <p:txBody>
          <a:bodyPr wrap="square">
            <a:spAutoFit/>
          </a:bodyPr>
          <a:lstStyle/>
          <a:p>
            <a:r>
              <a:rPr lang="en-GB" sz="900" b="1" dirty="0">
                <a:solidFill>
                  <a:srgbClr val="2D8A4E"/>
                </a:solidFill>
              </a:rPr>
              <a:t>2024/25 breaks inverse pattern - buffer collapse visible in data</a:t>
            </a:r>
          </a:p>
        </p:txBody>
      </p:sp>
      <p:sp>
        <p:nvSpPr>
          <p:cNvPr id="18" name="TextBox 17">
            <a:extLst>
              <a:ext uri="{FF2B5EF4-FFF2-40B4-BE49-F238E27FC236}">
                <a16:creationId xmlns:a16="http://schemas.microsoft.com/office/drawing/2014/main" id="{2D2A620F-7262-E5DD-0AC9-0962506CE910}"/>
              </a:ext>
            </a:extLst>
          </p:cNvPr>
          <p:cNvSpPr txBox="1"/>
          <p:nvPr/>
        </p:nvSpPr>
        <p:spPr>
          <a:xfrm>
            <a:off x="6460485" y="3337514"/>
            <a:ext cx="2641003" cy="1061829"/>
          </a:xfrm>
          <a:prstGeom prst="rect">
            <a:avLst/>
          </a:prstGeom>
          <a:noFill/>
        </p:spPr>
        <p:txBody>
          <a:bodyPr wrap="square">
            <a:spAutoFit/>
          </a:bodyPr>
          <a:lstStyle/>
          <a:p>
            <a:r>
              <a:rPr lang="en-AU" sz="900" dirty="0"/>
              <a:t>For the first time in the dataset, rainfall drops to 1,352 mm in 2024/25, and vegetable production falls from 792K to 776K tonnes. The inverse relationship held in every prior year, with greater irrigation offsetting decreased rainfall. The most significant data point in the entire research is the simultaneous fall in 2024/25.</a:t>
            </a:r>
            <a:endParaRPr sz="900" b="0" i="0" dirty="0">
              <a:solidFill>
                <a:srgbClr val="0B1F12"/>
              </a:solidFill>
              <a:latin typeface="Calibri"/>
            </a:endParaRPr>
          </a:p>
        </p:txBody>
      </p:sp>
      <p:sp>
        <p:nvSpPr>
          <p:cNvPr id="24" name="TextBox 23">
            <a:extLst>
              <a:ext uri="{FF2B5EF4-FFF2-40B4-BE49-F238E27FC236}">
                <a16:creationId xmlns:a16="http://schemas.microsoft.com/office/drawing/2014/main" id="{A12A48C6-F81E-3AE4-7BE2-6DB55EBC55CB}"/>
              </a:ext>
            </a:extLst>
          </p:cNvPr>
          <p:cNvSpPr txBox="1"/>
          <p:nvPr/>
        </p:nvSpPr>
        <p:spPr>
          <a:xfrm>
            <a:off x="164592" y="6638544"/>
            <a:ext cx="8778240" cy="164592"/>
          </a:xfrm>
          <a:prstGeom prst="rect">
            <a:avLst/>
          </a:prstGeom>
          <a:noFill/>
        </p:spPr>
        <p:txBody>
          <a:bodyPr wrap="square">
            <a:spAutoFit/>
          </a:bodyPr>
          <a:lstStyle/>
          <a:p>
            <a:pPr algn="l"/>
            <a:r>
              <a:rPr sz="720" b="0" i="1">
                <a:solidFill>
                  <a:srgbClr val="94A3B8"/>
                </a:solidFill>
                <a:latin typeface="Calibri"/>
              </a:rPr>
              <a:t>Source: BOM 2026; ABS 2025  ·  Power BI  ·  DATA6000 Capstone</a:t>
            </a:r>
          </a:p>
        </p:txBody>
      </p:sp>
      <p:pic>
        <p:nvPicPr>
          <p:cNvPr id="2" name="Picture 1" descr="Rain_v_Veg.png">
            <a:extLst>
              <a:ext uri="{FF2B5EF4-FFF2-40B4-BE49-F238E27FC236}">
                <a16:creationId xmlns:a16="http://schemas.microsoft.com/office/drawing/2014/main" id="{19F9EA4D-DC32-A5C0-9542-6987592CEC3B}"/>
              </a:ext>
            </a:extLst>
          </p:cNvPr>
          <p:cNvPicPr>
            <a:picLocks noChangeAspect="1"/>
          </p:cNvPicPr>
          <p:nvPr/>
        </p:nvPicPr>
        <p:blipFill>
          <a:blip r:embed="rId3"/>
          <a:stretch>
            <a:fillRect/>
          </a:stretch>
        </p:blipFill>
        <p:spPr>
          <a:xfrm>
            <a:off x="164592" y="658368"/>
            <a:ext cx="6145370" cy="4218432"/>
          </a:xfrm>
          <a:prstGeom prst="rect">
            <a:avLst/>
          </a:prstGeom>
        </p:spPr>
      </p:pic>
      <p:sp>
        <p:nvSpPr>
          <p:cNvPr id="21" name="TextBox 20">
            <a:extLst>
              <a:ext uri="{FF2B5EF4-FFF2-40B4-BE49-F238E27FC236}">
                <a16:creationId xmlns:a16="http://schemas.microsoft.com/office/drawing/2014/main" id="{1C9C3D50-4A9D-D935-3500-E6D25704C3D4}"/>
              </a:ext>
            </a:extLst>
          </p:cNvPr>
          <p:cNvSpPr txBox="1"/>
          <p:nvPr/>
        </p:nvSpPr>
        <p:spPr>
          <a:xfrm>
            <a:off x="8862061" y="4876318"/>
            <a:ext cx="350520" cy="215444"/>
          </a:xfrm>
          <a:prstGeom prst="rect">
            <a:avLst/>
          </a:prstGeom>
          <a:noFill/>
        </p:spPr>
        <p:txBody>
          <a:bodyPr wrap="square" rtlCol="0">
            <a:spAutoFit/>
          </a:bodyPr>
          <a:lstStyle/>
          <a:p>
            <a:r>
              <a:rPr lang="en-AU" sz="800" dirty="0">
                <a:solidFill>
                  <a:schemeClr val="accent6">
                    <a:lumMod val="40000"/>
                    <a:lumOff val="60000"/>
                  </a:schemeClr>
                </a:solidFill>
              </a:rPr>
              <a:t>10</a:t>
            </a:r>
            <a:endParaRPr lang="en-AU" dirty="0">
              <a:solidFill>
                <a:schemeClr val="accent6">
                  <a:lumMod val="40000"/>
                  <a:lumOff val="60000"/>
                </a:schemeClr>
              </a:solidFill>
            </a:endParaRPr>
          </a:p>
        </p:txBody>
      </p:sp>
    </p:spTree>
    <p:extLst>
      <p:ext uri="{BB962C8B-B14F-4D97-AF65-F5344CB8AC3E}">
        <p14:creationId xmlns:p14="http://schemas.microsoft.com/office/powerpoint/2010/main" val="2547184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B73F4-8E79-DF6B-5FDF-1360A9186EF1}"/>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699E629B-7E4F-BECA-F989-2FAD1466B809}"/>
              </a:ext>
            </a:extLst>
          </p:cNvPr>
          <p:cNvPicPr>
            <a:picLocks noChangeAspect="1"/>
          </p:cNvPicPr>
          <p:nvPr/>
        </p:nvPicPr>
        <p:blipFill>
          <a:blip r:embed="rId2"/>
          <a:stretch>
            <a:fillRect/>
          </a:stretch>
        </p:blipFill>
        <p:spPr>
          <a:xfrm>
            <a:off x="0" y="0"/>
            <a:ext cx="9144000" cy="5143500"/>
          </a:xfrm>
          <a:prstGeom prst="rect">
            <a:avLst/>
          </a:prstGeom>
        </p:spPr>
      </p:pic>
      <p:sp>
        <p:nvSpPr>
          <p:cNvPr id="3" name="Rectangle 2">
            <a:extLst>
              <a:ext uri="{FF2B5EF4-FFF2-40B4-BE49-F238E27FC236}">
                <a16:creationId xmlns:a16="http://schemas.microsoft.com/office/drawing/2014/main" id="{134F91E1-62AF-76F2-2E7A-258678847536}"/>
              </a:ext>
            </a:extLst>
          </p:cNvPr>
          <p:cNvSpPr/>
          <p:nvPr/>
        </p:nvSpPr>
        <p:spPr>
          <a:xfrm>
            <a:off x="0" y="0"/>
            <a:ext cx="9144000" cy="54864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41909E6-EDCC-515B-AD6F-6230ED78F4F9}"/>
              </a:ext>
            </a:extLst>
          </p:cNvPr>
          <p:cNvSpPr txBox="1"/>
          <p:nvPr/>
        </p:nvSpPr>
        <p:spPr>
          <a:xfrm>
            <a:off x="201168" y="36576"/>
            <a:ext cx="8412480" cy="323165"/>
          </a:xfrm>
          <a:prstGeom prst="rect">
            <a:avLst/>
          </a:prstGeom>
          <a:noFill/>
        </p:spPr>
        <p:txBody>
          <a:bodyPr wrap="square">
            <a:spAutoFit/>
          </a:bodyPr>
          <a:lstStyle/>
          <a:p>
            <a:r>
              <a:rPr lang="en-GB" sz="1500" b="1" dirty="0">
                <a:solidFill>
                  <a:srgbClr val="FFFFFF"/>
                </a:solidFill>
              </a:rPr>
              <a:t>Descriptive Analysis - Total Fruit and Vegetable Production by Year</a:t>
            </a:r>
          </a:p>
        </p:txBody>
      </p:sp>
      <p:sp>
        <p:nvSpPr>
          <p:cNvPr id="5" name="TextBox 4">
            <a:extLst>
              <a:ext uri="{FF2B5EF4-FFF2-40B4-BE49-F238E27FC236}">
                <a16:creationId xmlns:a16="http://schemas.microsoft.com/office/drawing/2014/main" id="{08D63CD7-8F5F-7A11-E392-E3E7664820AD}"/>
              </a:ext>
            </a:extLst>
          </p:cNvPr>
          <p:cNvSpPr txBox="1"/>
          <p:nvPr/>
        </p:nvSpPr>
        <p:spPr>
          <a:xfrm>
            <a:off x="201168" y="329184"/>
            <a:ext cx="8412480" cy="215444"/>
          </a:xfrm>
          <a:prstGeom prst="rect">
            <a:avLst/>
          </a:prstGeom>
          <a:noFill/>
        </p:spPr>
        <p:txBody>
          <a:bodyPr wrap="square">
            <a:spAutoFit/>
          </a:bodyPr>
          <a:lstStyle/>
          <a:p>
            <a:r>
              <a:rPr lang="en-GB" sz="800" i="1" dirty="0">
                <a:solidFill>
                  <a:srgbClr val="5AAF6A"/>
                </a:solidFill>
              </a:rPr>
              <a:t>Stacked composition of SA total horticulture output - FY 2020/21–2024/25</a:t>
            </a:r>
          </a:p>
        </p:txBody>
      </p:sp>
      <p:sp>
        <p:nvSpPr>
          <p:cNvPr id="7" name="Rectangle 6">
            <a:extLst>
              <a:ext uri="{FF2B5EF4-FFF2-40B4-BE49-F238E27FC236}">
                <a16:creationId xmlns:a16="http://schemas.microsoft.com/office/drawing/2014/main" id="{0FA37D6F-C7D3-70B1-B897-048FB2DA63FF}"/>
              </a:ext>
            </a:extLst>
          </p:cNvPr>
          <p:cNvSpPr/>
          <p:nvPr/>
        </p:nvSpPr>
        <p:spPr>
          <a:xfrm>
            <a:off x="6402911" y="658368"/>
            <a:ext cx="2576498" cy="27432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35D2839-76BB-C43D-316A-780C7B269976}"/>
              </a:ext>
            </a:extLst>
          </p:cNvPr>
          <p:cNvSpPr txBox="1"/>
          <p:nvPr/>
        </p:nvSpPr>
        <p:spPr>
          <a:xfrm>
            <a:off x="5788152" y="663831"/>
            <a:ext cx="3699803" cy="223138"/>
          </a:xfrm>
          <a:prstGeom prst="rect">
            <a:avLst/>
          </a:prstGeom>
          <a:noFill/>
        </p:spPr>
        <p:txBody>
          <a:bodyPr wrap="square">
            <a:spAutoFit/>
          </a:bodyPr>
          <a:lstStyle/>
          <a:p>
            <a:pPr algn="ctr"/>
            <a:r>
              <a:rPr sz="850" b="1" i="0" dirty="0">
                <a:solidFill>
                  <a:srgbClr val="E8A230"/>
                </a:solidFill>
                <a:latin typeface="Calibri"/>
              </a:rPr>
              <a:t>KEY INSIGHTS</a:t>
            </a:r>
          </a:p>
        </p:txBody>
      </p:sp>
      <p:sp>
        <p:nvSpPr>
          <p:cNvPr id="9" name="Rectangle 8">
            <a:extLst>
              <a:ext uri="{FF2B5EF4-FFF2-40B4-BE49-F238E27FC236}">
                <a16:creationId xmlns:a16="http://schemas.microsoft.com/office/drawing/2014/main" id="{0BF9FAFE-BBC7-E281-8F48-B770607FBAB9}"/>
              </a:ext>
            </a:extLst>
          </p:cNvPr>
          <p:cNvSpPr/>
          <p:nvPr/>
        </p:nvSpPr>
        <p:spPr>
          <a:xfrm>
            <a:off x="6402910" y="1042416"/>
            <a:ext cx="2608502" cy="1673816"/>
          </a:xfrm>
          <a:prstGeom prst="rect">
            <a:avLst/>
          </a:prstGeom>
          <a:solidFill>
            <a:srgbClr val="FFFFFF"/>
          </a:solidFill>
          <a:ln w="8890">
            <a:solidFill>
              <a:srgbClr val="D85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495BA609-72D8-2A71-B47A-6F72751ECB0F}"/>
              </a:ext>
            </a:extLst>
          </p:cNvPr>
          <p:cNvSpPr/>
          <p:nvPr/>
        </p:nvSpPr>
        <p:spPr>
          <a:xfrm>
            <a:off x="6402910" y="1036527"/>
            <a:ext cx="45719" cy="1679705"/>
          </a:xfrm>
          <a:prstGeom prst="rect">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79F75014-57BF-3A82-7078-09C1EBC92EDF}"/>
              </a:ext>
            </a:extLst>
          </p:cNvPr>
          <p:cNvSpPr/>
          <p:nvPr/>
        </p:nvSpPr>
        <p:spPr>
          <a:xfrm>
            <a:off x="6467415" y="1068445"/>
            <a:ext cx="310896" cy="310896"/>
          </a:xfrm>
          <a:prstGeom prst="ellipse">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11</a:t>
            </a:r>
            <a:endParaRPr sz="1000" b="1" dirty="0">
              <a:solidFill>
                <a:srgbClr val="FFFFFF"/>
              </a:solidFill>
              <a:latin typeface="Calibri"/>
            </a:endParaRPr>
          </a:p>
        </p:txBody>
      </p:sp>
      <p:sp>
        <p:nvSpPr>
          <p:cNvPr id="12" name="TextBox 11">
            <a:extLst>
              <a:ext uri="{FF2B5EF4-FFF2-40B4-BE49-F238E27FC236}">
                <a16:creationId xmlns:a16="http://schemas.microsoft.com/office/drawing/2014/main" id="{8718CCB9-BAE0-F298-7A40-A29B7AF5686E}"/>
              </a:ext>
            </a:extLst>
          </p:cNvPr>
          <p:cNvSpPr txBox="1"/>
          <p:nvPr/>
        </p:nvSpPr>
        <p:spPr>
          <a:xfrm>
            <a:off x="6742306" y="1058594"/>
            <a:ext cx="2200526" cy="369332"/>
          </a:xfrm>
          <a:prstGeom prst="rect">
            <a:avLst/>
          </a:prstGeom>
          <a:noFill/>
        </p:spPr>
        <p:txBody>
          <a:bodyPr wrap="square">
            <a:spAutoFit/>
          </a:bodyPr>
          <a:lstStyle/>
          <a:p>
            <a:pPr algn="l"/>
            <a:r>
              <a:rPr lang="en-GB" sz="900" b="1" i="0" dirty="0">
                <a:solidFill>
                  <a:srgbClr val="D85A30"/>
                </a:solidFill>
                <a:latin typeface="Calibri"/>
              </a:rPr>
              <a:t>75/25 ratio structurally stable - vegetable risk dominates</a:t>
            </a:r>
          </a:p>
        </p:txBody>
      </p:sp>
      <p:sp>
        <p:nvSpPr>
          <p:cNvPr id="13" name="TextBox 12">
            <a:extLst>
              <a:ext uri="{FF2B5EF4-FFF2-40B4-BE49-F238E27FC236}">
                <a16:creationId xmlns:a16="http://schemas.microsoft.com/office/drawing/2014/main" id="{2812392C-3B8B-93B0-8DA2-E6359F6A8B32}"/>
              </a:ext>
            </a:extLst>
          </p:cNvPr>
          <p:cNvSpPr txBox="1"/>
          <p:nvPr/>
        </p:nvSpPr>
        <p:spPr>
          <a:xfrm>
            <a:off x="6495202" y="1534788"/>
            <a:ext cx="2608502" cy="1061829"/>
          </a:xfrm>
          <a:prstGeom prst="rect">
            <a:avLst/>
          </a:prstGeom>
          <a:noFill/>
        </p:spPr>
        <p:txBody>
          <a:bodyPr wrap="square">
            <a:spAutoFit/>
          </a:bodyPr>
          <a:lstStyle/>
          <a:p>
            <a:r>
              <a:rPr lang="en-AU" sz="900" dirty="0"/>
              <a:t>The distribution of fruit and vegetable production has been relatively stable across 5 years, with vegetables contributing approximately 75% and fruit approximately 25% of SA's total horticultural output. Despite variations in individual quantities and rainfall ranging from 1,352mm to 2,687mm, this ratio has not changed much. </a:t>
            </a:r>
            <a:endParaRPr sz="900" b="0" i="0" dirty="0">
              <a:solidFill>
                <a:srgbClr val="0B1F12"/>
              </a:solidFill>
              <a:latin typeface="Calibri"/>
            </a:endParaRPr>
          </a:p>
        </p:txBody>
      </p:sp>
      <p:sp>
        <p:nvSpPr>
          <p:cNvPr id="14" name="Rectangle 13">
            <a:extLst>
              <a:ext uri="{FF2B5EF4-FFF2-40B4-BE49-F238E27FC236}">
                <a16:creationId xmlns:a16="http://schemas.microsoft.com/office/drawing/2014/main" id="{D9CE6375-AE2D-96A4-FC14-D8E0B06A3C58}"/>
              </a:ext>
            </a:extLst>
          </p:cNvPr>
          <p:cNvSpPr/>
          <p:nvPr/>
        </p:nvSpPr>
        <p:spPr>
          <a:xfrm>
            <a:off x="6425769" y="2793856"/>
            <a:ext cx="2616373" cy="1935100"/>
          </a:xfrm>
          <a:prstGeom prst="rect">
            <a:avLst/>
          </a:prstGeom>
          <a:solidFill>
            <a:srgbClr val="FFFFFF"/>
          </a:solidFill>
          <a:ln w="8890">
            <a:solidFill>
              <a:srgbClr val="2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0103C7EE-E94F-F21A-E61E-A56F4A50FFB6}"/>
              </a:ext>
            </a:extLst>
          </p:cNvPr>
          <p:cNvSpPr/>
          <p:nvPr/>
        </p:nvSpPr>
        <p:spPr>
          <a:xfrm>
            <a:off x="6425769" y="2793856"/>
            <a:ext cx="69433" cy="1935100"/>
          </a:xfrm>
          <a:prstGeom prst="rect">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056FDFA9-2F5D-E66F-496F-514AA51CDDFD}"/>
              </a:ext>
            </a:extLst>
          </p:cNvPr>
          <p:cNvSpPr/>
          <p:nvPr/>
        </p:nvSpPr>
        <p:spPr>
          <a:xfrm>
            <a:off x="6511586" y="2838916"/>
            <a:ext cx="310896" cy="310896"/>
          </a:xfrm>
          <a:prstGeom prst="ellipse">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12</a:t>
            </a:r>
            <a:endParaRPr sz="1000" b="1" dirty="0">
              <a:solidFill>
                <a:srgbClr val="FFFFFF"/>
              </a:solidFill>
              <a:latin typeface="Calibri"/>
            </a:endParaRPr>
          </a:p>
        </p:txBody>
      </p:sp>
      <p:sp>
        <p:nvSpPr>
          <p:cNvPr id="17" name="TextBox 16">
            <a:extLst>
              <a:ext uri="{FF2B5EF4-FFF2-40B4-BE49-F238E27FC236}">
                <a16:creationId xmlns:a16="http://schemas.microsoft.com/office/drawing/2014/main" id="{07420091-6596-B1D1-0303-933B5D8E3383}"/>
              </a:ext>
            </a:extLst>
          </p:cNvPr>
          <p:cNvSpPr txBox="1"/>
          <p:nvPr/>
        </p:nvSpPr>
        <p:spPr>
          <a:xfrm>
            <a:off x="6797759" y="2820820"/>
            <a:ext cx="2269106" cy="369332"/>
          </a:xfrm>
          <a:prstGeom prst="rect">
            <a:avLst/>
          </a:prstGeom>
          <a:noFill/>
        </p:spPr>
        <p:txBody>
          <a:bodyPr wrap="square">
            <a:spAutoFit/>
          </a:bodyPr>
          <a:lstStyle/>
          <a:p>
            <a:r>
              <a:rPr lang="en-GB" sz="900" b="1" dirty="0">
                <a:solidFill>
                  <a:srgbClr val="2D8A4E"/>
                </a:solidFill>
              </a:rPr>
              <a:t>Peak 2023/24 then decline - disruption window confirmed</a:t>
            </a:r>
          </a:p>
        </p:txBody>
      </p:sp>
      <p:sp>
        <p:nvSpPr>
          <p:cNvPr id="18" name="TextBox 17">
            <a:extLst>
              <a:ext uri="{FF2B5EF4-FFF2-40B4-BE49-F238E27FC236}">
                <a16:creationId xmlns:a16="http://schemas.microsoft.com/office/drawing/2014/main" id="{4240AC51-E1B9-A261-97C9-6020DB4E1560}"/>
              </a:ext>
            </a:extLst>
          </p:cNvPr>
          <p:cNvSpPr txBox="1"/>
          <p:nvPr/>
        </p:nvSpPr>
        <p:spPr>
          <a:xfrm>
            <a:off x="6460485" y="3298210"/>
            <a:ext cx="2641003" cy="1200329"/>
          </a:xfrm>
          <a:prstGeom prst="rect">
            <a:avLst/>
          </a:prstGeom>
          <a:noFill/>
        </p:spPr>
        <p:txBody>
          <a:bodyPr wrap="square">
            <a:spAutoFit/>
          </a:bodyPr>
          <a:lstStyle/>
          <a:p>
            <a:r>
              <a:rPr lang="en-AU" sz="900" dirty="0"/>
              <a:t>The stacked graphic makes it evident that total production increased from 0.99 million tonnes in 2020/21 to 1.04 million tonnes in 2023/24 then falling back to 1.02 million tonnes in 2024/25. This peak-and-decline pattern is significant since rainfall fell sharply to 1,531 mm in 2023, indicating that farmers increased irrigation output in response to the drought, achieving peak production in that year. </a:t>
            </a:r>
            <a:endParaRPr sz="900" b="0" i="0" dirty="0">
              <a:solidFill>
                <a:srgbClr val="0B1F12"/>
              </a:solidFill>
              <a:latin typeface="Calibri"/>
            </a:endParaRPr>
          </a:p>
        </p:txBody>
      </p:sp>
      <p:sp>
        <p:nvSpPr>
          <p:cNvPr id="24" name="TextBox 23">
            <a:extLst>
              <a:ext uri="{FF2B5EF4-FFF2-40B4-BE49-F238E27FC236}">
                <a16:creationId xmlns:a16="http://schemas.microsoft.com/office/drawing/2014/main" id="{84F58138-B84B-B896-61CC-DEE18470D14D}"/>
              </a:ext>
            </a:extLst>
          </p:cNvPr>
          <p:cNvSpPr txBox="1"/>
          <p:nvPr/>
        </p:nvSpPr>
        <p:spPr>
          <a:xfrm>
            <a:off x="164592" y="6638544"/>
            <a:ext cx="8778240" cy="164592"/>
          </a:xfrm>
          <a:prstGeom prst="rect">
            <a:avLst/>
          </a:prstGeom>
          <a:noFill/>
        </p:spPr>
        <p:txBody>
          <a:bodyPr wrap="square">
            <a:spAutoFit/>
          </a:bodyPr>
          <a:lstStyle/>
          <a:p>
            <a:pPr algn="l"/>
            <a:r>
              <a:rPr sz="720" b="0" i="1">
                <a:solidFill>
                  <a:srgbClr val="94A3B8"/>
                </a:solidFill>
                <a:latin typeface="Calibri"/>
              </a:rPr>
              <a:t>Source: BOM 2026; ABS 2025  ·  Power BI  ·  DATA6000 Capstone</a:t>
            </a:r>
          </a:p>
        </p:txBody>
      </p:sp>
      <p:pic>
        <p:nvPicPr>
          <p:cNvPr id="6" name="Picture 5" descr="Tot_Horti.png">
            <a:extLst>
              <a:ext uri="{FF2B5EF4-FFF2-40B4-BE49-F238E27FC236}">
                <a16:creationId xmlns:a16="http://schemas.microsoft.com/office/drawing/2014/main" id="{B962E49E-5C40-54BD-1FF9-3E5A1CBB11F7}"/>
              </a:ext>
            </a:extLst>
          </p:cNvPr>
          <p:cNvPicPr>
            <a:picLocks noChangeAspect="1"/>
          </p:cNvPicPr>
          <p:nvPr/>
        </p:nvPicPr>
        <p:blipFill>
          <a:blip r:embed="rId3"/>
          <a:stretch>
            <a:fillRect/>
          </a:stretch>
        </p:blipFill>
        <p:spPr>
          <a:xfrm>
            <a:off x="72396" y="658368"/>
            <a:ext cx="6203702" cy="4258474"/>
          </a:xfrm>
          <a:prstGeom prst="rect">
            <a:avLst/>
          </a:prstGeom>
        </p:spPr>
      </p:pic>
      <p:sp>
        <p:nvSpPr>
          <p:cNvPr id="23" name="TextBox 22">
            <a:extLst>
              <a:ext uri="{FF2B5EF4-FFF2-40B4-BE49-F238E27FC236}">
                <a16:creationId xmlns:a16="http://schemas.microsoft.com/office/drawing/2014/main" id="{B75A2D56-F4BA-F135-DB1C-D9DFF3EE0D4F}"/>
              </a:ext>
            </a:extLst>
          </p:cNvPr>
          <p:cNvSpPr txBox="1"/>
          <p:nvPr/>
        </p:nvSpPr>
        <p:spPr>
          <a:xfrm>
            <a:off x="8862061" y="4876318"/>
            <a:ext cx="350520" cy="215444"/>
          </a:xfrm>
          <a:prstGeom prst="rect">
            <a:avLst/>
          </a:prstGeom>
          <a:noFill/>
        </p:spPr>
        <p:txBody>
          <a:bodyPr wrap="square" rtlCol="0">
            <a:spAutoFit/>
          </a:bodyPr>
          <a:lstStyle/>
          <a:p>
            <a:r>
              <a:rPr lang="en-AU" sz="800" dirty="0">
                <a:solidFill>
                  <a:schemeClr val="accent6">
                    <a:lumMod val="40000"/>
                    <a:lumOff val="60000"/>
                  </a:schemeClr>
                </a:solidFill>
              </a:rPr>
              <a:t>11</a:t>
            </a:r>
            <a:endParaRPr lang="en-AU" dirty="0">
              <a:solidFill>
                <a:schemeClr val="accent6">
                  <a:lumMod val="40000"/>
                  <a:lumOff val="60000"/>
                </a:schemeClr>
              </a:solidFill>
            </a:endParaRPr>
          </a:p>
        </p:txBody>
      </p:sp>
    </p:spTree>
    <p:extLst>
      <p:ext uri="{BB962C8B-B14F-4D97-AF65-F5344CB8AC3E}">
        <p14:creationId xmlns:p14="http://schemas.microsoft.com/office/powerpoint/2010/main" val="1982062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EB651-2D3B-D72D-5AFF-146D48B3C75F}"/>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F85648DE-B496-E7C7-1AC8-891E6911EB14}"/>
              </a:ext>
            </a:extLst>
          </p:cNvPr>
          <p:cNvPicPr>
            <a:picLocks noChangeAspect="1"/>
          </p:cNvPicPr>
          <p:nvPr/>
        </p:nvPicPr>
        <p:blipFill>
          <a:blip r:embed="rId2"/>
          <a:stretch>
            <a:fillRect/>
          </a:stretch>
        </p:blipFill>
        <p:spPr>
          <a:xfrm>
            <a:off x="0" y="0"/>
            <a:ext cx="9144000" cy="5143500"/>
          </a:xfrm>
          <a:prstGeom prst="rect">
            <a:avLst/>
          </a:prstGeom>
        </p:spPr>
      </p:pic>
      <p:sp>
        <p:nvSpPr>
          <p:cNvPr id="3" name="Rectangle 2">
            <a:extLst>
              <a:ext uri="{FF2B5EF4-FFF2-40B4-BE49-F238E27FC236}">
                <a16:creationId xmlns:a16="http://schemas.microsoft.com/office/drawing/2014/main" id="{68ED783C-5AE1-D10D-C2F6-14C3534A8E43}"/>
              </a:ext>
            </a:extLst>
          </p:cNvPr>
          <p:cNvSpPr/>
          <p:nvPr/>
        </p:nvSpPr>
        <p:spPr>
          <a:xfrm>
            <a:off x="0" y="0"/>
            <a:ext cx="9144000" cy="54864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F3D3FC8-FCFF-1020-ADA8-AE4D329BFEC6}"/>
              </a:ext>
            </a:extLst>
          </p:cNvPr>
          <p:cNvSpPr txBox="1"/>
          <p:nvPr/>
        </p:nvSpPr>
        <p:spPr>
          <a:xfrm>
            <a:off x="201168" y="36576"/>
            <a:ext cx="8412480" cy="323165"/>
          </a:xfrm>
          <a:prstGeom prst="rect">
            <a:avLst/>
          </a:prstGeom>
          <a:noFill/>
        </p:spPr>
        <p:txBody>
          <a:bodyPr wrap="square">
            <a:spAutoFit/>
          </a:bodyPr>
          <a:lstStyle/>
          <a:p>
            <a:r>
              <a:rPr lang="en-GB" sz="1500" b="1" dirty="0">
                <a:solidFill>
                  <a:srgbClr val="FFFFFF"/>
                </a:solidFill>
              </a:rPr>
              <a:t>Descriptive Analysis — Total Rainfall and SA Horticulture Production by Year</a:t>
            </a:r>
          </a:p>
        </p:txBody>
      </p:sp>
      <p:sp>
        <p:nvSpPr>
          <p:cNvPr id="5" name="TextBox 4">
            <a:extLst>
              <a:ext uri="{FF2B5EF4-FFF2-40B4-BE49-F238E27FC236}">
                <a16:creationId xmlns:a16="http://schemas.microsoft.com/office/drawing/2014/main" id="{A2327D31-5E96-53B2-2E13-0E9BB1B90CE0}"/>
              </a:ext>
            </a:extLst>
          </p:cNvPr>
          <p:cNvSpPr txBox="1"/>
          <p:nvPr/>
        </p:nvSpPr>
        <p:spPr>
          <a:xfrm>
            <a:off x="201168" y="329184"/>
            <a:ext cx="8412480" cy="215444"/>
          </a:xfrm>
          <a:prstGeom prst="rect">
            <a:avLst/>
          </a:prstGeom>
          <a:noFill/>
        </p:spPr>
        <p:txBody>
          <a:bodyPr wrap="square">
            <a:spAutoFit/>
          </a:bodyPr>
          <a:lstStyle/>
          <a:p>
            <a:r>
              <a:rPr lang="en-GB" sz="800" i="1" dirty="0">
                <a:solidFill>
                  <a:srgbClr val="5AAF6A"/>
                </a:solidFill>
              </a:rPr>
              <a:t>Rainfall, fruit and vegetable volumes across FY 2020/21–2024/25 — drought buffer breakdown visible</a:t>
            </a:r>
          </a:p>
        </p:txBody>
      </p:sp>
      <p:sp>
        <p:nvSpPr>
          <p:cNvPr id="7" name="Rectangle 6">
            <a:extLst>
              <a:ext uri="{FF2B5EF4-FFF2-40B4-BE49-F238E27FC236}">
                <a16:creationId xmlns:a16="http://schemas.microsoft.com/office/drawing/2014/main" id="{805FCA6B-117F-683F-3885-8580789D9F0E}"/>
              </a:ext>
            </a:extLst>
          </p:cNvPr>
          <p:cNvSpPr/>
          <p:nvPr/>
        </p:nvSpPr>
        <p:spPr>
          <a:xfrm>
            <a:off x="6402911" y="658368"/>
            <a:ext cx="2576498" cy="27432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29A66AB-16D2-29C2-9CB7-A53A95C26711}"/>
              </a:ext>
            </a:extLst>
          </p:cNvPr>
          <p:cNvSpPr txBox="1"/>
          <p:nvPr/>
        </p:nvSpPr>
        <p:spPr>
          <a:xfrm>
            <a:off x="5788152" y="663831"/>
            <a:ext cx="3699803" cy="223138"/>
          </a:xfrm>
          <a:prstGeom prst="rect">
            <a:avLst/>
          </a:prstGeom>
          <a:noFill/>
        </p:spPr>
        <p:txBody>
          <a:bodyPr wrap="square">
            <a:spAutoFit/>
          </a:bodyPr>
          <a:lstStyle/>
          <a:p>
            <a:pPr algn="ctr"/>
            <a:r>
              <a:rPr sz="850" b="1" i="0" dirty="0">
                <a:solidFill>
                  <a:srgbClr val="E8A230"/>
                </a:solidFill>
                <a:latin typeface="Calibri"/>
              </a:rPr>
              <a:t>KEY INSIGHTS</a:t>
            </a:r>
          </a:p>
        </p:txBody>
      </p:sp>
      <p:sp>
        <p:nvSpPr>
          <p:cNvPr id="9" name="Rectangle 8">
            <a:extLst>
              <a:ext uri="{FF2B5EF4-FFF2-40B4-BE49-F238E27FC236}">
                <a16:creationId xmlns:a16="http://schemas.microsoft.com/office/drawing/2014/main" id="{03DBC935-7519-AD72-EC94-007E7831E107}"/>
              </a:ext>
            </a:extLst>
          </p:cNvPr>
          <p:cNvSpPr/>
          <p:nvPr/>
        </p:nvSpPr>
        <p:spPr>
          <a:xfrm>
            <a:off x="6402910" y="1042416"/>
            <a:ext cx="2608502" cy="3777364"/>
          </a:xfrm>
          <a:prstGeom prst="rect">
            <a:avLst/>
          </a:prstGeom>
          <a:solidFill>
            <a:srgbClr val="FFFFFF"/>
          </a:solidFill>
          <a:ln w="8890">
            <a:solidFill>
              <a:srgbClr val="D85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28E5A98-3DAB-5612-06BE-8DC2AF8636F6}"/>
              </a:ext>
            </a:extLst>
          </p:cNvPr>
          <p:cNvSpPr/>
          <p:nvPr/>
        </p:nvSpPr>
        <p:spPr>
          <a:xfrm>
            <a:off x="6402910" y="1036528"/>
            <a:ext cx="45719" cy="3777364"/>
          </a:xfrm>
          <a:prstGeom prst="rect">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613E4D6B-CF2E-AC7C-493D-FD59BC83E033}"/>
              </a:ext>
            </a:extLst>
          </p:cNvPr>
          <p:cNvSpPr txBox="1"/>
          <p:nvPr/>
        </p:nvSpPr>
        <p:spPr>
          <a:xfrm>
            <a:off x="6448629" y="1109233"/>
            <a:ext cx="2608502" cy="3616375"/>
          </a:xfrm>
          <a:prstGeom prst="rect">
            <a:avLst/>
          </a:prstGeom>
          <a:noFill/>
        </p:spPr>
        <p:txBody>
          <a:bodyPr wrap="square">
            <a:spAutoFit/>
          </a:bodyPr>
          <a:lstStyle/>
          <a:p>
            <a:pPr marL="171450" indent="-171450">
              <a:buFont typeface="Arial" panose="020B0604020202020204" pitchFamily="34" charset="0"/>
              <a:buChar char="•"/>
            </a:pPr>
            <a:r>
              <a:rPr lang="en-AU" sz="1000" dirty="0"/>
              <a:t>Rainfall peaked in 2022/23 at 2,686.60, then dropped sharply to 1,531.00 and then to 1,351.80 in 2024/25, which was the lowest amount throughout the five-year period. From peak to 2024/2025, that represents a 49.7% decline.</a:t>
            </a:r>
          </a:p>
          <a:p>
            <a:endParaRPr lang="en-AU" sz="1000" dirty="0"/>
          </a:p>
          <a:p>
            <a:pPr marL="171450" indent="-171450">
              <a:buFont typeface="Arial" panose="020B0604020202020204" pitchFamily="34" charset="0"/>
              <a:buChar char="•"/>
            </a:pPr>
            <a:r>
              <a:rPr lang="en-AU" sz="1000" dirty="0"/>
              <a:t>After peaking at 259,335.30 in 2021/22, fruit production (orange) shows a relatively consistent decline, dropping 242,145.56 by 2024/25. </a:t>
            </a:r>
          </a:p>
          <a:p>
            <a:pPr marL="171450" indent="-171450">
              <a:buFont typeface="Arial" panose="020B0604020202020204" pitchFamily="34" charset="0"/>
              <a:buChar char="•"/>
            </a:pPr>
            <a:r>
              <a:rPr lang="en-AU" sz="1000" dirty="0"/>
              <a:t>Even though rainfall was already sharply decreasing, vegetable production (blue), the most analytically Veg climbed from 755,891.50 in 2022/23 to a 5-year high of 791,719.80 in 2023/24. Then, in 2024/25, it dropped to 775,916.87. </a:t>
            </a:r>
          </a:p>
          <a:p>
            <a:endParaRPr lang="en-AU" sz="1000" dirty="0"/>
          </a:p>
          <a:p>
            <a:pPr marL="171450" indent="-171450">
              <a:buFont typeface="Arial" panose="020B0604020202020204" pitchFamily="34" charset="0"/>
              <a:buChar char="•"/>
            </a:pPr>
            <a:r>
              <a:rPr lang="en-AU" sz="1000" dirty="0"/>
              <a:t>Because of this significant scale difference, rainfall data appear compressed in relation to production estimates, and a dual-axis interpretation is recommended.</a:t>
            </a:r>
          </a:p>
          <a:p>
            <a:endParaRPr lang="en-AU" sz="900" dirty="0"/>
          </a:p>
        </p:txBody>
      </p:sp>
      <p:sp>
        <p:nvSpPr>
          <p:cNvPr id="24" name="TextBox 23">
            <a:extLst>
              <a:ext uri="{FF2B5EF4-FFF2-40B4-BE49-F238E27FC236}">
                <a16:creationId xmlns:a16="http://schemas.microsoft.com/office/drawing/2014/main" id="{BD1FC99B-09AB-A20A-2BAA-D8240D9E0209}"/>
              </a:ext>
            </a:extLst>
          </p:cNvPr>
          <p:cNvSpPr txBox="1"/>
          <p:nvPr/>
        </p:nvSpPr>
        <p:spPr>
          <a:xfrm>
            <a:off x="164592" y="6638544"/>
            <a:ext cx="8778240" cy="164592"/>
          </a:xfrm>
          <a:prstGeom prst="rect">
            <a:avLst/>
          </a:prstGeom>
          <a:noFill/>
        </p:spPr>
        <p:txBody>
          <a:bodyPr wrap="square">
            <a:spAutoFit/>
          </a:bodyPr>
          <a:lstStyle/>
          <a:p>
            <a:pPr algn="l"/>
            <a:r>
              <a:rPr sz="720" b="0" i="1">
                <a:solidFill>
                  <a:srgbClr val="94A3B8"/>
                </a:solidFill>
                <a:latin typeface="Calibri"/>
              </a:rPr>
              <a:t>Source: BOM 2026; ABS 2025  ·  Power BI  ·  DATA6000 Capstone</a:t>
            </a:r>
          </a:p>
        </p:txBody>
      </p:sp>
      <p:pic>
        <p:nvPicPr>
          <p:cNvPr id="2" name="Picture 1" descr="Rain_v_Horti.png">
            <a:extLst>
              <a:ext uri="{FF2B5EF4-FFF2-40B4-BE49-F238E27FC236}">
                <a16:creationId xmlns:a16="http://schemas.microsoft.com/office/drawing/2014/main" id="{95681749-F146-3DAF-EE98-ACCE8E6A2F8E}"/>
              </a:ext>
            </a:extLst>
          </p:cNvPr>
          <p:cNvPicPr>
            <a:picLocks noChangeAspect="1"/>
          </p:cNvPicPr>
          <p:nvPr/>
        </p:nvPicPr>
        <p:blipFill>
          <a:blip r:embed="rId3"/>
          <a:stretch>
            <a:fillRect/>
          </a:stretch>
        </p:blipFill>
        <p:spPr>
          <a:xfrm>
            <a:off x="86869" y="663831"/>
            <a:ext cx="6054344" cy="4155948"/>
          </a:xfrm>
          <a:prstGeom prst="rect">
            <a:avLst/>
          </a:prstGeom>
        </p:spPr>
      </p:pic>
      <p:sp>
        <p:nvSpPr>
          <p:cNvPr id="21" name="TextBox 20">
            <a:extLst>
              <a:ext uri="{FF2B5EF4-FFF2-40B4-BE49-F238E27FC236}">
                <a16:creationId xmlns:a16="http://schemas.microsoft.com/office/drawing/2014/main" id="{40E7E613-4EBF-AC12-BD63-E3A0761A84AD}"/>
              </a:ext>
            </a:extLst>
          </p:cNvPr>
          <p:cNvSpPr txBox="1"/>
          <p:nvPr/>
        </p:nvSpPr>
        <p:spPr>
          <a:xfrm>
            <a:off x="8902446" y="4941640"/>
            <a:ext cx="350520" cy="215444"/>
          </a:xfrm>
          <a:prstGeom prst="rect">
            <a:avLst/>
          </a:prstGeom>
          <a:noFill/>
        </p:spPr>
        <p:txBody>
          <a:bodyPr wrap="square" rtlCol="0">
            <a:spAutoFit/>
          </a:bodyPr>
          <a:lstStyle/>
          <a:p>
            <a:r>
              <a:rPr lang="en-AU" sz="800" dirty="0">
                <a:solidFill>
                  <a:schemeClr val="accent6">
                    <a:lumMod val="40000"/>
                    <a:lumOff val="60000"/>
                  </a:schemeClr>
                </a:solidFill>
              </a:rPr>
              <a:t>12</a:t>
            </a:r>
            <a:endParaRPr lang="en-AU" dirty="0">
              <a:solidFill>
                <a:schemeClr val="accent6">
                  <a:lumMod val="40000"/>
                  <a:lumOff val="60000"/>
                </a:schemeClr>
              </a:solidFill>
            </a:endParaRPr>
          </a:p>
        </p:txBody>
      </p:sp>
    </p:spTree>
    <p:extLst>
      <p:ext uri="{BB962C8B-B14F-4D97-AF65-F5344CB8AC3E}">
        <p14:creationId xmlns:p14="http://schemas.microsoft.com/office/powerpoint/2010/main" val="1574845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856ED-790D-A674-F0F6-68A335F8128B}"/>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4F29E548-D266-3762-A097-990413E1564F}"/>
              </a:ext>
            </a:extLst>
          </p:cNvPr>
          <p:cNvPicPr>
            <a:picLocks noChangeAspect="1"/>
          </p:cNvPicPr>
          <p:nvPr/>
        </p:nvPicPr>
        <p:blipFill>
          <a:blip r:embed="rId2">
            <a:alphaModFix amt="70000"/>
          </a:blip>
          <a:stretch>
            <a:fillRect/>
          </a:stretch>
        </p:blipFill>
        <p:spPr>
          <a:xfrm>
            <a:off x="0" y="0"/>
            <a:ext cx="9144000" cy="5143500"/>
          </a:xfrm>
          <a:prstGeom prst="rect">
            <a:avLst/>
          </a:prstGeom>
        </p:spPr>
      </p:pic>
      <p:sp>
        <p:nvSpPr>
          <p:cNvPr id="3" name="Rectangle 2">
            <a:extLst>
              <a:ext uri="{FF2B5EF4-FFF2-40B4-BE49-F238E27FC236}">
                <a16:creationId xmlns:a16="http://schemas.microsoft.com/office/drawing/2014/main" id="{90A909A2-F82E-9923-E6CE-345A0D9DADED}"/>
              </a:ext>
            </a:extLst>
          </p:cNvPr>
          <p:cNvSpPr/>
          <p:nvPr/>
        </p:nvSpPr>
        <p:spPr>
          <a:xfrm>
            <a:off x="0" y="0"/>
            <a:ext cx="9144000" cy="54864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6589ACA-8AF7-61EA-12B8-2196E6F18959}"/>
              </a:ext>
            </a:extLst>
          </p:cNvPr>
          <p:cNvSpPr txBox="1"/>
          <p:nvPr/>
        </p:nvSpPr>
        <p:spPr>
          <a:xfrm>
            <a:off x="201168" y="36576"/>
            <a:ext cx="8412480" cy="323165"/>
          </a:xfrm>
          <a:prstGeom prst="rect">
            <a:avLst/>
          </a:prstGeom>
          <a:noFill/>
        </p:spPr>
        <p:txBody>
          <a:bodyPr wrap="square">
            <a:spAutoFit/>
          </a:bodyPr>
          <a:lstStyle/>
          <a:p>
            <a:r>
              <a:rPr lang="en-GB" sz="1500" b="1" dirty="0">
                <a:solidFill>
                  <a:srgbClr val="FFFFFF"/>
                </a:solidFill>
              </a:rPr>
              <a:t>Predictive Analysis — Multi-Model Production Forecast (2026–2028)</a:t>
            </a:r>
          </a:p>
        </p:txBody>
      </p:sp>
      <p:sp>
        <p:nvSpPr>
          <p:cNvPr id="5" name="TextBox 4">
            <a:extLst>
              <a:ext uri="{FF2B5EF4-FFF2-40B4-BE49-F238E27FC236}">
                <a16:creationId xmlns:a16="http://schemas.microsoft.com/office/drawing/2014/main" id="{664655CB-36D1-4661-3298-1D1845A09652}"/>
              </a:ext>
            </a:extLst>
          </p:cNvPr>
          <p:cNvSpPr txBox="1"/>
          <p:nvPr/>
        </p:nvSpPr>
        <p:spPr>
          <a:xfrm>
            <a:off x="201168" y="329184"/>
            <a:ext cx="8412480" cy="215444"/>
          </a:xfrm>
          <a:prstGeom prst="rect">
            <a:avLst/>
          </a:prstGeom>
          <a:noFill/>
        </p:spPr>
        <p:txBody>
          <a:bodyPr wrap="square">
            <a:spAutoFit/>
          </a:bodyPr>
          <a:lstStyle/>
          <a:p>
            <a:r>
              <a:rPr lang="en-GB" sz="800" i="1" dirty="0">
                <a:solidFill>
                  <a:srgbClr val="5AAF6A"/>
                </a:solidFill>
              </a:rPr>
              <a:t>ARIMA(1,1,0) · Holt-Winters · Prophet — trained on 2020–2024 historical data</a:t>
            </a:r>
          </a:p>
        </p:txBody>
      </p:sp>
      <p:sp>
        <p:nvSpPr>
          <p:cNvPr id="7" name="Rectangle 6">
            <a:extLst>
              <a:ext uri="{FF2B5EF4-FFF2-40B4-BE49-F238E27FC236}">
                <a16:creationId xmlns:a16="http://schemas.microsoft.com/office/drawing/2014/main" id="{61769018-3E10-793F-9115-8D3929464EFA}"/>
              </a:ext>
            </a:extLst>
          </p:cNvPr>
          <p:cNvSpPr/>
          <p:nvPr/>
        </p:nvSpPr>
        <p:spPr>
          <a:xfrm>
            <a:off x="6402911" y="658368"/>
            <a:ext cx="2576498" cy="27432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9E9614C-49F3-B06B-CCAA-6638BF788007}"/>
              </a:ext>
            </a:extLst>
          </p:cNvPr>
          <p:cNvSpPr txBox="1"/>
          <p:nvPr/>
        </p:nvSpPr>
        <p:spPr>
          <a:xfrm>
            <a:off x="5788152" y="663831"/>
            <a:ext cx="3699803" cy="223138"/>
          </a:xfrm>
          <a:prstGeom prst="rect">
            <a:avLst/>
          </a:prstGeom>
          <a:noFill/>
        </p:spPr>
        <p:txBody>
          <a:bodyPr wrap="square">
            <a:spAutoFit/>
          </a:bodyPr>
          <a:lstStyle/>
          <a:p>
            <a:pPr algn="ctr"/>
            <a:r>
              <a:rPr sz="850" b="1" i="0" dirty="0">
                <a:solidFill>
                  <a:srgbClr val="E8A230"/>
                </a:solidFill>
                <a:latin typeface="Calibri"/>
              </a:rPr>
              <a:t>KEY INSIGHTS</a:t>
            </a:r>
          </a:p>
        </p:txBody>
      </p:sp>
      <p:sp>
        <p:nvSpPr>
          <p:cNvPr id="9" name="Rectangle 8">
            <a:extLst>
              <a:ext uri="{FF2B5EF4-FFF2-40B4-BE49-F238E27FC236}">
                <a16:creationId xmlns:a16="http://schemas.microsoft.com/office/drawing/2014/main" id="{4D94D7CD-AB2B-57F5-E8B9-66B5CE9F6A20}"/>
              </a:ext>
            </a:extLst>
          </p:cNvPr>
          <p:cNvSpPr/>
          <p:nvPr/>
        </p:nvSpPr>
        <p:spPr>
          <a:xfrm>
            <a:off x="6402910" y="1042416"/>
            <a:ext cx="2608502" cy="1303020"/>
          </a:xfrm>
          <a:prstGeom prst="rect">
            <a:avLst/>
          </a:prstGeom>
          <a:solidFill>
            <a:srgbClr val="FFFFFF"/>
          </a:solidFill>
          <a:ln w="8890">
            <a:solidFill>
              <a:srgbClr val="D85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1D17674-CFF3-21ED-D714-ED511FE3A538}"/>
              </a:ext>
            </a:extLst>
          </p:cNvPr>
          <p:cNvSpPr/>
          <p:nvPr/>
        </p:nvSpPr>
        <p:spPr>
          <a:xfrm>
            <a:off x="6402910" y="1036527"/>
            <a:ext cx="45719" cy="1298405"/>
          </a:xfrm>
          <a:prstGeom prst="rect">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5586DD76-A4FA-CEB4-C047-E582E5A27BC7}"/>
              </a:ext>
            </a:extLst>
          </p:cNvPr>
          <p:cNvSpPr/>
          <p:nvPr/>
        </p:nvSpPr>
        <p:spPr>
          <a:xfrm>
            <a:off x="6467415" y="1068445"/>
            <a:ext cx="310896" cy="310896"/>
          </a:xfrm>
          <a:prstGeom prst="ellipse">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1</a:t>
            </a:r>
            <a:endParaRPr sz="1000" b="1" dirty="0">
              <a:solidFill>
                <a:srgbClr val="FFFFFF"/>
              </a:solidFill>
              <a:latin typeface="Calibri"/>
            </a:endParaRPr>
          </a:p>
        </p:txBody>
      </p:sp>
      <p:sp>
        <p:nvSpPr>
          <p:cNvPr id="12" name="TextBox 11">
            <a:extLst>
              <a:ext uri="{FF2B5EF4-FFF2-40B4-BE49-F238E27FC236}">
                <a16:creationId xmlns:a16="http://schemas.microsoft.com/office/drawing/2014/main" id="{A0E3CC4F-0FDA-3B12-F234-30CAFB85C60F}"/>
              </a:ext>
            </a:extLst>
          </p:cNvPr>
          <p:cNvSpPr txBox="1"/>
          <p:nvPr/>
        </p:nvSpPr>
        <p:spPr>
          <a:xfrm>
            <a:off x="6742306" y="1058594"/>
            <a:ext cx="2401694" cy="369332"/>
          </a:xfrm>
          <a:prstGeom prst="rect">
            <a:avLst/>
          </a:prstGeom>
          <a:noFill/>
        </p:spPr>
        <p:txBody>
          <a:bodyPr wrap="square">
            <a:spAutoFit/>
          </a:bodyPr>
          <a:lstStyle/>
          <a:p>
            <a:pPr algn="l"/>
            <a:r>
              <a:rPr lang="en-GB" sz="900" b="1" i="0" dirty="0">
                <a:solidFill>
                  <a:srgbClr val="D85A30"/>
                </a:solidFill>
                <a:latin typeface="Calibri"/>
              </a:rPr>
              <a:t>All models project near-flat to rising output - with divergence</a:t>
            </a:r>
          </a:p>
        </p:txBody>
      </p:sp>
      <p:sp>
        <p:nvSpPr>
          <p:cNvPr id="13" name="TextBox 12">
            <a:extLst>
              <a:ext uri="{FF2B5EF4-FFF2-40B4-BE49-F238E27FC236}">
                <a16:creationId xmlns:a16="http://schemas.microsoft.com/office/drawing/2014/main" id="{3CC5BCC8-D121-049F-7D81-AB31945E7622}"/>
              </a:ext>
            </a:extLst>
          </p:cNvPr>
          <p:cNvSpPr txBox="1"/>
          <p:nvPr/>
        </p:nvSpPr>
        <p:spPr>
          <a:xfrm>
            <a:off x="6495202" y="1338055"/>
            <a:ext cx="2608502" cy="1061829"/>
          </a:xfrm>
          <a:prstGeom prst="rect">
            <a:avLst/>
          </a:prstGeom>
          <a:noFill/>
        </p:spPr>
        <p:txBody>
          <a:bodyPr wrap="square">
            <a:spAutoFit/>
          </a:bodyPr>
          <a:lstStyle/>
          <a:p>
            <a:r>
              <a:rPr lang="en-GB" sz="900" dirty="0"/>
              <a:t>A flat trajectory of 1,031K t through 2028 is predicted by both ARIMA and Holt-Winters, indicating mean-reversion around the 2024 baseline. The prophet predicts a steady increase to 1,065K t. The projected uncertainty band for SA retail procurement planning is represented by the difference between models.</a:t>
            </a:r>
            <a:endParaRPr sz="100" b="0" i="0" dirty="0">
              <a:solidFill>
                <a:srgbClr val="0B1F12"/>
              </a:solidFill>
              <a:latin typeface="Calibri"/>
            </a:endParaRPr>
          </a:p>
        </p:txBody>
      </p:sp>
      <p:sp>
        <p:nvSpPr>
          <p:cNvPr id="14" name="Rectangle 13">
            <a:extLst>
              <a:ext uri="{FF2B5EF4-FFF2-40B4-BE49-F238E27FC236}">
                <a16:creationId xmlns:a16="http://schemas.microsoft.com/office/drawing/2014/main" id="{03AB2AC6-4AB7-318F-98CB-5D02669FA77A}"/>
              </a:ext>
            </a:extLst>
          </p:cNvPr>
          <p:cNvSpPr/>
          <p:nvPr/>
        </p:nvSpPr>
        <p:spPr>
          <a:xfrm>
            <a:off x="6395039" y="2421929"/>
            <a:ext cx="2616373" cy="1281215"/>
          </a:xfrm>
          <a:prstGeom prst="rect">
            <a:avLst/>
          </a:prstGeom>
          <a:solidFill>
            <a:srgbClr val="FFFFFF"/>
          </a:solidFill>
          <a:ln w="8890">
            <a:solidFill>
              <a:srgbClr val="2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715B7933-3776-9970-4244-73DD6AFD5AF7}"/>
              </a:ext>
            </a:extLst>
          </p:cNvPr>
          <p:cNvSpPr/>
          <p:nvPr/>
        </p:nvSpPr>
        <p:spPr>
          <a:xfrm>
            <a:off x="6391062" y="2431775"/>
            <a:ext cx="50887" cy="1265654"/>
          </a:xfrm>
          <a:prstGeom prst="rect">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267AF846-43A6-4DA1-5393-AC0ED65CE476}"/>
              </a:ext>
            </a:extLst>
          </p:cNvPr>
          <p:cNvSpPr/>
          <p:nvPr/>
        </p:nvSpPr>
        <p:spPr>
          <a:xfrm>
            <a:off x="6474450" y="2460441"/>
            <a:ext cx="310896" cy="310896"/>
          </a:xfrm>
          <a:prstGeom prst="ellipse">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2</a:t>
            </a:r>
            <a:endParaRPr sz="1000" b="1" dirty="0">
              <a:solidFill>
                <a:srgbClr val="FFFFFF"/>
              </a:solidFill>
              <a:latin typeface="Calibri"/>
            </a:endParaRPr>
          </a:p>
        </p:txBody>
      </p:sp>
      <p:sp>
        <p:nvSpPr>
          <p:cNvPr id="17" name="TextBox 16">
            <a:extLst>
              <a:ext uri="{FF2B5EF4-FFF2-40B4-BE49-F238E27FC236}">
                <a16:creationId xmlns:a16="http://schemas.microsoft.com/office/drawing/2014/main" id="{31133674-C70E-1AAF-1550-BF92FBBB4A2B}"/>
              </a:ext>
            </a:extLst>
          </p:cNvPr>
          <p:cNvSpPr txBox="1"/>
          <p:nvPr/>
        </p:nvSpPr>
        <p:spPr>
          <a:xfrm>
            <a:off x="6742306" y="2399865"/>
            <a:ext cx="2269106" cy="369332"/>
          </a:xfrm>
          <a:prstGeom prst="rect">
            <a:avLst/>
          </a:prstGeom>
          <a:noFill/>
        </p:spPr>
        <p:txBody>
          <a:bodyPr wrap="square">
            <a:spAutoFit/>
          </a:bodyPr>
          <a:lstStyle/>
          <a:p>
            <a:pPr algn="l"/>
            <a:r>
              <a:rPr lang="en-GB" sz="900" b="1" i="0" dirty="0">
                <a:solidFill>
                  <a:srgbClr val="2D8A4E"/>
                </a:solidFill>
                <a:latin typeface="Calibri"/>
              </a:rPr>
              <a:t>Prophet lowest RMSE (10.7K) - best fit on training data</a:t>
            </a:r>
          </a:p>
        </p:txBody>
      </p:sp>
      <p:sp>
        <p:nvSpPr>
          <p:cNvPr id="18" name="TextBox 17">
            <a:extLst>
              <a:ext uri="{FF2B5EF4-FFF2-40B4-BE49-F238E27FC236}">
                <a16:creationId xmlns:a16="http://schemas.microsoft.com/office/drawing/2014/main" id="{F65B71BD-0B5B-7D38-897C-DB15EB81CA2C}"/>
              </a:ext>
            </a:extLst>
          </p:cNvPr>
          <p:cNvSpPr txBox="1"/>
          <p:nvPr/>
        </p:nvSpPr>
        <p:spPr>
          <a:xfrm>
            <a:off x="6462701" y="2709213"/>
            <a:ext cx="2641003" cy="1061829"/>
          </a:xfrm>
          <a:prstGeom prst="rect">
            <a:avLst/>
          </a:prstGeom>
          <a:noFill/>
        </p:spPr>
        <p:txBody>
          <a:bodyPr wrap="square">
            <a:spAutoFit/>
          </a:bodyPr>
          <a:lstStyle/>
          <a:p>
            <a:r>
              <a:rPr lang="en-GB" sz="900" dirty="0"/>
              <a:t>At 10.7K t, Prophet has the lowest RMSE compared to ARIMA's 19.8K t and Holt-Winters' 18.5K t. It most closely matches the 2020/24 pattern with its linear trend structure. Its upward forecast for 2026/28, however, contradicts the descriptive data's indications of rainfall shortage and irrigation buffer collapse.</a:t>
            </a:r>
            <a:endParaRPr sz="100" b="0" i="0" dirty="0">
              <a:solidFill>
                <a:srgbClr val="0B1F12"/>
              </a:solidFill>
              <a:latin typeface="Calibri"/>
            </a:endParaRPr>
          </a:p>
        </p:txBody>
      </p:sp>
      <p:sp>
        <p:nvSpPr>
          <p:cNvPr id="19" name="Rectangle 18">
            <a:extLst>
              <a:ext uri="{FF2B5EF4-FFF2-40B4-BE49-F238E27FC236}">
                <a16:creationId xmlns:a16="http://schemas.microsoft.com/office/drawing/2014/main" id="{934A725E-7F41-765C-5780-685D3A15473D}"/>
              </a:ext>
            </a:extLst>
          </p:cNvPr>
          <p:cNvSpPr/>
          <p:nvPr/>
        </p:nvSpPr>
        <p:spPr>
          <a:xfrm>
            <a:off x="6380092" y="3768030"/>
            <a:ext cx="2622135" cy="1296133"/>
          </a:xfrm>
          <a:prstGeom prst="rect">
            <a:avLst/>
          </a:prstGeom>
          <a:solidFill>
            <a:srgbClr val="FFFFFF"/>
          </a:solidFill>
          <a:ln w="8890">
            <a:solidFill>
              <a:srgbClr val="E8A2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00BB5B5C-906F-768C-9F01-9513157AFDAC}"/>
              </a:ext>
            </a:extLst>
          </p:cNvPr>
          <p:cNvSpPr/>
          <p:nvPr/>
        </p:nvSpPr>
        <p:spPr>
          <a:xfrm>
            <a:off x="6375478" y="3779636"/>
            <a:ext cx="45719" cy="1295141"/>
          </a:xfrm>
          <a:prstGeom prst="rect">
            <a:avLst/>
          </a:prstGeom>
          <a:solidFill>
            <a:srgbClr val="E8A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a:extLst>
              <a:ext uri="{FF2B5EF4-FFF2-40B4-BE49-F238E27FC236}">
                <a16:creationId xmlns:a16="http://schemas.microsoft.com/office/drawing/2014/main" id="{9AB00B2E-0A66-2950-ECD2-D0ED8571F646}"/>
              </a:ext>
            </a:extLst>
          </p:cNvPr>
          <p:cNvSpPr/>
          <p:nvPr/>
        </p:nvSpPr>
        <p:spPr>
          <a:xfrm>
            <a:off x="6441949" y="3790100"/>
            <a:ext cx="310896" cy="310896"/>
          </a:xfrm>
          <a:prstGeom prst="ellipse">
            <a:avLst/>
          </a:prstGeom>
          <a:solidFill>
            <a:srgbClr val="E8A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3</a:t>
            </a:r>
            <a:endParaRPr sz="1000" b="1" dirty="0">
              <a:solidFill>
                <a:srgbClr val="FFFFFF"/>
              </a:solidFill>
              <a:latin typeface="Calibri"/>
            </a:endParaRPr>
          </a:p>
        </p:txBody>
      </p:sp>
      <p:sp>
        <p:nvSpPr>
          <p:cNvPr id="22" name="TextBox 21">
            <a:extLst>
              <a:ext uri="{FF2B5EF4-FFF2-40B4-BE49-F238E27FC236}">
                <a16:creationId xmlns:a16="http://schemas.microsoft.com/office/drawing/2014/main" id="{8586A746-284F-B08A-8610-B69956BC9CBF}"/>
              </a:ext>
            </a:extLst>
          </p:cNvPr>
          <p:cNvSpPr txBox="1"/>
          <p:nvPr/>
        </p:nvSpPr>
        <p:spPr>
          <a:xfrm>
            <a:off x="6693069" y="3757415"/>
            <a:ext cx="2450931" cy="369332"/>
          </a:xfrm>
          <a:prstGeom prst="rect">
            <a:avLst/>
          </a:prstGeom>
          <a:noFill/>
        </p:spPr>
        <p:txBody>
          <a:bodyPr wrap="square">
            <a:spAutoFit/>
          </a:bodyPr>
          <a:lstStyle/>
          <a:p>
            <a:pPr algn="l"/>
            <a:r>
              <a:rPr lang="en-GB" sz="900" b="1" i="0" dirty="0">
                <a:solidFill>
                  <a:srgbClr val="E8A230"/>
                </a:solidFill>
                <a:latin typeface="Calibri"/>
              </a:rPr>
              <a:t>Pessimistic scenario: supply disruption risk peaks 2027</a:t>
            </a:r>
          </a:p>
        </p:txBody>
      </p:sp>
      <p:sp>
        <p:nvSpPr>
          <p:cNvPr id="23" name="TextBox 22">
            <a:extLst>
              <a:ext uri="{FF2B5EF4-FFF2-40B4-BE49-F238E27FC236}">
                <a16:creationId xmlns:a16="http://schemas.microsoft.com/office/drawing/2014/main" id="{F16D6D60-B463-C3AD-4EDC-C1EDF28DFFCB}"/>
              </a:ext>
            </a:extLst>
          </p:cNvPr>
          <p:cNvSpPr txBox="1"/>
          <p:nvPr/>
        </p:nvSpPr>
        <p:spPr>
          <a:xfrm>
            <a:off x="6495202" y="4043308"/>
            <a:ext cx="2527777" cy="1061829"/>
          </a:xfrm>
          <a:prstGeom prst="rect">
            <a:avLst/>
          </a:prstGeom>
          <a:noFill/>
        </p:spPr>
        <p:txBody>
          <a:bodyPr wrap="square">
            <a:spAutoFit/>
          </a:bodyPr>
          <a:lstStyle/>
          <a:p>
            <a:r>
              <a:rPr lang="en-GB" sz="900" dirty="0"/>
              <a:t>Actual production will probably follow the ARIMA floor (1,024K t in 2027) rather than the Prophet ceiling if rainfall stays below mean (as BOM indicates). The retail fresh food supply in SA is at a higher risk of interruption through 2027 when combined with irrigation buffer exhaustion (R = -0.621).</a:t>
            </a:r>
            <a:endParaRPr sz="900" b="0" i="0" dirty="0">
              <a:solidFill>
                <a:srgbClr val="0B1F12"/>
              </a:solidFill>
              <a:latin typeface="Calibri"/>
            </a:endParaRPr>
          </a:p>
        </p:txBody>
      </p:sp>
      <p:sp>
        <p:nvSpPr>
          <p:cNvPr id="24" name="TextBox 23">
            <a:extLst>
              <a:ext uri="{FF2B5EF4-FFF2-40B4-BE49-F238E27FC236}">
                <a16:creationId xmlns:a16="http://schemas.microsoft.com/office/drawing/2014/main" id="{2F936C94-46C1-6522-CAA4-68ADCE6567EB}"/>
              </a:ext>
            </a:extLst>
          </p:cNvPr>
          <p:cNvSpPr txBox="1"/>
          <p:nvPr/>
        </p:nvSpPr>
        <p:spPr>
          <a:xfrm>
            <a:off x="164592" y="6638544"/>
            <a:ext cx="8778240" cy="164592"/>
          </a:xfrm>
          <a:prstGeom prst="rect">
            <a:avLst/>
          </a:prstGeom>
          <a:noFill/>
        </p:spPr>
        <p:txBody>
          <a:bodyPr wrap="square">
            <a:spAutoFit/>
          </a:bodyPr>
          <a:lstStyle/>
          <a:p>
            <a:pPr algn="l"/>
            <a:r>
              <a:rPr sz="720" b="0" i="1">
                <a:solidFill>
                  <a:srgbClr val="94A3B8"/>
                </a:solidFill>
                <a:latin typeface="Calibri"/>
              </a:rPr>
              <a:t>Source: BOM 2026; ABS 2025  ·  Power BI  ·  DATA6000 Capstone</a:t>
            </a:r>
          </a:p>
        </p:txBody>
      </p:sp>
      <p:pic>
        <p:nvPicPr>
          <p:cNvPr id="6" name="Picture 5" descr="ChartI_MultiModel_Forecast.png">
            <a:extLst>
              <a:ext uri="{FF2B5EF4-FFF2-40B4-BE49-F238E27FC236}">
                <a16:creationId xmlns:a16="http://schemas.microsoft.com/office/drawing/2014/main" id="{82B723FC-8A3F-8C8A-9278-D770EEADE1E3}"/>
              </a:ext>
            </a:extLst>
          </p:cNvPr>
          <p:cNvPicPr>
            <a:picLocks noChangeAspect="1"/>
          </p:cNvPicPr>
          <p:nvPr/>
        </p:nvPicPr>
        <p:blipFill>
          <a:blip r:embed="rId3"/>
          <a:stretch>
            <a:fillRect/>
          </a:stretch>
        </p:blipFill>
        <p:spPr>
          <a:xfrm>
            <a:off x="101467" y="694432"/>
            <a:ext cx="5827349" cy="4009644"/>
          </a:xfrm>
          <a:prstGeom prst="rect">
            <a:avLst/>
          </a:prstGeom>
          <a:ln w="12700">
            <a:solidFill>
              <a:srgbClr val="0C100B"/>
            </a:solidFill>
          </a:ln>
        </p:spPr>
      </p:pic>
      <p:sp>
        <p:nvSpPr>
          <p:cNvPr id="33" name="TextBox 32">
            <a:extLst>
              <a:ext uri="{FF2B5EF4-FFF2-40B4-BE49-F238E27FC236}">
                <a16:creationId xmlns:a16="http://schemas.microsoft.com/office/drawing/2014/main" id="{8DCFDA82-413B-83B9-1BDA-0DAFD9F03145}"/>
              </a:ext>
            </a:extLst>
          </p:cNvPr>
          <p:cNvSpPr txBox="1"/>
          <p:nvPr/>
        </p:nvSpPr>
        <p:spPr>
          <a:xfrm>
            <a:off x="8921724" y="4959901"/>
            <a:ext cx="350520" cy="215444"/>
          </a:xfrm>
          <a:prstGeom prst="rect">
            <a:avLst/>
          </a:prstGeom>
          <a:noFill/>
        </p:spPr>
        <p:txBody>
          <a:bodyPr wrap="square" rtlCol="0">
            <a:spAutoFit/>
          </a:bodyPr>
          <a:lstStyle/>
          <a:p>
            <a:r>
              <a:rPr lang="en-AU" sz="800" dirty="0">
                <a:solidFill>
                  <a:schemeClr val="accent6">
                    <a:lumMod val="40000"/>
                    <a:lumOff val="60000"/>
                  </a:schemeClr>
                </a:solidFill>
              </a:rPr>
              <a:t>13</a:t>
            </a:r>
            <a:endParaRPr lang="en-AU" dirty="0">
              <a:solidFill>
                <a:schemeClr val="accent6">
                  <a:lumMod val="40000"/>
                  <a:lumOff val="60000"/>
                </a:schemeClr>
              </a:solidFill>
            </a:endParaRPr>
          </a:p>
        </p:txBody>
      </p:sp>
    </p:spTree>
    <p:extLst>
      <p:ext uri="{BB962C8B-B14F-4D97-AF65-F5344CB8AC3E}">
        <p14:creationId xmlns:p14="http://schemas.microsoft.com/office/powerpoint/2010/main" val="2824696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9EED8-ECA7-40EB-558B-39CC947722E1}"/>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D69DACC9-0CE2-5E36-289F-55E8BD11E2C4}"/>
              </a:ext>
            </a:extLst>
          </p:cNvPr>
          <p:cNvPicPr>
            <a:picLocks noChangeAspect="1"/>
          </p:cNvPicPr>
          <p:nvPr/>
        </p:nvPicPr>
        <p:blipFill>
          <a:blip r:embed="rId2">
            <a:alphaModFix amt="70000"/>
          </a:blip>
          <a:stretch>
            <a:fillRect/>
          </a:stretch>
        </p:blipFill>
        <p:spPr>
          <a:xfrm>
            <a:off x="0" y="0"/>
            <a:ext cx="9144000" cy="5143500"/>
          </a:xfrm>
          <a:prstGeom prst="rect">
            <a:avLst/>
          </a:prstGeom>
        </p:spPr>
      </p:pic>
      <p:sp>
        <p:nvSpPr>
          <p:cNvPr id="3" name="Rectangle 2">
            <a:extLst>
              <a:ext uri="{FF2B5EF4-FFF2-40B4-BE49-F238E27FC236}">
                <a16:creationId xmlns:a16="http://schemas.microsoft.com/office/drawing/2014/main" id="{302B365E-65BE-3F02-A526-9E52364A2819}"/>
              </a:ext>
            </a:extLst>
          </p:cNvPr>
          <p:cNvSpPr/>
          <p:nvPr/>
        </p:nvSpPr>
        <p:spPr>
          <a:xfrm>
            <a:off x="0" y="0"/>
            <a:ext cx="9144000" cy="54864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C534C42-2688-D2DA-C646-84C380E23E92}"/>
              </a:ext>
            </a:extLst>
          </p:cNvPr>
          <p:cNvSpPr txBox="1"/>
          <p:nvPr/>
        </p:nvSpPr>
        <p:spPr>
          <a:xfrm>
            <a:off x="201168" y="36576"/>
            <a:ext cx="8412480" cy="323165"/>
          </a:xfrm>
          <a:prstGeom prst="rect">
            <a:avLst/>
          </a:prstGeom>
          <a:noFill/>
        </p:spPr>
        <p:txBody>
          <a:bodyPr wrap="square">
            <a:spAutoFit/>
          </a:bodyPr>
          <a:lstStyle/>
          <a:p>
            <a:r>
              <a:rPr lang="en-AU" sz="1500" b="1" dirty="0">
                <a:solidFill>
                  <a:srgbClr val="FFFFFF"/>
                </a:solidFill>
              </a:rPr>
              <a:t>Predictive Analysis — Individual Model Detail (2026–2028)</a:t>
            </a:r>
          </a:p>
        </p:txBody>
      </p:sp>
      <p:sp>
        <p:nvSpPr>
          <p:cNvPr id="5" name="TextBox 4">
            <a:extLst>
              <a:ext uri="{FF2B5EF4-FFF2-40B4-BE49-F238E27FC236}">
                <a16:creationId xmlns:a16="http://schemas.microsoft.com/office/drawing/2014/main" id="{FD2079F7-7E35-4BC7-A7B8-3F9B14D437BA}"/>
              </a:ext>
            </a:extLst>
          </p:cNvPr>
          <p:cNvSpPr txBox="1"/>
          <p:nvPr/>
        </p:nvSpPr>
        <p:spPr>
          <a:xfrm>
            <a:off x="201168" y="329184"/>
            <a:ext cx="8412480" cy="215444"/>
          </a:xfrm>
          <a:prstGeom prst="rect">
            <a:avLst/>
          </a:prstGeom>
          <a:noFill/>
        </p:spPr>
        <p:txBody>
          <a:bodyPr wrap="square">
            <a:spAutoFit/>
          </a:bodyPr>
          <a:lstStyle/>
          <a:p>
            <a:r>
              <a:rPr lang="en-GB" sz="800" i="1" dirty="0">
                <a:solidFill>
                  <a:srgbClr val="5AAF6A"/>
                </a:solidFill>
              </a:rPr>
              <a:t>ARIMA(1,1,0) · Holt-Winters · Prophet — RMSE, forecasts and 95% CI by model</a:t>
            </a:r>
          </a:p>
        </p:txBody>
      </p:sp>
      <p:sp>
        <p:nvSpPr>
          <p:cNvPr id="7" name="Rectangle 6">
            <a:extLst>
              <a:ext uri="{FF2B5EF4-FFF2-40B4-BE49-F238E27FC236}">
                <a16:creationId xmlns:a16="http://schemas.microsoft.com/office/drawing/2014/main" id="{B3A3617A-E5B7-E15B-98BC-6347EE723A46}"/>
              </a:ext>
            </a:extLst>
          </p:cNvPr>
          <p:cNvSpPr/>
          <p:nvPr/>
        </p:nvSpPr>
        <p:spPr>
          <a:xfrm>
            <a:off x="6402911" y="658368"/>
            <a:ext cx="2576498" cy="274320"/>
          </a:xfrm>
          <a:prstGeom prst="rect">
            <a:avLst/>
          </a:prstGeom>
          <a:solidFill>
            <a:srgbClr val="1A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369F0AF-B330-E354-6EC7-9797C0251C11}"/>
              </a:ext>
            </a:extLst>
          </p:cNvPr>
          <p:cNvSpPr txBox="1"/>
          <p:nvPr/>
        </p:nvSpPr>
        <p:spPr>
          <a:xfrm>
            <a:off x="5788152" y="663831"/>
            <a:ext cx="3699803" cy="223138"/>
          </a:xfrm>
          <a:prstGeom prst="rect">
            <a:avLst/>
          </a:prstGeom>
          <a:noFill/>
        </p:spPr>
        <p:txBody>
          <a:bodyPr wrap="square">
            <a:spAutoFit/>
          </a:bodyPr>
          <a:lstStyle/>
          <a:p>
            <a:pPr algn="ctr"/>
            <a:r>
              <a:rPr sz="850" b="1" i="0" dirty="0">
                <a:solidFill>
                  <a:srgbClr val="E8A230"/>
                </a:solidFill>
                <a:latin typeface="Calibri"/>
              </a:rPr>
              <a:t>KEY INSIGHTS</a:t>
            </a:r>
          </a:p>
        </p:txBody>
      </p:sp>
      <p:sp>
        <p:nvSpPr>
          <p:cNvPr id="9" name="Rectangle 8">
            <a:extLst>
              <a:ext uri="{FF2B5EF4-FFF2-40B4-BE49-F238E27FC236}">
                <a16:creationId xmlns:a16="http://schemas.microsoft.com/office/drawing/2014/main" id="{1E27AEF6-7C57-8196-B223-CF328B0BAF9E}"/>
              </a:ext>
            </a:extLst>
          </p:cNvPr>
          <p:cNvSpPr/>
          <p:nvPr/>
        </p:nvSpPr>
        <p:spPr>
          <a:xfrm>
            <a:off x="6402910" y="1042416"/>
            <a:ext cx="2608502" cy="1303020"/>
          </a:xfrm>
          <a:prstGeom prst="rect">
            <a:avLst/>
          </a:prstGeom>
          <a:solidFill>
            <a:srgbClr val="FFFFFF"/>
          </a:solidFill>
          <a:ln w="8890">
            <a:solidFill>
              <a:srgbClr val="D85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F8F82366-2C09-AEA5-1708-F69A294F4F4E}"/>
              </a:ext>
            </a:extLst>
          </p:cNvPr>
          <p:cNvSpPr/>
          <p:nvPr/>
        </p:nvSpPr>
        <p:spPr>
          <a:xfrm>
            <a:off x="6402910" y="1036527"/>
            <a:ext cx="45719" cy="1298405"/>
          </a:xfrm>
          <a:prstGeom prst="rect">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D815DD33-1506-A342-DEE9-664F0112FB48}"/>
              </a:ext>
            </a:extLst>
          </p:cNvPr>
          <p:cNvSpPr/>
          <p:nvPr/>
        </p:nvSpPr>
        <p:spPr>
          <a:xfrm>
            <a:off x="6467415" y="1068445"/>
            <a:ext cx="310896" cy="310896"/>
          </a:xfrm>
          <a:prstGeom prst="ellipse">
            <a:avLst/>
          </a:prstGeom>
          <a:solidFill>
            <a:srgbClr val="D8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4</a:t>
            </a:r>
            <a:endParaRPr sz="1000" b="1" dirty="0">
              <a:solidFill>
                <a:srgbClr val="FFFFFF"/>
              </a:solidFill>
              <a:latin typeface="Calibri"/>
            </a:endParaRPr>
          </a:p>
        </p:txBody>
      </p:sp>
      <p:sp>
        <p:nvSpPr>
          <p:cNvPr id="12" name="TextBox 11">
            <a:extLst>
              <a:ext uri="{FF2B5EF4-FFF2-40B4-BE49-F238E27FC236}">
                <a16:creationId xmlns:a16="http://schemas.microsoft.com/office/drawing/2014/main" id="{5C18F9FA-941F-D91F-8100-93592CB840A3}"/>
              </a:ext>
            </a:extLst>
          </p:cNvPr>
          <p:cNvSpPr txBox="1"/>
          <p:nvPr/>
        </p:nvSpPr>
        <p:spPr>
          <a:xfrm>
            <a:off x="6742306" y="1103948"/>
            <a:ext cx="2401694" cy="230832"/>
          </a:xfrm>
          <a:prstGeom prst="rect">
            <a:avLst/>
          </a:prstGeom>
          <a:noFill/>
        </p:spPr>
        <p:txBody>
          <a:bodyPr wrap="square">
            <a:spAutoFit/>
          </a:bodyPr>
          <a:lstStyle/>
          <a:p>
            <a:pPr algn="l"/>
            <a:r>
              <a:rPr lang="en-GB" sz="900" b="1" i="0" dirty="0">
                <a:solidFill>
                  <a:srgbClr val="D85A30"/>
                </a:solidFill>
                <a:latin typeface="Calibri"/>
              </a:rPr>
              <a:t>ARIMA - mean-reverting oscillation</a:t>
            </a:r>
          </a:p>
        </p:txBody>
      </p:sp>
      <p:sp>
        <p:nvSpPr>
          <p:cNvPr id="13" name="TextBox 12">
            <a:extLst>
              <a:ext uri="{FF2B5EF4-FFF2-40B4-BE49-F238E27FC236}">
                <a16:creationId xmlns:a16="http://schemas.microsoft.com/office/drawing/2014/main" id="{B2D77A3D-F9AF-21A8-C49B-6E144071E3FA}"/>
              </a:ext>
            </a:extLst>
          </p:cNvPr>
          <p:cNvSpPr txBox="1"/>
          <p:nvPr/>
        </p:nvSpPr>
        <p:spPr>
          <a:xfrm>
            <a:off x="6600533" y="1475639"/>
            <a:ext cx="2401694" cy="646331"/>
          </a:xfrm>
          <a:prstGeom prst="rect">
            <a:avLst/>
          </a:prstGeom>
          <a:noFill/>
        </p:spPr>
        <p:txBody>
          <a:bodyPr wrap="square">
            <a:spAutoFit/>
          </a:bodyPr>
          <a:lstStyle/>
          <a:p>
            <a:r>
              <a:rPr lang="en-GB" sz="900" dirty="0"/>
              <a:t>The oscillating pattern is captured by AR(ϕ1=-0.765). 1,030K→1,024K→1,029K t-mean reversion around baseline is predicted. RMSE: 19.8K t.</a:t>
            </a:r>
            <a:endParaRPr sz="100" b="0" i="0" dirty="0">
              <a:solidFill>
                <a:srgbClr val="0B1F12"/>
              </a:solidFill>
              <a:latin typeface="Calibri"/>
            </a:endParaRPr>
          </a:p>
        </p:txBody>
      </p:sp>
      <p:sp>
        <p:nvSpPr>
          <p:cNvPr id="14" name="Rectangle 13">
            <a:extLst>
              <a:ext uri="{FF2B5EF4-FFF2-40B4-BE49-F238E27FC236}">
                <a16:creationId xmlns:a16="http://schemas.microsoft.com/office/drawing/2014/main" id="{76DEADB1-2396-9B53-6701-798946AFE9EB}"/>
              </a:ext>
            </a:extLst>
          </p:cNvPr>
          <p:cNvSpPr/>
          <p:nvPr/>
        </p:nvSpPr>
        <p:spPr>
          <a:xfrm>
            <a:off x="6395039" y="2421929"/>
            <a:ext cx="2616373" cy="1281215"/>
          </a:xfrm>
          <a:prstGeom prst="rect">
            <a:avLst/>
          </a:prstGeom>
          <a:solidFill>
            <a:srgbClr val="FFFFFF"/>
          </a:solidFill>
          <a:ln w="8890">
            <a:solidFill>
              <a:srgbClr val="2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01DC2C33-96CB-986C-F254-D8A66B039101}"/>
              </a:ext>
            </a:extLst>
          </p:cNvPr>
          <p:cNvSpPr/>
          <p:nvPr/>
        </p:nvSpPr>
        <p:spPr>
          <a:xfrm>
            <a:off x="6391062" y="2431775"/>
            <a:ext cx="50887" cy="1265654"/>
          </a:xfrm>
          <a:prstGeom prst="rect">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C63973F9-FE9F-E4BB-A64C-C3129918E804}"/>
              </a:ext>
            </a:extLst>
          </p:cNvPr>
          <p:cNvSpPr/>
          <p:nvPr/>
        </p:nvSpPr>
        <p:spPr>
          <a:xfrm>
            <a:off x="6474450" y="2460441"/>
            <a:ext cx="310896" cy="310896"/>
          </a:xfrm>
          <a:prstGeom prst="ellipse">
            <a:avLst/>
          </a:prstGeom>
          <a:solidFill>
            <a:srgbClr val="2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5</a:t>
            </a:r>
            <a:endParaRPr sz="1000" b="1" dirty="0">
              <a:solidFill>
                <a:srgbClr val="FFFFFF"/>
              </a:solidFill>
              <a:latin typeface="Calibri"/>
            </a:endParaRPr>
          </a:p>
        </p:txBody>
      </p:sp>
      <p:sp>
        <p:nvSpPr>
          <p:cNvPr id="17" name="TextBox 16">
            <a:extLst>
              <a:ext uri="{FF2B5EF4-FFF2-40B4-BE49-F238E27FC236}">
                <a16:creationId xmlns:a16="http://schemas.microsoft.com/office/drawing/2014/main" id="{7D6EE70F-B484-4C7F-644E-B903A1D5FB2B}"/>
              </a:ext>
            </a:extLst>
          </p:cNvPr>
          <p:cNvSpPr txBox="1"/>
          <p:nvPr/>
        </p:nvSpPr>
        <p:spPr>
          <a:xfrm>
            <a:off x="6763826" y="2468891"/>
            <a:ext cx="2269106" cy="230832"/>
          </a:xfrm>
          <a:prstGeom prst="rect">
            <a:avLst/>
          </a:prstGeom>
          <a:noFill/>
        </p:spPr>
        <p:txBody>
          <a:bodyPr wrap="square">
            <a:spAutoFit/>
          </a:bodyPr>
          <a:lstStyle/>
          <a:p>
            <a:pPr algn="l"/>
            <a:r>
              <a:rPr lang="en-GB" sz="900" b="1" i="0" dirty="0">
                <a:solidFill>
                  <a:srgbClr val="2D8A4E"/>
                </a:solidFill>
                <a:latin typeface="Calibri"/>
              </a:rPr>
              <a:t>Prophet - best RMSE, upward trend</a:t>
            </a:r>
          </a:p>
        </p:txBody>
      </p:sp>
      <p:sp>
        <p:nvSpPr>
          <p:cNvPr id="18" name="TextBox 17">
            <a:extLst>
              <a:ext uri="{FF2B5EF4-FFF2-40B4-BE49-F238E27FC236}">
                <a16:creationId xmlns:a16="http://schemas.microsoft.com/office/drawing/2014/main" id="{91CF2169-898A-724F-32F8-9C4C82C9000E}"/>
              </a:ext>
            </a:extLst>
          </p:cNvPr>
          <p:cNvSpPr txBox="1"/>
          <p:nvPr/>
        </p:nvSpPr>
        <p:spPr>
          <a:xfrm>
            <a:off x="6502997" y="2851437"/>
            <a:ext cx="2641003" cy="646331"/>
          </a:xfrm>
          <a:prstGeom prst="rect">
            <a:avLst/>
          </a:prstGeom>
          <a:noFill/>
        </p:spPr>
        <p:txBody>
          <a:bodyPr wrap="square">
            <a:spAutoFit/>
          </a:bodyPr>
          <a:lstStyle/>
          <a:p>
            <a:r>
              <a:rPr lang="en-GB" sz="900" dirty="0"/>
              <a:t>95% confidence interval linear trend model. At RMSE 10.7K t, it fits best. Growth is predicted to reach 1,065K t by 2028, but the confidence interval (CI) expands as time goes on.</a:t>
            </a:r>
            <a:endParaRPr sz="100" b="0" i="0" dirty="0">
              <a:solidFill>
                <a:srgbClr val="0B1F12"/>
              </a:solidFill>
              <a:latin typeface="Calibri"/>
            </a:endParaRPr>
          </a:p>
        </p:txBody>
      </p:sp>
      <p:sp>
        <p:nvSpPr>
          <p:cNvPr id="19" name="Rectangle 18">
            <a:extLst>
              <a:ext uri="{FF2B5EF4-FFF2-40B4-BE49-F238E27FC236}">
                <a16:creationId xmlns:a16="http://schemas.microsoft.com/office/drawing/2014/main" id="{AE3461D5-5349-2821-62D0-E27ED86569AC}"/>
              </a:ext>
            </a:extLst>
          </p:cNvPr>
          <p:cNvSpPr/>
          <p:nvPr/>
        </p:nvSpPr>
        <p:spPr>
          <a:xfrm>
            <a:off x="6380092" y="3768030"/>
            <a:ext cx="2622135" cy="1296133"/>
          </a:xfrm>
          <a:prstGeom prst="rect">
            <a:avLst/>
          </a:prstGeom>
          <a:solidFill>
            <a:srgbClr val="FFFFFF"/>
          </a:solidFill>
          <a:ln w="8890">
            <a:solidFill>
              <a:srgbClr val="E8A2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C7CAED12-FE84-FD40-5F6D-ED69433374AE}"/>
              </a:ext>
            </a:extLst>
          </p:cNvPr>
          <p:cNvSpPr/>
          <p:nvPr/>
        </p:nvSpPr>
        <p:spPr>
          <a:xfrm>
            <a:off x="6375478" y="3779636"/>
            <a:ext cx="45719" cy="1295141"/>
          </a:xfrm>
          <a:prstGeom prst="rect">
            <a:avLst/>
          </a:prstGeom>
          <a:solidFill>
            <a:srgbClr val="E8A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a:extLst>
              <a:ext uri="{FF2B5EF4-FFF2-40B4-BE49-F238E27FC236}">
                <a16:creationId xmlns:a16="http://schemas.microsoft.com/office/drawing/2014/main" id="{5D953BF1-9526-97E0-4D66-7C406C744908}"/>
              </a:ext>
            </a:extLst>
          </p:cNvPr>
          <p:cNvSpPr/>
          <p:nvPr/>
        </p:nvSpPr>
        <p:spPr>
          <a:xfrm>
            <a:off x="6441949" y="3790100"/>
            <a:ext cx="310896" cy="310896"/>
          </a:xfrm>
          <a:prstGeom prst="ellipse">
            <a:avLst/>
          </a:prstGeom>
          <a:solidFill>
            <a:srgbClr val="E8A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000" b="1" dirty="0">
                <a:solidFill>
                  <a:srgbClr val="FFFFFF"/>
                </a:solidFill>
                <a:latin typeface="Calibri"/>
              </a:rPr>
              <a:t>6</a:t>
            </a:r>
            <a:endParaRPr sz="1000" b="1" dirty="0">
              <a:solidFill>
                <a:srgbClr val="FFFFFF"/>
              </a:solidFill>
              <a:latin typeface="Calibri"/>
            </a:endParaRPr>
          </a:p>
        </p:txBody>
      </p:sp>
      <p:sp>
        <p:nvSpPr>
          <p:cNvPr id="22" name="TextBox 21">
            <a:extLst>
              <a:ext uri="{FF2B5EF4-FFF2-40B4-BE49-F238E27FC236}">
                <a16:creationId xmlns:a16="http://schemas.microsoft.com/office/drawing/2014/main" id="{17312F48-4E92-D5B7-8C42-059FCE5962ED}"/>
              </a:ext>
            </a:extLst>
          </p:cNvPr>
          <p:cNvSpPr txBox="1"/>
          <p:nvPr/>
        </p:nvSpPr>
        <p:spPr>
          <a:xfrm>
            <a:off x="6742306" y="3817875"/>
            <a:ext cx="2450931" cy="230832"/>
          </a:xfrm>
          <a:prstGeom prst="rect">
            <a:avLst/>
          </a:prstGeom>
          <a:noFill/>
        </p:spPr>
        <p:txBody>
          <a:bodyPr wrap="square">
            <a:spAutoFit/>
          </a:bodyPr>
          <a:lstStyle/>
          <a:p>
            <a:pPr algn="l"/>
            <a:r>
              <a:rPr lang="en-GB" sz="900" b="1" i="0" dirty="0">
                <a:solidFill>
                  <a:srgbClr val="E8A230"/>
                </a:solidFill>
                <a:latin typeface="Calibri"/>
              </a:rPr>
              <a:t>Holt-Winters - flattest forecast</a:t>
            </a:r>
          </a:p>
        </p:txBody>
      </p:sp>
      <p:sp>
        <p:nvSpPr>
          <p:cNvPr id="23" name="TextBox 22">
            <a:extLst>
              <a:ext uri="{FF2B5EF4-FFF2-40B4-BE49-F238E27FC236}">
                <a16:creationId xmlns:a16="http://schemas.microsoft.com/office/drawing/2014/main" id="{B171585B-29A2-8DC5-6123-3BDEF4116ADE}"/>
              </a:ext>
            </a:extLst>
          </p:cNvPr>
          <p:cNvSpPr txBox="1"/>
          <p:nvPr/>
        </p:nvSpPr>
        <p:spPr>
          <a:xfrm>
            <a:off x="6537491" y="4212267"/>
            <a:ext cx="2527777" cy="646331"/>
          </a:xfrm>
          <a:prstGeom prst="rect">
            <a:avLst/>
          </a:prstGeom>
          <a:noFill/>
        </p:spPr>
        <p:txBody>
          <a:bodyPr wrap="square">
            <a:spAutoFit/>
          </a:bodyPr>
          <a:lstStyle/>
          <a:p>
            <a:r>
              <a:rPr lang="en-GB" sz="900" dirty="0"/>
              <a:t>A flat output of approximately 1,031K t is predicted using double exponential smoothing (α=0.42, β=1.0). resilient to noise yet susceptible to structural deterioration. RMSE: 18.5K t.</a:t>
            </a:r>
            <a:endParaRPr sz="900" b="0" i="0" dirty="0">
              <a:solidFill>
                <a:srgbClr val="0B1F12"/>
              </a:solidFill>
              <a:latin typeface="Calibri"/>
            </a:endParaRPr>
          </a:p>
        </p:txBody>
      </p:sp>
      <p:sp>
        <p:nvSpPr>
          <p:cNvPr id="24" name="TextBox 23">
            <a:extLst>
              <a:ext uri="{FF2B5EF4-FFF2-40B4-BE49-F238E27FC236}">
                <a16:creationId xmlns:a16="http://schemas.microsoft.com/office/drawing/2014/main" id="{90F570C9-F597-2569-37C2-5B08CA2D73F2}"/>
              </a:ext>
            </a:extLst>
          </p:cNvPr>
          <p:cNvSpPr txBox="1"/>
          <p:nvPr/>
        </p:nvSpPr>
        <p:spPr>
          <a:xfrm>
            <a:off x="164592" y="6638544"/>
            <a:ext cx="8778240" cy="164592"/>
          </a:xfrm>
          <a:prstGeom prst="rect">
            <a:avLst/>
          </a:prstGeom>
          <a:noFill/>
        </p:spPr>
        <p:txBody>
          <a:bodyPr wrap="square">
            <a:spAutoFit/>
          </a:bodyPr>
          <a:lstStyle/>
          <a:p>
            <a:pPr algn="l"/>
            <a:r>
              <a:rPr sz="720" b="0" i="1">
                <a:solidFill>
                  <a:srgbClr val="94A3B8"/>
                </a:solidFill>
                <a:latin typeface="Calibri"/>
              </a:rPr>
              <a:t>Source: BOM 2026; ABS 2025  ·  Power BI  ·  DATA6000 Capstone</a:t>
            </a:r>
          </a:p>
        </p:txBody>
      </p:sp>
      <p:pic>
        <p:nvPicPr>
          <p:cNvPr id="2" name="Picture 1" descr="ChartI_Individual_Models.png">
            <a:extLst>
              <a:ext uri="{FF2B5EF4-FFF2-40B4-BE49-F238E27FC236}">
                <a16:creationId xmlns:a16="http://schemas.microsoft.com/office/drawing/2014/main" id="{7A0A84C4-A0C9-9663-B046-5147911A660C}"/>
              </a:ext>
            </a:extLst>
          </p:cNvPr>
          <p:cNvPicPr>
            <a:picLocks noChangeAspect="1"/>
          </p:cNvPicPr>
          <p:nvPr/>
        </p:nvPicPr>
        <p:blipFill>
          <a:blip r:embed="rId3"/>
          <a:stretch>
            <a:fillRect/>
          </a:stretch>
        </p:blipFill>
        <p:spPr>
          <a:xfrm>
            <a:off x="64074" y="674222"/>
            <a:ext cx="6244836" cy="3805447"/>
          </a:xfrm>
          <a:prstGeom prst="rect">
            <a:avLst/>
          </a:prstGeom>
          <a:ln w="12700">
            <a:solidFill>
              <a:schemeClr val="tx1"/>
            </a:solidFill>
          </a:ln>
        </p:spPr>
      </p:pic>
      <p:sp>
        <p:nvSpPr>
          <p:cNvPr id="27" name="TextBox 26">
            <a:extLst>
              <a:ext uri="{FF2B5EF4-FFF2-40B4-BE49-F238E27FC236}">
                <a16:creationId xmlns:a16="http://schemas.microsoft.com/office/drawing/2014/main" id="{124C674B-0D80-677D-AA60-BA91F3A91A83}"/>
              </a:ext>
            </a:extLst>
          </p:cNvPr>
          <p:cNvSpPr txBox="1"/>
          <p:nvPr/>
        </p:nvSpPr>
        <p:spPr>
          <a:xfrm>
            <a:off x="8905474" y="4945154"/>
            <a:ext cx="350520" cy="215444"/>
          </a:xfrm>
          <a:prstGeom prst="rect">
            <a:avLst/>
          </a:prstGeom>
          <a:noFill/>
        </p:spPr>
        <p:txBody>
          <a:bodyPr wrap="square" rtlCol="0">
            <a:spAutoFit/>
          </a:bodyPr>
          <a:lstStyle/>
          <a:p>
            <a:r>
              <a:rPr lang="en-AU" sz="800" dirty="0">
                <a:solidFill>
                  <a:schemeClr val="accent6">
                    <a:lumMod val="40000"/>
                    <a:lumOff val="60000"/>
                  </a:schemeClr>
                </a:solidFill>
              </a:rPr>
              <a:t>14</a:t>
            </a:r>
            <a:endParaRPr lang="en-AU" dirty="0">
              <a:solidFill>
                <a:schemeClr val="accent6">
                  <a:lumMod val="40000"/>
                  <a:lumOff val="60000"/>
                </a:schemeClr>
              </a:solidFill>
            </a:endParaRPr>
          </a:p>
        </p:txBody>
      </p:sp>
    </p:spTree>
    <p:extLst>
      <p:ext uri="{BB962C8B-B14F-4D97-AF65-F5344CB8AC3E}">
        <p14:creationId xmlns:p14="http://schemas.microsoft.com/office/powerpoint/2010/main" val="2584019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8FAF8"/>
        </a:solidFill>
        <a:effectLst/>
      </p:bgPr>
    </p:bg>
    <p:spTree>
      <p:nvGrpSpPr>
        <p:cNvPr id="1" name=""/>
        <p:cNvGrpSpPr/>
        <p:nvPr/>
      </p:nvGrpSpPr>
      <p:grpSpPr>
        <a:xfrm>
          <a:off x="0" y="0"/>
          <a:ext cx="0" cy="0"/>
          <a:chOff x="0" y="0"/>
          <a:chExt cx="0" cy="0"/>
        </a:xfrm>
      </p:grpSpPr>
      <p:pic>
        <p:nvPicPr>
          <p:cNvPr id="93" name="Picture 92">
            <a:extLst>
              <a:ext uri="{FF2B5EF4-FFF2-40B4-BE49-F238E27FC236}">
                <a16:creationId xmlns:a16="http://schemas.microsoft.com/office/drawing/2014/main" id="{D91E0797-E9D4-2469-0A73-247274E45D0D}"/>
              </a:ext>
            </a:extLst>
          </p:cNvPr>
          <p:cNvPicPr>
            <a:picLocks noChangeAspect="1"/>
          </p:cNvPicPr>
          <p:nvPr/>
        </p:nvPicPr>
        <p:blipFill>
          <a:blip r:embed="rId3">
            <a:alphaModFix amt="70000"/>
          </a:blip>
          <a:stretch>
            <a:fillRect/>
          </a:stretch>
        </p:blipFill>
        <p:spPr>
          <a:xfrm>
            <a:off x="0" y="0"/>
            <a:ext cx="9144000" cy="5143500"/>
          </a:xfrm>
          <a:prstGeom prst="rect">
            <a:avLst/>
          </a:prstGeom>
        </p:spPr>
      </p:pic>
      <p:sp>
        <p:nvSpPr>
          <p:cNvPr id="2" name="Text 0"/>
          <p:cNvSpPr/>
          <p:nvPr/>
        </p:nvSpPr>
        <p:spPr>
          <a:xfrm>
            <a:off x="274320" y="164592"/>
            <a:ext cx="8595360" cy="438912"/>
          </a:xfrm>
          <a:prstGeom prst="rect">
            <a:avLst/>
          </a:prstGeom>
          <a:noFill/>
          <a:ln/>
        </p:spPr>
        <p:txBody>
          <a:bodyPr wrap="square" lIns="0" tIns="0" rIns="0" bIns="0" rtlCol="0" anchor="ctr"/>
          <a:lstStyle/>
          <a:p>
            <a:pPr marL="0" indent="0">
              <a:buNone/>
            </a:pPr>
            <a:r>
              <a:rPr lang="en-US" sz="2600" b="1" dirty="0">
                <a:solidFill>
                  <a:srgbClr val="1A4A24"/>
                </a:solidFill>
                <a:latin typeface="Calibri" pitchFamily="34" charset="0"/>
                <a:ea typeface="Calibri" pitchFamily="34" charset="-122"/>
                <a:cs typeface="Calibri" pitchFamily="34" charset="-120"/>
              </a:rPr>
              <a:t>Numerical Results - Model Accuracy Metrics</a:t>
            </a:r>
            <a:endParaRPr lang="en-US" sz="2600" dirty="0"/>
          </a:p>
        </p:txBody>
      </p:sp>
      <p:sp>
        <p:nvSpPr>
          <p:cNvPr id="3" name="Shape 1"/>
          <p:cNvSpPr/>
          <p:nvPr/>
        </p:nvSpPr>
        <p:spPr>
          <a:xfrm>
            <a:off x="274320" y="694944"/>
            <a:ext cx="8549640" cy="329184"/>
          </a:xfrm>
          <a:prstGeom prst="rect">
            <a:avLst/>
          </a:prstGeom>
          <a:solidFill>
            <a:srgbClr val="1A4A24"/>
          </a:solidFill>
          <a:ln w="12700">
            <a:solidFill>
              <a:srgbClr val="2D8A4E"/>
            </a:solidFill>
            <a:prstDash val="solid"/>
          </a:ln>
        </p:spPr>
        <p:txBody>
          <a:bodyPr/>
          <a:lstStyle/>
          <a:p>
            <a:endParaRPr lang="en-AU"/>
          </a:p>
        </p:txBody>
      </p:sp>
      <p:sp>
        <p:nvSpPr>
          <p:cNvPr id="4" name="Text 2"/>
          <p:cNvSpPr/>
          <p:nvPr/>
        </p:nvSpPr>
        <p:spPr>
          <a:xfrm>
            <a:off x="274320" y="694944"/>
            <a:ext cx="8549640" cy="329184"/>
          </a:xfrm>
          <a:prstGeom prst="rect">
            <a:avLst/>
          </a:prstGeom>
          <a:noFill/>
          <a:ln/>
        </p:spPr>
        <p:txBody>
          <a:bodyPr wrap="square" lIns="0" tIns="0" rIns="0" bIns="0" rtlCol="0" anchor="ctr"/>
          <a:lstStyle/>
          <a:p>
            <a:pPr marL="0" indent="0" algn="ctr">
              <a:buNone/>
            </a:pPr>
            <a:r>
              <a:rPr lang="en-US" sz="850" dirty="0">
                <a:solidFill>
                  <a:srgbClr val="FFFFFF"/>
                </a:solidFill>
              </a:rPr>
              <a:t>Time-series models aligned to FY 2021/22–2024/25 (n=4 obs)  ·  Random Forest aligned to monthly 2020–2025 (n=72 obs)</a:t>
            </a:r>
            <a:endParaRPr lang="en-US" sz="850" dirty="0"/>
          </a:p>
        </p:txBody>
      </p:sp>
      <p:sp>
        <p:nvSpPr>
          <p:cNvPr id="5" name="Shape 3"/>
          <p:cNvSpPr/>
          <p:nvPr/>
        </p:nvSpPr>
        <p:spPr>
          <a:xfrm>
            <a:off x="274320" y="1115568"/>
            <a:ext cx="1700784" cy="274320"/>
          </a:xfrm>
          <a:prstGeom prst="rect">
            <a:avLst/>
          </a:prstGeom>
          <a:solidFill>
            <a:srgbClr val="1A4A24"/>
          </a:solidFill>
          <a:ln w="6350">
            <a:solidFill>
              <a:srgbClr val="2D8A4E"/>
            </a:solidFill>
            <a:prstDash val="solid"/>
          </a:ln>
        </p:spPr>
        <p:txBody>
          <a:bodyPr/>
          <a:lstStyle/>
          <a:p>
            <a:endParaRPr lang="en-AU"/>
          </a:p>
        </p:txBody>
      </p:sp>
      <p:sp>
        <p:nvSpPr>
          <p:cNvPr id="6" name="Text 4"/>
          <p:cNvSpPr/>
          <p:nvPr/>
        </p:nvSpPr>
        <p:spPr>
          <a:xfrm>
            <a:off x="274320" y="1115568"/>
            <a:ext cx="1700784" cy="274320"/>
          </a:xfrm>
          <a:prstGeom prst="rect">
            <a:avLst/>
          </a:prstGeom>
          <a:noFill/>
          <a:ln/>
        </p:spPr>
        <p:txBody>
          <a:bodyPr wrap="square" lIns="0" tIns="0" rIns="0" bIns="0" rtlCol="0" anchor="ctr"/>
          <a:lstStyle/>
          <a:p>
            <a:pPr marL="0" indent="0" algn="ctr">
              <a:buNone/>
            </a:pPr>
            <a:r>
              <a:rPr lang="en-US" sz="850" b="1" dirty="0">
                <a:solidFill>
                  <a:srgbClr val="FFFFFF"/>
                </a:solidFill>
              </a:rPr>
              <a:t>Metric</a:t>
            </a:r>
            <a:endParaRPr lang="en-US" sz="850" dirty="0"/>
          </a:p>
        </p:txBody>
      </p:sp>
      <p:sp>
        <p:nvSpPr>
          <p:cNvPr id="7" name="Shape 5"/>
          <p:cNvSpPr/>
          <p:nvPr/>
        </p:nvSpPr>
        <p:spPr>
          <a:xfrm>
            <a:off x="2011680" y="1115568"/>
            <a:ext cx="1426464" cy="274320"/>
          </a:xfrm>
          <a:prstGeom prst="rect">
            <a:avLst/>
          </a:prstGeom>
          <a:solidFill>
            <a:srgbClr val="1A4A24"/>
          </a:solidFill>
          <a:ln w="6350">
            <a:solidFill>
              <a:srgbClr val="2D8A4E"/>
            </a:solidFill>
            <a:prstDash val="solid"/>
          </a:ln>
        </p:spPr>
        <p:txBody>
          <a:bodyPr/>
          <a:lstStyle/>
          <a:p>
            <a:endParaRPr lang="en-AU"/>
          </a:p>
        </p:txBody>
      </p:sp>
      <p:sp>
        <p:nvSpPr>
          <p:cNvPr id="8" name="Text 6"/>
          <p:cNvSpPr/>
          <p:nvPr/>
        </p:nvSpPr>
        <p:spPr>
          <a:xfrm>
            <a:off x="2011680" y="1115568"/>
            <a:ext cx="1426464" cy="274320"/>
          </a:xfrm>
          <a:prstGeom prst="rect">
            <a:avLst/>
          </a:prstGeom>
          <a:noFill/>
          <a:ln/>
        </p:spPr>
        <p:txBody>
          <a:bodyPr wrap="square" lIns="0" tIns="0" rIns="0" bIns="0" rtlCol="0" anchor="ctr"/>
          <a:lstStyle/>
          <a:p>
            <a:pPr marL="0" indent="0" algn="ctr">
              <a:buNone/>
            </a:pPr>
            <a:r>
              <a:rPr lang="en-US" sz="850" b="1" dirty="0">
                <a:solidFill>
                  <a:srgbClr val="FFFFFF"/>
                </a:solidFill>
              </a:rPr>
              <a:t>ARIMA(1,1,0)</a:t>
            </a:r>
            <a:endParaRPr lang="en-US" sz="850" dirty="0"/>
          </a:p>
        </p:txBody>
      </p:sp>
      <p:sp>
        <p:nvSpPr>
          <p:cNvPr id="9" name="Shape 7"/>
          <p:cNvSpPr/>
          <p:nvPr/>
        </p:nvSpPr>
        <p:spPr>
          <a:xfrm>
            <a:off x="3474720" y="1115568"/>
            <a:ext cx="1426464" cy="274320"/>
          </a:xfrm>
          <a:prstGeom prst="rect">
            <a:avLst/>
          </a:prstGeom>
          <a:solidFill>
            <a:srgbClr val="1A4A24"/>
          </a:solidFill>
          <a:ln w="6350">
            <a:solidFill>
              <a:srgbClr val="2D8A4E"/>
            </a:solidFill>
            <a:prstDash val="solid"/>
          </a:ln>
        </p:spPr>
        <p:txBody>
          <a:bodyPr/>
          <a:lstStyle/>
          <a:p>
            <a:endParaRPr lang="en-AU"/>
          </a:p>
        </p:txBody>
      </p:sp>
      <p:sp>
        <p:nvSpPr>
          <p:cNvPr id="10" name="Text 8"/>
          <p:cNvSpPr/>
          <p:nvPr/>
        </p:nvSpPr>
        <p:spPr>
          <a:xfrm>
            <a:off x="3474720" y="1115568"/>
            <a:ext cx="1426464" cy="274320"/>
          </a:xfrm>
          <a:prstGeom prst="rect">
            <a:avLst/>
          </a:prstGeom>
          <a:noFill/>
          <a:ln/>
        </p:spPr>
        <p:txBody>
          <a:bodyPr wrap="square" lIns="0" tIns="0" rIns="0" bIns="0" rtlCol="0" anchor="ctr"/>
          <a:lstStyle/>
          <a:p>
            <a:pPr marL="0" indent="0" algn="ctr">
              <a:buNone/>
            </a:pPr>
            <a:r>
              <a:rPr lang="en-US" sz="850" b="1" dirty="0">
                <a:solidFill>
                  <a:srgbClr val="FFFFFF"/>
                </a:solidFill>
              </a:rPr>
              <a:t>Holt-Winters</a:t>
            </a:r>
            <a:endParaRPr lang="en-US" sz="850" dirty="0"/>
          </a:p>
        </p:txBody>
      </p:sp>
      <p:sp>
        <p:nvSpPr>
          <p:cNvPr id="11" name="Shape 9"/>
          <p:cNvSpPr/>
          <p:nvPr/>
        </p:nvSpPr>
        <p:spPr>
          <a:xfrm>
            <a:off x="4937760" y="1115568"/>
            <a:ext cx="1426464" cy="274320"/>
          </a:xfrm>
          <a:prstGeom prst="rect">
            <a:avLst/>
          </a:prstGeom>
          <a:solidFill>
            <a:srgbClr val="1A4A24"/>
          </a:solidFill>
          <a:ln w="6350">
            <a:solidFill>
              <a:srgbClr val="2D8A4E"/>
            </a:solidFill>
            <a:prstDash val="solid"/>
          </a:ln>
        </p:spPr>
        <p:txBody>
          <a:bodyPr/>
          <a:lstStyle/>
          <a:p>
            <a:endParaRPr lang="en-AU"/>
          </a:p>
        </p:txBody>
      </p:sp>
      <p:sp>
        <p:nvSpPr>
          <p:cNvPr id="12" name="Text 10"/>
          <p:cNvSpPr/>
          <p:nvPr/>
        </p:nvSpPr>
        <p:spPr>
          <a:xfrm>
            <a:off x="4937760" y="1115568"/>
            <a:ext cx="1426464" cy="274320"/>
          </a:xfrm>
          <a:prstGeom prst="rect">
            <a:avLst/>
          </a:prstGeom>
          <a:noFill/>
          <a:ln/>
        </p:spPr>
        <p:txBody>
          <a:bodyPr wrap="square" lIns="0" tIns="0" rIns="0" bIns="0" rtlCol="0" anchor="ctr"/>
          <a:lstStyle/>
          <a:p>
            <a:pPr marL="0" indent="0" algn="ctr">
              <a:buNone/>
            </a:pPr>
            <a:r>
              <a:rPr lang="en-US" sz="850" b="1" dirty="0">
                <a:solidFill>
                  <a:srgbClr val="FFFFFF"/>
                </a:solidFill>
              </a:rPr>
              <a:t>Prophet</a:t>
            </a:r>
            <a:endParaRPr lang="en-US" sz="850" dirty="0"/>
          </a:p>
        </p:txBody>
      </p:sp>
      <p:sp>
        <p:nvSpPr>
          <p:cNvPr id="13" name="Shape 11"/>
          <p:cNvSpPr/>
          <p:nvPr/>
        </p:nvSpPr>
        <p:spPr>
          <a:xfrm>
            <a:off x="6400800" y="1115568"/>
            <a:ext cx="1335024" cy="274320"/>
          </a:xfrm>
          <a:prstGeom prst="rect">
            <a:avLst/>
          </a:prstGeom>
          <a:solidFill>
            <a:srgbClr val="534AB7"/>
          </a:solidFill>
          <a:ln w="6350">
            <a:solidFill>
              <a:srgbClr val="7B72D4"/>
            </a:solidFill>
            <a:prstDash val="solid"/>
          </a:ln>
        </p:spPr>
        <p:txBody>
          <a:bodyPr/>
          <a:lstStyle/>
          <a:p>
            <a:endParaRPr lang="en-AU"/>
          </a:p>
        </p:txBody>
      </p:sp>
      <p:sp>
        <p:nvSpPr>
          <p:cNvPr id="14" name="Text 12"/>
          <p:cNvSpPr/>
          <p:nvPr/>
        </p:nvSpPr>
        <p:spPr>
          <a:xfrm>
            <a:off x="6400800" y="1115568"/>
            <a:ext cx="1335024" cy="274320"/>
          </a:xfrm>
          <a:prstGeom prst="rect">
            <a:avLst/>
          </a:prstGeom>
          <a:noFill/>
          <a:ln/>
        </p:spPr>
        <p:txBody>
          <a:bodyPr wrap="square" lIns="0" tIns="0" rIns="0" bIns="0" rtlCol="0" anchor="ctr"/>
          <a:lstStyle/>
          <a:p>
            <a:pPr marL="0" indent="0" algn="ctr">
              <a:buNone/>
            </a:pPr>
            <a:r>
              <a:rPr lang="en-US" sz="850" b="1" dirty="0">
                <a:solidFill>
                  <a:srgbClr val="FFFFFF"/>
                </a:solidFill>
              </a:rPr>
              <a:t>Random Forest</a:t>
            </a:r>
            <a:endParaRPr lang="en-US" sz="850" dirty="0"/>
          </a:p>
        </p:txBody>
      </p:sp>
      <p:sp>
        <p:nvSpPr>
          <p:cNvPr id="15" name="Shape 13"/>
          <p:cNvSpPr/>
          <p:nvPr/>
        </p:nvSpPr>
        <p:spPr>
          <a:xfrm>
            <a:off x="7772400" y="1115568"/>
            <a:ext cx="1097280" cy="274320"/>
          </a:xfrm>
          <a:prstGeom prst="rect">
            <a:avLst/>
          </a:prstGeom>
          <a:solidFill>
            <a:srgbClr val="1A4A24"/>
          </a:solidFill>
          <a:ln w="6350">
            <a:solidFill>
              <a:srgbClr val="2D8A4E"/>
            </a:solidFill>
            <a:prstDash val="solid"/>
          </a:ln>
        </p:spPr>
        <p:txBody>
          <a:bodyPr/>
          <a:lstStyle/>
          <a:p>
            <a:endParaRPr lang="en-AU"/>
          </a:p>
        </p:txBody>
      </p:sp>
      <p:sp>
        <p:nvSpPr>
          <p:cNvPr id="16" name="Text 14"/>
          <p:cNvSpPr/>
          <p:nvPr/>
        </p:nvSpPr>
        <p:spPr>
          <a:xfrm>
            <a:off x="7772400" y="1115568"/>
            <a:ext cx="1097280" cy="274320"/>
          </a:xfrm>
          <a:prstGeom prst="rect">
            <a:avLst/>
          </a:prstGeom>
          <a:noFill/>
          <a:ln/>
        </p:spPr>
        <p:txBody>
          <a:bodyPr wrap="square" lIns="0" tIns="0" rIns="0" bIns="0" rtlCol="0" anchor="ctr"/>
          <a:lstStyle/>
          <a:p>
            <a:pPr marL="0" indent="0" algn="ctr">
              <a:buNone/>
            </a:pPr>
            <a:r>
              <a:rPr lang="en-US" sz="850" b="1" dirty="0">
                <a:solidFill>
                  <a:srgbClr val="FFFFFF"/>
                </a:solidFill>
              </a:rPr>
              <a:t>Best</a:t>
            </a:r>
            <a:endParaRPr lang="en-US" sz="850" dirty="0"/>
          </a:p>
        </p:txBody>
      </p:sp>
      <p:sp>
        <p:nvSpPr>
          <p:cNvPr id="17" name="Shape 15"/>
          <p:cNvSpPr/>
          <p:nvPr/>
        </p:nvSpPr>
        <p:spPr>
          <a:xfrm>
            <a:off x="274320" y="1408176"/>
            <a:ext cx="1700784" cy="438912"/>
          </a:xfrm>
          <a:prstGeom prst="rect">
            <a:avLst/>
          </a:prstGeom>
          <a:solidFill>
            <a:srgbClr val="EEF4EE"/>
          </a:solidFill>
          <a:ln w="5080">
            <a:solidFill>
              <a:srgbClr val="C8D4C8"/>
            </a:solidFill>
            <a:prstDash val="solid"/>
          </a:ln>
        </p:spPr>
        <p:txBody>
          <a:bodyPr/>
          <a:lstStyle/>
          <a:p>
            <a:endParaRPr lang="en-AU"/>
          </a:p>
        </p:txBody>
      </p:sp>
      <p:sp>
        <p:nvSpPr>
          <p:cNvPr id="18" name="Text 16"/>
          <p:cNvSpPr/>
          <p:nvPr/>
        </p:nvSpPr>
        <p:spPr>
          <a:xfrm>
            <a:off x="274320" y="1408176"/>
            <a:ext cx="1700784" cy="438912"/>
          </a:xfrm>
          <a:prstGeom prst="rect">
            <a:avLst/>
          </a:prstGeom>
          <a:noFill/>
          <a:ln/>
        </p:spPr>
        <p:txBody>
          <a:bodyPr wrap="square" lIns="0" tIns="0" rIns="0" bIns="0" rtlCol="0" anchor="ctr"/>
          <a:lstStyle/>
          <a:p>
            <a:pPr marL="0" indent="0" algn="ctr">
              <a:buNone/>
            </a:pPr>
            <a:r>
              <a:rPr lang="en-US" sz="900" b="1" dirty="0">
                <a:solidFill>
                  <a:srgbClr val="1A4A24"/>
                </a:solidFill>
              </a:rPr>
              <a:t>MAE</a:t>
            </a:r>
            <a:endParaRPr lang="en-US" sz="900" dirty="0"/>
          </a:p>
        </p:txBody>
      </p:sp>
      <p:sp>
        <p:nvSpPr>
          <p:cNvPr id="19" name="Shape 17"/>
          <p:cNvSpPr/>
          <p:nvPr/>
        </p:nvSpPr>
        <p:spPr>
          <a:xfrm>
            <a:off x="2011680" y="1408176"/>
            <a:ext cx="1426464" cy="438912"/>
          </a:xfrm>
          <a:prstGeom prst="rect">
            <a:avLst/>
          </a:prstGeom>
          <a:solidFill>
            <a:srgbClr val="EEF4EE"/>
          </a:solidFill>
          <a:ln w="5080">
            <a:solidFill>
              <a:srgbClr val="C8D4C8"/>
            </a:solidFill>
            <a:prstDash val="solid"/>
          </a:ln>
        </p:spPr>
        <p:txBody>
          <a:bodyPr/>
          <a:lstStyle/>
          <a:p>
            <a:endParaRPr lang="en-AU"/>
          </a:p>
        </p:txBody>
      </p:sp>
      <p:sp>
        <p:nvSpPr>
          <p:cNvPr id="20" name="Text 18"/>
          <p:cNvSpPr/>
          <p:nvPr/>
        </p:nvSpPr>
        <p:spPr>
          <a:xfrm>
            <a:off x="2011680" y="1408176"/>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12.45K t</a:t>
            </a:r>
            <a:endParaRPr lang="en-US" sz="950" dirty="0"/>
          </a:p>
        </p:txBody>
      </p:sp>
      <p:sp>
        <p:nvSpPr>
          <p:cNvPr id="21" name="Shape 19"/>
          <p:cNvSpPr/>
          <p:nvPr/>
        </p:nvSpPr>
        <p:spPr>
          <a:xfrm>
            <a:off x="3474720" y="1408176"/>
            <a:ext cx="1426464" cy="438912"/>
          </a:xfrm>
          <a:prstGeom prst="rect">
            <a:avLst/>
          </a:prstGeom>
          <a:solidFill>
            <a:srgbClr val="EEF4EE"/>
          </a:solidFill>
          <a:ln w="5080">
            <a:solidFill>
              <a:srgbClr val="C8D4C8"/>
            </a:solidFill>
            <a:prstDash val="solid"/>
          </a:ln>
        </p:spPr>
        <p:txBody>
          <a:bodyPr/>
          <a:lstStyle/>
          <a:p>
            <a:endParaRPr lang="en-AU"/>
          </a:p>
        </p:txBody>
      </p:sp>
      <p:sp>
        <p:nvSpPr>
          <p:cNvPr id="22" name="Text 20"/>
          <p:cNvSpPr/>
          <p:nvPr/>
        </p:nvSpPr>
        <p:spPr>
          <a:xfrm>
            <a:off x="3474720" y="1408176"/>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14.82K t</a:t>
            </a:r>
            <a:endParaRPr lang="en-US" sz="950" dirty="0"/>
          </a:p>
        </p:txBody>
      </p:sp>
      <p:sp>
        <p:nvSpPr>
          <p:cNvPr id="23" name="Shape 21"/>
          <p:cNvSpPr/>
          <p:nvPr/>
        </p:nvSpPr>
        <p:spPr>
          <a:xfrm>
            <a:off x="4937760" y="1408176"/>
            <a:ext cx="1426464" cy="438912"/>
          </a:xfrm>
          <a:prstGeom prst="rect">
            <a:avLst/>
          </a:prstGeom>
          <a:solidFill>
            <a:srgbClr val="EEF4EE"/>
          </a:solidFill>
          <a:ln w="5080">
            <a:solidFill>
              <a:srgbClr val="C8D4C8"/>
            </a:solidFill>
            <a:prstDash val="solid"/>
          </a:ln>
        </p:spPr>
        <p:txBody>
          <a:bodyPr/>
          <a:lstStyle/>
          <a:p>
            <a:endParaRPr lang="en-AU"/>
          </a:p>
        </p:txBody>
      </p:sp>
      <p:sp>
        <p:nvSpPr>
          <p:cNvPr id="24" name="Text 22"/>
          <p:cNvSpPr/>
          <p:nvPr/>
        </p:nvSpPr>
        <p:spPr>
          <a:xfrm>
            <a:off x="4937760" y="1408176"/>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11.98K t</a:t>
            </a:r>
            <a:endParaRPr lang="en-US" sz="950" dirty="0"/>
          </a:p>
        </p:txBody>
      </p:sp>
      <p:sp>
        <p:nvSpPr>
          <p:cNvPr id="25" name="Shape 23"/>
          <p:cNvSpPr/>
          <p:nvPr/>
        </p:nvSpPr>
        <p:spPr>
          <a:xfrm>
            <a:off x="6400800" y="1408176"/>
            <a:ext cx="1335024" cy="438912"/>
          </a:xfrm>
          <a:prstGeom prst="rect">
            <a:avLst/>
          </a:prstGeom>
          <a:solidFill>
            <a:srgbClr val="F0EEF9"/>
          </a:solidFill>
          <a:ln w="5080">
            <a:solidFill>
              <a:srgbClr val="C8D4C8"/>
            </a:solidFill>
            <a:prstDash val="solid"/>
          </a:ln>
        </p:spPr>
        <p:txBody>
          <a:bodyPr/>
          <a:lstStyle/>
          <a:p>
            <a:endParaRPr lang="en-AU"/>
          </a:p>
        </p:txBody>
      </p:sp>
      <p:sp>
        <p:nvSpPr>
          <p:cNvPr id="26" name="Text 24"/>
          <p:cNvSpPr/>
          <p:nvPr/>
        </p:nvSpPr>
        <p:spPr>
          <a:xfrm>
            <a:off x="6400800" y="1408176"/>
            <a:ext cx="1335024" cy="438912"/>
          </a:xfrm>
          <a:prstGeom prst="rect">
            <a:avLst/>
          </a:prstGeom>
          <a:noFill/>
          <a:ln/>
        </p:spPr>
        <p:txBody>
          <a:bodyPr wrap="square" lIns="0" tIns="0" rIns="0" bIns="0" rtlCol="0" anchor="ctr"/>
          <a:lstStyle/>
          <a:p>
            <a:pPr marL="0" indent="0" algn="ctr">
              <a:buNone/>
            </a:pPr>
            <a:r>
              <a:rPr lang="en-US" sz="950" dirty="0">
                <a:solidFill>
                  <a:srgbClr val="534AB7"/>
                </a:solidFill>
              </a:rPr>
              <a:t>14.2mm*</a:t>
            </a:r>
            <a:endParaRPr lang="en-US" sz="950" dirty="0"/>
          </a:p>
        </p:txBody>
      </p:sp>
      <p:sp>
        <p:nvSpPr>
          <p:cNvPr id="27" name="Shape 25"/>
          <p:cNvSpPr/>
          <p:nvPr/>
        </p:nvSpPr>
        <p:spPr>
          <a:xfrm>
            <a:off x="7772400" y="1408176"/>
            <a:ext cx="1097280" cy="438912"/>
          </a:xfrm>
          <a:prstGeom prst="rect">
            <a:avLst/>
          </a:prstGeom>
          <a:solidFill>
            <a:srgbClr val="E8F4EA"/>
          </a:solidFill>
          <a:ln w="5080">
            <a:solidFill>
              <a:srgbClr val="C8D4C8"/>
            </a:solidFill>
            <a:prstDash val="solid"/>
          </a:ln>
        </p:spPr>
        <p:txBody>
          <a:bodyPr/>
          <a:lstStyle/>
          <a:p>
            <a:endParaRPr lang="en-AU"/>
          </a:p>
        </p:txBody>
      </p:sp>
      <p:sp>
        <p:nvSpPr>
          <p:cNvPr id="28" name="Text 26"/>
          <p:cNvSpPr/>
          <p:nvPr/>
        </p:nvSpPr>
        <p:spPr>
          <a:xfrm>
            <a:off x="7772400" y="1408176"/>
            <a:ext cx="1097280" cy="438912"/>
          </a:xfrm>
          <a:prstGeom prst="rect">
            <a:avLst/>
          </a:prstGeom>
          <a:noFill/>
          <a:ln/>
        </p:spPr>
        <p:txBody>
          <a:bodyPr wrap="square" lIns="0" tIns="0" rIns="0" bIns="0" rtlCol="0" anchor="ctr"/>
          <a:lstStyle/>
          <a:p>
            <a:pPr marL="0" indent="0" algn="ctr">
              <a:buNone/>
            </a:pPr>
            <a:r>
              <a:rPr lang="en-US" sz="950" b="1" dirty="0">
                <a:solidFill>
                  <a:srgbClr val="2D8A4E"/>
                </a:solidFill>
              </a:rPr>
              <a:t>Prophet</a:t>
            </a:r>
            <a:endParaRPr lang="en-US" sz="950" dirty="0"/>
          </a:p>
        </p:txBody>
      </p:sp>
      <p:sp>
        <p:nvSpPr>
          <p:cNvPr id="29" name="Shape 27"/>
          <p:cNvSpPr/>
          <p:nvPr/>
        </p:nvSpPr>
        <p:spPr>
          <a:xfrm>
            <a:off x="274320" y="1883664"/>
            <a:ext cx="1700784" cy="438912"/>
          </a:xfrm>
          <a:prstGeom prst="rect">
            <a:avLst/>
          </a:prstGeom>
          <a:solidFill>
            <a:srgbClr val="FFFFFF"/>
          </a:solidFill>
          <a:ln w="5080">
            <a:solidFill>
              <a:srgbClr val="C8D4C8"/>
            </a:solidFill>
            <a:prstDash val="solid"/>
          </a:ln>
        </p:spPr>
        <p:txBody>
          <a:bodyPr/>
          <a:lstStyle/>
          <a:p>
            <a:endParaRPr lang="en-AU"/>
          </a:p>
        </p:txBody>
      </p:sp>
      <p:sp>
        <p:nvSpPr>
          <p:cNvPr id="30" name="Text 28"/>
          <p:cNvSpPr/>
          <p:nvPr/>
        </p:nvSpPr>
        <p:spPr>
          <a:xfrm>
            <a:off x="274320" y="1883664"/>
            <a:ext cx="1700784" cy="438912"/>
          </a:xfrm>
          <a:prstGeom prst="rect">
            <a:avLst/>
          </a:prstGeom>
          <a:noFill/>
          <a:ln/>
        </p:spPr>
        <p:txBody>
          <a:bodyPr wrap="square" lIns="0" tIns="0" rIns="0" bIns="0" rtlCol="0" anchor="ctr"/>
          <a:lstStyle/>
          <a:p>
            <a:pPr marL="0" indent="0" algn="ctr">
              <a:buNone/>
            </a:pPr>
            <a:r>
              <a:rPr lang="en-US" sz="900" b="1" dirty="0">
                <a:solidFill>
                  <a:srgbClr val="1A4A24"/>
                </a:solidFill>
              </a:rPr>
              <a:t>RMSE</a:t>
            </a:r>
            <a:endParaRPr lang="en-US" sz="900" dirty="0"/>
          </a:p>
        </p:txBody>
      </p:sp>
      <p:sp>
        <p:nvSpPr>
          <p:cNvPr id="31" name="Shape 29"/>
          <p:cNvSpPr/>
          <p:nvPr/>
        </p:nvSpPr>
        <p:spPr>
          <a:xfrm>
            <a:off x="2011680" y="1883664"/>
            <a:ext cx="1426464" cy="438912"/>
          </a:xfrm>
          <a:prstGeom prst="rect">
            <a:avLst/>
          </a:prstGeom>
          <a:solidFill>
            <a:srgbClr val="FFFFFF"/>
          </a:solidFill>
          <a:ln w="5080">
            <a:solidFill>
              <a:srgbClr val="C8D4C8"/>
            </a:solidFill>
            <a:prstDash val="solid"/>
          </a:ln>
        </p:spPr>
        <p:txBody>
          <a:bodyPr/>
          <a:lstStyle/>
          <a:p>
            <a:endParaRPr lang="en-AU"/>
          </a:p>
        </p:txBody>
      </p:sp>
      <p:sp>
        <p:nvSpPr>
          <p:cNvPr id="32" name="Text 30"/>
          <p:cNvSpPr/>
          <p:nvPr/>
        </p:nvSpPr>
        <p:spPr>
          <a:xfrm>
            <a:off x="2011680" y="1883664"/>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15.62K t</a:t>
            </a:r>
            <a:endParaRPr lang="en-US" sz="950" dirty="0"/>
          </a:p>
        </p:txBody>
      </p:sp>
      <p:sp>
        <p:nvSpPr>
          <p:cNvPr id="33" name="Shape 31"/>
          <p:cNvSpPr/>
          <p:nvPr/>
        </p:nvSpPr>
        <p:spPr>
          <a:xfrm>
            <a:off x="3474720" y="1883664"/>
            <a:ext cx="1426464" cy="438912"/>
          </a:xfrm>
          <a:prstGeom prst="rect">
            <a:avLst/>
          </a:prstGeom>
          <a:solidFill>
            <a:srgbClr val="FFFFFF"/>
          </a:solidFill>
          <a:ln w="5080">
            <a:solidFill>
              <a:srgbClr val="C8D4C8"/>
            </a:solidFill>
            <a:prstDash val="solid"/>
          </a:ln>
        </p:spPr>
        <p:txBody>
          <a:bodyPr/>
          <a:lstStyle/>
          <a:p>
            <a:endParaRPr lang="en-AU"/>
          </a:p>
        </p:txBody>
      </p:sp>
      <p:sp>
        <p:nvSpPr>
          <p:cNvPr id="34" name="Text 32"/>
          <p:cNvSpPr/>
          <p:nvPr/>
        </p:nvSpPr>
        <p:spPr>
          <a:xfrm>
            <a:off x="3474720" y="1883664"/>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18.34K t</a:t>
            </a:r>
            <a:endParaRPr lang="en-US" sz="950" dirty="0"/>
          </a:p>
        </p:txBody>
      </p:sp>
      <p:sp>
        <p:nvSpPr>
          <p:cNvPr id="35" name="Shape 33"/>
          <p:cNvSpPr/>
          <p:nvPr/>
        </p:nvSpPr>
        <p:spPr>
          <a:xfrm>
            <a:off x="4937760" y="1883664"/>
            <a:ext cx="1426464" cy="438912"/>
          </a:xfrm>
          <a:prstGeom prst="rect">
            <a:avLst/>
          </a:prstGeom>
          <a:solidFill>
            <a:srgbClr val="FFFFFF"/>
          </a:solidFill>
          <a:ln w="5080">
            <a:solidFill>
              <a:srgbClr val="C8D4C8"/>
            </a:solidFill>
            <a:prstDash val="solid"/>
          </a:ln>
        </p:spPr>
        <p:txBody>
          <a:bodyPr/>
          <a:lstStyle/>
          <a:p>
            <a:endParaRPr lang="en-AU"/>
          </a:p>
        </p:txBody>
      </p:sp>
      <p:sp>
        <p:nvSpPr>
          <p:cNvPr id="36" name="Text 34"/>
          <p:cNvSpPr/>
          <p:nvPr/>
        </p:nvSpPr>
        <p:spPr>
          <a:xfrm>
            <a:off x="4937760" y="1883664"/>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14.77K t</a:t>
            </a:r>
            <a:endParaRPr lang="en-US" sz="950" dirty="0"/>
          </a:p>
        </p:txBody>
      </p:sp>
      <p:sp>
        <p:nvSpPr>
          <p:cNvPr id="37" name="Shape 35"/>
          <p:cNvSpPr/>
          <p:nvPr/>
        </p:nvSpPr>
        <p:spPr>
          <a:xfrm>
            <a:off x="6400800" y="1883664"/>
            <a:ext cx="1335024" cy="438912"/>
          </a:xfrm>
          <a:prstGeom prst="rect">
            <a:avLst/>
          </a:prstGeom>
          <a:solidFill>
            <a:srgbClr val="F0EEF9"/>
          </a:solidFill>
          <a:ln w="5080">
            <a:solidFill>
              <a:srgbClr val="C8D4C8"/>
            </a:solidFill>
            <a:prstDash val="solid"/>
          </a:ln>
        </p:spPr>
        <p:txBody>
          <a:bodyPr/>
          <a:lstStyle/>
          <a:p>
            <a:endParaRPr lang="en-AU"/>
          </a:p>
        </p:txBody>
      </p:sp>
      <p:sp>
        <p:nvSpPr>
          <p:cNvPr id="38" name="Text 36"/>
          <p:cNvSpPr/>
          <p:nvPr/>
        </p:nvSpPr>
        <p:spPr>
          <a:xfrm>
            <a:off x="6400800" y="1883664"/>
            <a:ext cx="1335024" cy="438912"/>
          </a:xfrm>
          <a:prstGeom prst="rect">
            <a:avLst/>
          </a:prstGeom>
          <a:noFill/>
          <a:ln/>
        </p:spPr>
        <p:txBody>
          <a:bodyPr wrap="square" lIns="0" tIns="0" rIns="0" bIns="0" rtlCol="0" anchor="ctr"/>
          <a:lstStyle/>
          <a:p>
            <a:pPr marL="0" indent="0" algn="ctr">
              <a:buNone/>
            </a:pPr>
            <a:r>
              <a:rPr lang="en-US" sz="950" dirty="0">
                <a:solidFill>
                  <a:srgbClr val="534AB7"/>
                </a:solidFill>
              </a:rPr>
              <a:t>18.4mm*</a:t>
            </a:r>
            <a:endParaRPr lang="en-US" sz="950" dirty="0"/>
          </a:p>
        </p:txBody>
      </p:sp>
      <p:sp>
        <p:nvSpPr>
          <p:cNvPr id="39" name="Shape 37"/>
          <p:cNvSpPr/>
          <p:nvPr/>
        </p:nvSpPr>
        <p:spPr>
          <a:xfrm>
            <a:off x="7772400" y="1883664"/>
            <a:ext cx="1097280" cy="438912"/>
          </a:xfrm>
          <a:prstGeom prst="rect">
            <a:avLst/>
          </a:prstGeom>
          <a:solidFill>
            <a:srgbClr val="E8F4EA"/>
          </a:solidFill>
          <a:ln w="5080">
            <a:solidFill>
              <a:srgbClr val="C8D4C8"/>
            </a:solidFill>
            <a:prstDash val="solid"/>
          </a:ln>
        </p:spPr>
        <p:txBody>
          <a:bodyPr/>
          <a:lstStyle/>
          <a:p>
            <a:endParaRPr lang="en-AU"/>
          </a:p>
        </p:txBody>
      </p:sp>
      <p:sp>
        <p:nvSpPr>
          <p:cNvPr id="40" name="Text 38"/>
          <p:cNvSpPr/>
          <p:nvPr/>
        </p:nvSpPr>
        <p:spPr>
          <a:xfrm>
            <a:off x="7772400" y="1883664"/>
            <a:ext cx="1097280" cy="438912"/>
          </a:xfrm>
          <a:prstGeom prst="rect">
            <a:avLst/>
          </a:prstGeom>
          <a:noFill/>
          <a:ln/>
        </p:spPr>
        <p:txBody>
          <a:bodyPr wrap="square" lIns="0" tIns="0" rIns="0" bIns="0" rtlCol="0" anchor="ctr"/>
          <a:lstStyle/>
          <a:p>
            <a:pPr marL="0" indent="0" algn="ctr">
              <a:buNone/>
            </a:pPr>
            <a:r>
              <a:rPr lang="en-US" sz="950" b="1" dirty="0">
                <a:solidFill>
                  <a:srgbClr val="2D8A4E"/>
                </a:solidFill>
              </a:rPr>
              <a:t>Prophet</a:t>
            </a:r>
            <a:endParaRPr lang="en-US" sz="950" dirty="0"/>
          </a:p>
        </p:txBody>
      </p:sp>
      <p:sp>
        <p:nvSpPr>
          <p:cNvPr id="41" name="Shape 39"/>
          <p:cNvSpPr/>
          <p:nvPr/>
        </p:nvSpPr>
        <p:spPr>
          <a:xfrm>
            <a:off x="274320" y="2359152"/>
            <a:ext cx="1700784" cy="438912"/>
          </a:xfrm>
          <a:prstGeom prst="rect">
            <a:avLst/>
          </a:prstGeom>
          <a:solidFill>
            <a:srgbClr val="EEF4EE"/>
          </a:solidFill>
          <a:ln w="5080">
            <a:solidFill>
              <a:srgbClr val="C8D4C8"/>
            </a:solidFill>
            <a:prstDash val="solid"/>
          </a:ln>
        </p:spPr>
        <p:txBody>
          <a:bodyPr/>
          <a:lstStyle/>
          <a:p>
            <a:endParaRPr lang="en-AU"/>
          </a:p>
        </p:txBody>
      </p:sp>
      <p:sp>
        <p:nvSpPr>
          <p:cNvPr id="42" name="Text 40"/>
          <p:cNvSpPr/>
          <p:nvPr/>
        </p:nvSpPr>
        <p:spPr>
          <a:xfrm>
            <a:off x="274320" y="2359152"/>
            <a:ext cx="1700784" cy="438912"/>
          </a:xfrm>
          <a:prstGeom prst="rect">
            <a:avLst/>
          </a:prstGeom>
          <a:noFill/>
          <a:ln/>
        </p:spPr>
        <p:txBody>
          <a:bodyPr wrap="square" lIns="0" tIns="0" rIns="0" bIns="0" rtlCol="0" anchor="ctr"/>
          <a:lstStyle/>
          <a:p>
            <a:pPr marL="0" indent="0" algn="ctr">
              <a:buNone/>
            </a:pPr>
            <a:r>
              <a:rPr lang="en-US" sz="900" b="1" dirty="0">
                <a:solidFill>
                  <a:srgbClr val="1A4A24"/>
                </a:solidFill>
              </a:rPr>
              <a:t>MAPE (%)</a:t>
            </a:r>
            <a:endParaRPr lang="en-US" sz="900" dirty="0"/>
          </a:p>
        </p:txBody>
      </p:sp>
      <p:sp>
        <p:nvSpPr>
          <p:cNvPr id="43" name="Shape 41"/>
          <p:cNvSpPr/>
          <p:nvPr/>
        </p:nvSpPr>
        <p:spPr>
          <a:xfrm>
            <a:off x="2011680" y="2359152"/>
            <a:ext cx="1426464" cy="438912"/>
          </a:xfrm>
          <a:prstGeom prst="rect">
            <a:avLst/>
          </a:prstGeom>
          <a:solidFill>
            <a:srgbClr val="EEF4EE"/>
          </a:solidFill>
          <a:ln w="5080">
            <a:solidFill>
              <a:srgbClr val="C8D4C8"/>
            </a:solidFill>
            <a:prstDash val="solid"/>
          </a:ln>
        </p:spPr>
        <p:txBody>
          <a:bodyPr/>
          <a:lstStyle/>
          <a:p>
            <a:endParaRPr lang="en-AU"/>
          </a:p>
        </p:txBody>
      </p:sp>
      <p:sp>
        <p:nvSpPr>
          <p:cNvPr id="44" name="Text 42"/>
          <p:cNvSpPr/>
          <p:nvPr/>
        </p:nvSpPr>
        <p:spPr>
          <a:xfrm>
            <a:off x="2011680" y="2359152"/>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1.24%</a:t>
            </a:r>
            <a:endParaRPr lang="en-US" sz="950" dirty="0"/>
          </a:p>
        </p:txBody>
      </p:sp>
      <p:sp>
        <p:nvSpPr>
          <p:cNvPr id="45" name="Shape 43"/>
          <p:cNvSpPr/>
          <p:nvPr/>
        </p:nvSpPr>
        <p:spPr>
          <a:xfrm>
            <a:off x="3474720" y="2359152"/>
            <a:ext cx="1426464" cy="438912"/>
          </a:xfrm>
          <a:prstGeom prst="rect">
            <a:avLst/>
          </a:prstGeom>
          <a:solidFill>
            <a:srgbClr val="EEF4EE"/>
          </a:solidFill>
          <a:ln w="5080">
            <a:solidFill>
              <a:srgbClr val="C8D4C8"/>
            </a:solidFill>
            <a:prstDash val="solid"/>
          </a:ln>
        </p:spPr>
        <p:txBody>
          <a:bodyPr/>
          <a:lstStyle/>
          <a:p>
            <a:endParaRPr lang="en-AU"/>
          </a:p>
        </p:txBody>
      </p:sp>
      <p:sp>
        <p:nvSpPr>
          <p:cNvPr id="46" name="Text 44"/>
          <p:cNvSpPr/>
          <p:nvPr/>
        </p:nvSpPr>
        <p:spPr>
          <a:xfrm>
            <a:off x="3474720" y="2359152"/>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1.46%</a:t>
            </a:r>
            <a:endParaRPr lang="en-US" sz="950" dirty="0"/>
          </a:p>
        </p:txBody>
      </p:sp>
      <p:sp>
        <p:nvSpPr>
          <p:cNvPr id="47" name="Shape 45"/>
          <p:cNvSpPr/>
          <p:nvPr/>
        </p:nvSpPr>
        <p:spPr>
          <a:xfrm>
            <a:off x="4937760" y="2359152"/>
            <a:ext cx="1426464" cy="438912"/>
          </a:xfrm>
          <a:prstGeom prst="rect">
            <a:avLst/>
          </a:prstGeom>
          <a:solidFill>
            <a:srgbClr val="EEF4EE"/>
          </a:solidFill>
          <a:ln w="5080">
            <a:solidFill>
              <a:srgbClr val="C8D4C8"/>
            </a:solidFill>
            <a:prstDash val="solid"/>
          </a:ln>
        </p:spPr>
        <p:txBody>
          <a:bodyPr/>
          <a:lstStyle/>
          <a:p>
            <a:endParaRPr lang="en-AU"/>
          </a:p>
        </p:txBody>
      </p:sp>
      <p:sp>
        <p:nvSpPr>
          <p:cNvPr id="48" name="Text 46"/>
          <p:cNvSpPr/>
          <p:nvPr/>
        </p:nvSpPr>
        <p:spPr>
          <a:xfrm>
            <a:off x="4937760" y="2359152"/>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1.18%</a:t>
            </a:r>
            <a:endParaRPr lang="en-US" sz="950" dirty="0"/>
          </a:p>
        </p:txBody>
      </p:sp>
      <p:sp>
        <p:nvSpPr>
          <p:cNvPr id="49" name="Shape 47"/>
          <p:cNvSpPr/>
          <p:nvPr/>
        </p:nvSpPr>
        <p:spPr>
          <a:xfrm>
            <a:off x="6400800" y="2359152"/>
            <a:ext cx="1335024" cy="438912"/>
          </a:xfrm>
          <a:prstGeom prst="rect">
            <a:avLst/>
          </a:prstGeom>
          <a:solidFill>
            <a:srgbClr val="F0EEF9"/>
          </a:solidFill>
          <a:ln w="5080">
            <a:solidFill>
              <a:srgbClr val="C8D4C8"/>
            </a:solidFill>
            <a:prstDash val="solid"/>
          </a:ln>
        </p:spPr>
        <p:txBody>
          <a:bodyPr/>
          <a:lstStyle/>
          <a:p>
            <a:endParaRPr lang="en-AU"/>
          </a:p>
        </p:txBody>
      </p:sp>
      <p:sp>
        <p:nvSpPr>
          <p:cNvPr id="50" name="Text 48"/>
          <p:cNvSpPr/>
          <p:nvPr/>
        </p:nvSpPr>
        <p:spPr>
          <a:xfrm>
            <a:off x="6400800" y="2359152"/>
            <a:ext cx="1335024" cy="438912"/>
          </a:xfrm>
          <a:prstGeom prst="rect">
            <a:avLst/>
          </a:prstGeom>
          <a:noFill/>
          <a:ln/>
        </p:spPr>
        <p:txBody>
          <a:bodyPr wrap="square" lIns="0" tIns="0" rIns="0" bIns="0" rtlCol="0" anchor="ctr"/>
          <a:lstStyle/>
          <a:p>
            <a:pPr marL="0" indent="0" algn="ctr">
              <a:buNone/>
            </a:pPr>
            <a:r>
              <a:rPr lang="en-US" sz="950" dirty="0">
                <a:solidFill>
                  <a:srgbClr val="534AB7"/>
                </a:solidFill>
              </a:rPr>
              <a:t>14.8%*</a:t>
            </a:r>
            <a:endParaRPr lang="en-US" sz="950" dirty="0"/>
          </a:p>
        </p:txBody>
      </p:sp>
      <p:sp>
        <p:nvSpPr>
          <p:cNvPr id="51" name="Shape 49"/>
          <p:cNvSpPr/>
          <p:nvPr/>
        </p:nvSpPr>
        <p:spPr>
          <a:xfrm>
            <a:off x="7772400" y="2359152"/>
            <a:ext cx="1097280" cy="438912"/>
          </a:xfrm>
          <a:prstGeom prst="rect">
            <a:avLst/>
          </a:prstGeom>
          <a:solidFill>
            <a:srgbClr val="E8F4EA"/>
          </a:solidFill>
          <a:ln w="5080">
            <a:solidFill>
              <a:srgbClr val="C8D4C8"/>
            </a:solidFill>
            <a:prstDash val="solid"/>
          </a:ln>
        </p:spPr>
        <p:txBody>
          <a:bodyPr/>
          <a:lstStyle/>
          <a:p>
            <a:endParaRPr lang="en-AU"/>
          </a:p>
        </p:txBody>
      </p:sp>
      <p:sp>
        <p:nvSpPr>
          <p:cNvPr id="52" name="Text 50"/>
          <p:cNvSpPr/>
          <p:nvPr/>
        </p:nvSpPr>
        <p:spPr>
          <a:xfrm>
            <a:off x="7772400" y="2359152"/>
            <a:ext cx="1097280" cy="438912"/>
          </a:xfrm>
          <a:prstGeom prst="rect">
            <a:avLst/>
          </a:prstGeom>
          <a:noFill/>
          <a:ln/>
        </p:spPr>
        <p:txBody>
          <a:bodyPr wrap="square" lIns="0" tIns="0" rIns="0" bIns="0" rtlCol="0" anchor="ctr"/>
          <a:lstStyle/>
          <a:p>
            <a:pPr marL="0" indent="0" algn="ctr">
              <a:buNone/>
            </a:pPr>
            <a:r>
              <a:rPr lang="en-US" sz="950" b="1" dirty="0">
                <a:solidFill>
                  <a:srgbClr val="2D8A4E"/>
                </a:solidFill>
              </a:rPr>
              <a:t>Prophet</a:t>
            </a:r>
            <a:endParaRPr lang="en-US" sz="950" dirty="0"/>
          </a:p>
        </p:txBody>
      </p:sp>
      <p:sp>
        <p:nvSpPr>
          <p:cNvPr id="53" name="Shape 51"/>
          <p:cNvSpPr/>
          <p:nvPr/>
        </p:nvSpPr>
        <p:spPr>
          <a:xfrm>
            <a:off x="274320" y="2834640"/>
            <a:ext cx="1700784" cy="438912"/>
          </a:xfrm>
          <a:prstGeom prst="rect">
            <a:avLst/>
          </a:prstGeom>
          <a:solidFill>
            <a:srgbClr val="FFFFFF"/>
          </a:solidFill>
          <a:ln w="5080">
            <a:solidFill>
              <a:srgbClr val="C8D4C8"/>
            </a:solidFill>
            <a:prstDash val="solid"/>
          </a:ln>
        </p:spPr>
        <p:txBody>
          <a:bodyPr/>
          <a:lstStyle/>
          <a:p>
            <a:endParaRPr lang="en-AU"/>
          </a:p>
        </p:txBody>
      </p:sp>
      <p:sp>
        <p:nvSpPr>
          <p:cNvPr id="54" name="Text 52"/>
          <p:cNvSpPr/>
          <p:nvPr/>
        </p:nvSpPr>
        <p:spPr>
          <a:xfrm>
            <a:off x="274320" y="2834640"/>
            <a:ext cx="1700784" cy="438912"/>
          </a:xfrm>
          <a:prstGeom prst="rect">
            <a:avLst/>
          </a:prstGeom>
          <a:noFill/>
          <a:ln/>
        </p:spPr>
        <p:txBody>
          <a:bodyPr wrap="square" lIns="0" tIns="0" rIns="0" bIns="0" rtlCol="0" anchor="ctr"/>
          <a:lstStyle/>
          <a:p>
            <a:pPr marL="0" indent="0" algn="ctr">
              <a:buNone/>
            </a:pPr>
            <a:r>
              <a:rPr lang="en-US" sz="900" b="1" dirty="0">
                <a:solidFill>
                  <a:srgbClr val="1A4A24"/>
                </a:solidFill>
              </a:rPr>
              <a:t>R-squared</a:t>
            </a:r>
            <a:endParaRPr lang="en-US" sz="900" dirty="0"/>
          </a:p>
        </p:txBody>
      </p:sp>
      <p:sp>
        <p:nvSpPr>
          <p:cNvPr id="55" name="Shape 53"/>
          <p:cNvSpPr/>
          <p:nvPr/>
        </p:nvSpPr>
        <p:spPr>
          <a:xfrm>
            <a:off x="2011680" y="2834640"/>
            <a:ext cx="1426464" cy="438912"/>
          </a:xfrm>
          <a:prstGeom prst="rect">
            <a:avLst/>
          </a:prstGeom>
          <a:solidFill>
            <a:srgbClr val="FFFFFF"/>
          </a:solidFill>
          <a:ln w="5080">
            <a:solidFill>
              <a:srgbClr val="C8D4C8"/>
            </a:solidFill>
            <a:prstDash val="solid"/>
          </a:ln>
        </p:spPr>
        <p:txBody>
          <a:bodyPr/>
          <a:lstStyle/>
          <a:p>
            <a:endParaRPr lang="en-AU"/>
          </a:p>
        </p:txBody>
      </p:sp>
      <p:sp>
        <p:nvSpPr>
          <p:cNvPr id="56" name="Text 54"/>
          <p:cNvSpPr/>
          <p:nvPr/>
        </p:nvSpPr>
        <p:spPr>
          <a:xfrm>
            <a:off x="2011680" y="2834640"/>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0.7823</a:t>
            </a:r>
            <a:endParaRPr lang="en-US" sz="950" dirty="0"/>
          </a:p>
        </p:txBody>
      </p:sp>
      <p:sp>
        <p:nvSpPr>
          <p:cNvPr id="57" name="Shape 55"/>
          <p:cNvSpPr/>
          <p:nvPr/>
        </p:nvSpPr>
        <p:spPr>
          <a:xfrm>
            <a:off x="3474720" y="2834640"/>
            <a:ext cx="1426464" cy="438912"/>
          </a:xfrm>
          <a:prstGeom prst="rect">
            <a:avLst/>
          </a:prstGeom>
          <a:solidFill>
            <a:srgbClr val="FFFFFF"/>
          </a:solidFill>
          <a:ln w="5080">
            <a:solidFill>
              <a:srgbClr val="C8D4C8"/>
            </a:solidFill>
            <a:prstDash val="solid"/>
          </a:ln>
        </p:spPr>
        <p:txBody>
          <a:bodyPr/>
          <a:lstStyle/>
          <a:p>
            <a:endParaRPr lang="en-AU"/>
          </a:p>
        </p:txBody>
      </p:sp>
      <p:sp>
        <p:nvSpPr>
          <p:cNvPr id="58" name="Text 56"/>
          <p:cNvSpPr/>
          <p:nvPr/>
        </p:nvSpPr>
        <p:spPr>
          <a:xfrm>
            <a:off x="3474720" y="2834640"/>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0.7214</a:t>
            </a:r>
            <a:endParaRPr lang="en-US" sz="950" dirty="0"/>
          </a:p>
        </p:txBody>
      </p:sp>
      <p:sp>
        <p:nvSpPr>
          <p:cNvPr id="59" name="Shape 57"/>
          <p:cNvSpPr/>
          <p:nvPr/>
        </p:nvSpPr>
        <p:spPr>
          <a:xfrm>
            <a:off x="4937760" y="2834640"/>
            <a:ext cx="1426464" cy="438912"/>
          </a:xfrm>
          <a:prstGeom prst="rect">
            <a:avLst/>
          </a:prstGeom>
          <a:solidFill>
            <a:srgbClr val="FFFFFF"/>
          </a:solidFill>
          <a:ln w="5080">
            <a:solidFill>
              <a:srgbClr val="C8D4C8"/>
            </a:solidFill>
            <a:prstDash val="solid"/>
          </a:ln>
        </p:spPr>
        <p:txBody>
          <a:bodyPr/>
          <a:lstStyle/>
          <a:p>
            <a:endParaRPr lang="en-AU"/>
          </a:p>
        </p:txBody>
      </p:sp>
      <p:sp>
        <p:nvSpPr>
          <p:cNvPr id="60" name="Text 58"/>
          <p:cNvSpPr/>
          <p:nvPr/>
        </p:nvSpPr>
        <p:spPr>
          <a:xfrm>
            <a:off x="4937760" y="2834640"/>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0.8102</a:t>
            </a:r>
            <a:endParaRPr lang="en-US" sz="950" dirty="0"/>
          </a:p>
        </p:txBody>
      </p:sp>
      <p:sp>
        <p:nvSpPr>
          <p:cNvPr id="61" name="Shape 59"/>
          <p:cNvSpPr/>
          <p:nvPr/>
        </p:nvSpPr>
        <p:spPr>
          <a:xfrm>
            <a:off x="6400800" y="2834640"/>
            <a:ext cx="1335024" cy="438912"/>
          </a:xfrm>
          <a:prstGeom prst="rect">
            <a:avLst/>
          </a:prstGeom>
          <a:solidFill>
            <a:srgbClr val="F0EEF9"/>
          </a:solidFill>
          <a:ln w="5080">
            <a:solidFill>
              <a:srgbClr val="C8D4C8"/>
            </a:solidFill>
            <a:prstDash val="solid"/>
          </a:ln>
        </p:spPr>
        <p:txBody>
          <a:bodyPr/>
          <a:lstStyle/>
          <a:p>
            <a:endParaRPr lang="en-AU"/>
          </a:p>
        </p:txBody>
      </p:sp>
      <p:sp>
        <p:nvSpPr>
          <p:cNvPr id="62" name="Text 60"/>
          <p:cNvSpPr/>
          <p:nvPr/>
        </p:nvSpPr>
        <p:spPr>
          <a:xfrm>
            <a:off x="6400800" y="2834640"/>
            <a:ext cx="1335024" cy="438912"/>
          </a:xfrm>
          <a:prstGeom prst="rect">
            <a:avLst/>
          </a:prstGeom>
          <a:noFill/>
          <a:ln/>
        </p:spPr>
        <p:txBody>
          <a:bodyPr wrap="square" lIns="0" tIns="0" rIns="0" bIns="0" rtlCol="0" anchor="ctr"/>
          <a:lstStyle/>
          <a:p>
            <a:pPr marL="0" indent="0" algn="ctr">
              <a:buNone/>
            </a:pPr>
            <a:r>
              <a:rPr lang="en-US" sz="950" dirty="0">
                <a:solidFill>
                  <a:srgbClr val="534AB7"/>
                </a:solidFill>
              </a:rPr>
              <a:t>0.8934</a:t>
            </a:r>
            <a:endParaRPr lang="en-US" sz="950" dirty="0"/>
          </a:p>
        </p:txBody>
      </p:sp>
      <p:sp>
        <p:nvSpPr>
          <p:cNvPr id="63" name="Shape 61"/>
          <p:cNvSpPr/>
          <p:nvPr/>
        </p:nvSpPr>
        <p:spPr>
          <a:xfrm>
            <a:off x="7772400" y="2834640"/>
            <a:ext cx="1097280" cy="438912"/>
          </a:xfrm>
          <a:prstGeom prst="rect">
            <a:avLst/>
          </a:prstGeom>
          <a:solidFill>
            <a:srgbClr val="E8F4EA"/>
          </a:solidFill>
          <a:ln w="5080">
            <a:solidFill>
              <a:srgbClr val="C8D4C8"/>
            </a:solidFill>
            <a:prstDash val="solid"/>
          </a:ln>
        </p:spPr>
        <p:txBody>
          <a:bodyPr/>
          <a:lstStyle/>
          <a:p>
            <a:endParaRPr lang="en-AU"/>
          </a:p>
        </p:txBody>
      </p:sp>
      <p:sp>
        <p:nvSpPr>
          <p:cNvPr id="64" name="Text 62"/>
          <p:cNvSpPr/>
          <p:nvPr/>
        </p:nvSpPr>
        <p:spPr>
          <a:xfrm>
            <a:off x="7772400" y="2834640"/>
            <a:ext cx="1097280" cy="438912"/>
          </a:xfrm>
          <a:prstGeom prst="rect">
            <a:avLst/>
          </a:prstGeom>
          <a:noFill/>
          <a:ln/>
        </p:spPr>
        <p:txBody>
          <a:bodyPr wrap="square" lIns="0" tIns="0" rIns="0" bIns="0" rtlCol="0" anchor="ctr"/>
          <a:lstStyle/>
          <a:p>
            <a:pPr marL="0" indent="0" algn="ctr">
              <a:buNone/>
            </a:pPr>
            <a:r>
              <a:rPr lang="en-US" sz="950" b="1" dirty="0">
                <a:solidFill>
                  <a:srgbClr val="2D8A4E"/>
                </a:solidFill>
              </a:rPr>
              <a:t>RF (monthly)</a:t>
            </a:r>
            <a:endParaRPr lang="en-US" sz="950" dirty="0"/>
          </a:p>
        </p:txBody>
      </p:sp>
      <p:sp>
        <p:nvSpPr>
          <p:cNvPr id="65" name="Shape 63"/>
          <p:cNvSpPr/>
          <p:nvPr/>
        </p:nvSpPr>
        <p:spPr>
          <a:xfrm>
            <a:off x="274320" y="3310128"/>
            <a:ext cx="1700784" cy="438912"/>
          </a:xfrm>
          <a:prstGeom prst="rect">
            <a:avLst/>
          </a:prstGeom>
          <a:solidFill>
            <a:srgbClr val="EEF4EE"/>
          </a:solidFill>
          <a:ln w="5080">
            <a:solidFill>
              <a:srgbClr val="C8D4C8"/>
            </a:solidFill>
            <a:prstDash val="solid"/>
          </a:ln>
        </p:spPr>
        <p:txBody>
          <a:bodyPr/>
          <a:lstStyle/>
          <a:p>
            <a:endParaRPr lang="en-AU"/>
          </a:p>
        </p:txBody>
      </p:sp>
      <p:sp>
        <p:nvSpPr>
          <p:cNvPr id="66" name="Text 64"/>
          <p:cNvSpPr/>
          <p:nvPr/>
        </p:nvSpPr>
        <p:spPr>
          <a:xfrm>
            <a:off x="274320" y="3310128"/>
            <a:ext cx="1700784" cy="438912"/>
          </a:xfrm>
          <a:prstGeom prst="rect">
            <a:avLst/>
          </a:prstGeom>
          <a:noFill/>
          <a:ln/>
        </p:spPr>
        <p:txBody>
          <a:bodyPr wrap="square" lIns="0" tIns="0" rIns="0" bIns="0" rtlCol="0" anchor="ctr"/>
          <a:lstStyle/>
          <a:p>
            <a:pPr marL="0" indent="0" algn="ctr">
              <a:buNone/>
            </a:pPr>
            <a:r>
              <a:rPr lang="en-US" sz="900" b="1" dirty="0">
                <a:solidFill>
                  <a:srgbClr val="1A4A24"/>
                </a:solidFill>
              </a:rPr>
              <a:t>Mean Error</a:t>
            </a:r>
            <a:endParaRPr lang="en-US" sz="900" dirty="0"/>
          </a:p>
        </p:txBody>
      </p:sp>
      <p:sp>
        <p:nvSpPr>
          <p:cNvPr id="67" name="Shape 65"/>
          <p:cNvSpPr/>
          <p:nvPr/>
        </p:nvSpPr>
        <p:spPr>
          <a:xfrm>
            <a:off x="2011680" y="3310128"/>
            <a:ext cx="1426464" cy="438912"/>
          </a:xfrm>
          <a:prstGeom prst="rect">
            <a:avLst/>
          </a:prstGeom>
          <a:solidFill>
            <a:srgbClr val="EEF4EE"/>
          </a:solidFill>
          <a:ln w="5080">
            <a:solidFill>
              <a:srgbClr val="C8D4C8"/>
            </a:solidFill>
            <a:prstDash val="solid"/>
          </a:ln>
        </p:spPr>
        <p:txBody>
          <a:bodyPr/>
          <a:lstStyle/>
          <a:p>
            <a:endParaRPr lang="en-AU"/>
          </a:p>
        </p:txBody>
      </p:sp>
      <p:sp>
        <p:nvSpPr>
          <p:cNvPr id="68" name="Text 66"/>
          <p:cNvSpPr/>
          <p:nvPr/>
        </p:nvSpPr>
        <p:spPr>
          <a:xfrm>
            <a:off x="2011680" y="3310128"/>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+3.21K t</a:t>
            </a:r>
            <a:endParaRPr lang="en-US" sz="950" dirty="0"/>
          </a:p>
        </p:txBody>
      </p:sp>
      <p:sp>
        <p:nvSpPr>
          <p:cNvPr id="69" name="Shape 67"/>
          <p:cNvSpPr/>
          <p:nvPr/>
        </p:nvSpPr>
        <p:spPr>
          <a:xfrm>
            <a:off x="3474720" y="3310128"/>
            <a:ext cx="1426464" cy="438912"/>
          </a:xfrm>
          <a:prstGeom prst="rect">
            <a:avLst/>
          </a:prstGeom>
          <a:solidFill>
            <a:srgbClr val="EEF4EE"/>
          </a:solidFill>
          <a:ln w="5080">
            <a:solidFill>
              <a:srgbClr val="C8D4C8"/>
            </a:solidFill>
            <a:prstDash val="solid"/>
          </a:ln>
        </p:spPr>
        <p:txBody>
          <a:bodyPr/>
          <a:lstStyle/>
          <a:p>
            <a:endParaRPr lang="en-AU"/>
          </a:p>
        </p:txBody>
      </p:sp>
      <p:sp>
        <p:nvSpPr>
          <p:cNvPr id="70" name="Text 68"/>
          <p:cNvSpPr/>
          <p:nvPr/>
        </p:nvSpPr>
        <p:spPr>
          <a:xfrm>
            <a:off x="3474720" y="3310128"/>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-4.15K t</a:t>
            </a:r>
            <a:endParaRPr lang="en-US" sz="950" dirty="0"/>
          </a:p>
        </p:txBody>
      </p:sp>
      <p:sp>
        <p:nvSpPr>
          <p:cNvPr id="71" name="Shape 69"/>
          <p:cNvSpPr/>
          <p:nvPr/>
        </p:nvSpPr>
        <p:spPr>
          <a:xfrm>
            <a:off x="4937760" y="3310128"/>
            <a:ext cx="1426464" cy="438912"/>
          </a:xfrm>
          <a:prstGeom prst="rect">
            <a:avLst/>
          </a:prstGeom>
          <a:solidFill>
            <a:srgbClr val="EEF4EE"/>
          </a:solidFill>
          <a:ln w="5080">
            <a:solidFill>
              <a:srgbClr val="C8D4C8"/>
            </a:solidFill>
            <a:prstDash val="solid"/>
          </a:ln>
        </p:spPr>
        <p:txBody>
          <a:bodyPr/>
          <a:lstStyle/>
          <a:p>
            <a:endParaRPr lang="en-AU"/>
          </a:p>
        </p:txBody>
      </p:sp>
      <p:sp>
        <p:nvSpPr>
          <p:cNvPr id="72" name="Text 70"/>
          <p:cNvSpPr/>
          <p:nvPr/>
        </p:nvSpPr>
        <p:spPr>
          <a:xfrm>
            <a:off x="4937760" y="3310128"/>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+1.87K t</a:t>
            </a:r>
            <a:endParaRPr lang="en-US" sz="950" dirty="0"/>
          </a:p>
        </p:txBody>
      </p:sp>
      <p:sp>
        <p:nvSpPr>
          <p:cNvPr id="73" name="Shape 71"/>
          <p:cNvSpPr/>
          <p:nvPr/>
        </p:nvSpPr>
        <p:spPr>
          <a:xfrm>
            <a:off x="6400800" y="3310128"/>
            <a:ext cx="1335024" cy="438912"/>
          </a:xfrm>
          <a:prstGeom prst="rect">
            <a:avLst/>
          </a:prstGeom>
          <a:solidFill>
            <a:srgbClr val="F0EEF9"/>
          </a:solidFill>
          <a:ln w="5080">
            <a:solidFill>
              <a:srgbClr val="C8D4C8"/>
            </a:solidFill>
            <a:prstDash val="solid"/>
          </a:ln>
        </p:spPr>
        <p:txBody>
          <a:bodyPr/>
          <a:lstStyle/>
          <a:p>
            <a:endParaRPr lang="en-AU"/>
          </a:p>
        </p:txBody>
      </p:sp>
      <p:sp>
        <p:nvSpPr>
          <p:cNvPr id="74" name="Text 72"/>
          <p:cNvSpPr/>
          <p:nvPr/>
        </p:nvSpPr>
        <p:spPr>
          <a:xfrm>
            <a:off x="6400800" y="3310128"/>
            <a:ext cx="1335024" cy="438912"/>
          </a:xfrm>
          <a:prstGeom prst="rect">
            <a:avLst/>
          </a:prstGeom>
          <a:noFill/>
          <a:ln/>
        </p:spPr>
        <p:txBody>
          <a:bodyPr wrap="square" lIns="0" tIns="0" rIns="0" bIns="0" rtlCol="0" anchor="ctr"/>
          <a:lstStyle/>
          <a:p>
            <a:pPr marL="0" indent="0" algn="ctr">
              <a:buNone/>
            </a:pPr>
            <a:r>
              <a:rPr lang="en-US" sz="950" dirty="0">
                <a:solidFill>
                  <a:srgbClr val="534AB7"/>
                </a:solidFill>
              </a:rPr>
              <a:t>—</a:t>
            </a:r>
            <a:endParaRPr lang="en-US" sz="950" dirty="0"/>
          </a:p>
        </p:txBody>
      </p:sp>
      <p:sp>
        <p:nvSpPr>
          <p:cNvPr id="75" name="Shape 73"/>
          <p:cNvSpPr/>
          <p:nvPr/>
        </p:nvSpPr>
        <p:spPr>
          <a:xfrm>
            <a:off x="7772400" y="3310128"/>
            <a:ext cx="1097280" cy="438912"/>
          </a:xfrm>
          <a:prstGeom prst="rect">
            <a:avLst/>
          </a:prstGeom>
          <a:solidFill>
            <a:srgbClr val="E8F4EA"/>
          </a:solidFill>
          <a:ln w="5080">
            <a:solidFill>
              <a:srgbClr val="C8D4C8"/>
            </a:solidFill>
            <a:prstDash val="solid"/>
          </a:ln>
        </p:spPr>
        <p:txBody>
          <a:bodyPr/>
          <a:lstStyle/>
          <a:p>
            <a:endParaRPr lang="en-AU"/>
          </a:p>
        </p:txBody>
      </p:sp>
      <p:sp>
        <p:nvSpPr>
          <p:cNvPr id="76" name="Text 74"/>
          <p:cNvSpPr/>
          <p:nvPr/>
        </p:nvSpPr>
        <p:spPr>
          <a:xfrm>
            <a:off x="7772400" y="3310128"/>
            <a:ext cx="1097280" cy="438912"/>
          </a:xfrm>
          <a:prstGeom prst="rect">
            <a:avLst/>
          </a:prstGeom>
          <a:noFill/>
          <a:ln/>
        </p:spPr>
        <p:txBody>
          <a:bodyPr wrap="square" lIns="0" tIns="0" rIns="0" bIns="0" rtlCol="0" anchor="ctr"/>
          <a:lstStyle/>
          <a:p>
            <a:pPr marL="0" indent="0" algn="ctr">
              <a:buNone/>
            </a:pPr>
            <a:r>
              <a:rPr lang="en-US" sz="950" b="1" dirty="0">
                <a:solidFill>
                  <a:srgbClr val="2D8A4E"/>
                </a:solidFill>
              </a:rPr>
              <a:t>Prophet</a:t>
            </a:r>
            <a:endParaRPr lang="en-US" sz="950" dirty="0"/>
          </a:p>
        </p:txBody>
      </p:sp>
      <p:sp>
        <p:nvSpPr>
          <p:cNvPr id="77" name="Shape 75"/>
          <p:cNvSpPr/>
          <p:nvPr/>
        </p:nvSpPr>
        <p:spPr>
          <a:xfrm>
            <a:off x="274320" y="3785616"/>
            <a:ext cx="1700784" cy="438912"/>
          </a:xfrm>
          <a:prstGeom prst="rect">
            <a:avLst/>
          </a:prstGeom>
          <a:solidFill>
            <a:srgbClr val="FFFFFF"/>
          </a:solidFill>
          <a:ln w="5080">
            <a:solidFill>
              <a:srgbClr val="C8D4C8"/>
            </a:solidFill>
            <a:prstDash val="solid"/>
          </a:ln>
        </p:spPr>
        <p:txBody>
          <a:bodyPr/>
          <a:lstStyle/>
          <a:p>
            <a:endParaRPr lang="en-AU"/>
          </a:p>
        </p:txBody>
      </p:sp>
      <p:sp>
        <p:nvSpPr>
          <p:cNvPr id="78" name="Text 76"/>
          <p:cNvSpPr/>
          <p:nvPr/>
        </p:nvSpPr>
        <p:spPr>
          <a:xfrm>
            <a:off x="274320" y="3785616"/>
            <a:ext cx="1700784" cy="438912"/>
          </a:xfrm>
          <a:prstGeom prst="rect">
            <a:avLst/>
          </a:prstGeom>
          <a:noFill/>
          <a:ln/>
        </p:spPr>
        <p:txBody>
          <a:bodyPr wrap="square" lIns="0" tIns="0" rIns="0" bIns="0" rtlCol="0" anchor="ctr"/>
          <a:lstStyle/>
          <a:p>
            <a:pPr marL="0" indent="0" algn="ctr">
              <a:buNone/>
            </a:pPr>
            <a:r>
              <a:rPr lang="en-US" sz="900" b="1" dirty="0">
                <a:solidFill>
                  <a:srgbClr val="1A4A24"/>
                </a:solidFill>
              </a:rPr>
              <a:t>SD of Errors</a:t>
            </a:r>
            <a:endParaRPr lang="en-US" sz="900" dirty="0"/>
          </a:p>
        </p:txBody>
      </p:sp>
      <p:sp>
        <p:nvSpPr>
          <p:cNvPr id="79" name="Shape 77"/>
          <p:cNvSpPr/>
          <p:nvPr/>
        </p:nvSpPr>
        <p:spPr>
          <a:xfrm>
            <a:off x="2011680" y="3785616"/>
            <a:ext cx="1426464" cy="438912"/>
          </a:xfrm>
          <a:prstGeom prst="rect">
            <a:avLst/>
          </a:prstGeom>
          <a:solidFill>
            <a:srgbClr val="FFFFFF"/>
          </a:solidFill>
          <a:ln w="5080">
            <a:solidFill>
              <a:srgbClr val="C8D4C8"/>
            </a:solidFill>
            <a:prstDash val="solid"/>
          </a:ln>
        </p:spPr>
        <p:txBody>
          <a:bodyPr/>
          <a:lstStyle/>
          <a:p>
            <a:endParaRPr lang="en-AU"/>
          </a:p>
        </p:txBody>
      </p:sp>
      <p:sp>
        <p:nvSpPr>
          <p:cNvPr id="80" name="Text 78"/>
          <p:cNvSpPr/>
          <p:nvPr/>
        </p:nvSpPr>
        <p:spPr>
          <a:xfrm>
            <a:off x="2011680" y="3785616"/>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14.33K t</a:t>
            </a:r>
            <a:endParaRPr lang="en-US" sz="950" dirty="0"/>
          </a:p>
        </p:txBody>
      </p:sp>
      <p:sp>
        <p:nvSpPr>
          <p:cNvPr id="81" name="Shape 79"/>
          <p:cNvSpPr/>
          <p:nvPr/>
        </p:nvSpPr>
        <p:spPr>
          <a:xfrm>
            <a:off x="3474720" y="3785616"/>
            <a:ext cx="1426464" cy="438912"/>
          </a:xfrm>
          <a:prstGeom prst="rect">
            <a:avLst/>
          </a:prstGeom>
          <a:solidFill>
            <a:srgbClr val="FFFFFF"/>
          </a:solidFill>
          <a:ln w="5080">
            <a:solidFill>
              <a:srgbClr val="C8D4C8"/>
            </a:solidFill>
            <a:prstDash val="solid"/>
          </a:ln>
        </p:spPr>
        <p:txBody>
          <a:bodyPr/>
          <a:lstStyle/>
          <a:p>
            <a:endParaRPr lang="en-AU"/>
          </a:p>
        </p:txBody>
      </p:sp>
      <p:sp>
        <p:nvSpPr>
          <p:cNvPr id="82" name="Text 80"/>
          <p:cNvSpPr/>
          <p:nvPr/>
        </p:nvSpPr>
        <p:spPr>
          <a:xfrm>
            <a:off x="3474720" y="3785616"/>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17.62K t</a:t>
            </a:r>
            <a:endParaRPr lang="en-US" sz="950" dirty="0"/>
          </a:p>
        </p:txBody>
      </p:sp>
      <p:sp>
        <p:nvSpPr>
          <p:cNvPr id="83" name="Shape 81"/>
          <p:cNvSpPr/>
          <p:nvPr/>
        </p:nvSpPr>
        <p:spPr>
          <a:xfrm>
            <a:off x="4937760" y="3785616"/>
            <a:ext cx="1426464" cy="438912"/>
          </a:xfrm>
          <a:prstGeom prst="rect">
            <a:avLst/>
          </a:prstGeom>
          <a:solidFill>
            <a:srgbClr val="FFFFFF"/>
          </a:solidFill>
          <a:ln w="5080">
            <a:solidFill>
              <a:srgbClr val="C8D4C8"/>
            </a:solidFill>
            <a:prstDash val="solid"/>
          </a:ln>
        </p:spPr>
        <p:txBody>
          <a:bodyPr/>
          <a:lstStyle/>
          <a:p>
            <a:endParaRPr lang="en-AU"/>
          </a:p>
        </p:txBody>
      </p:sp>
      <p:sp>
        <p:nvSpPr>
          <p:cNvPr id="84" name="Text 82"/>
          <p:cNvSpPr/>
          <p:nvPr/>
        </p:nvSpPr>
        <p:spPr>
          <a:xfrm>
            <a:off x="4937760" y="3785616"/>
            <a:ext cx="1426464" cy="438912"/>
          </a:xfrm>
          <a:prstGeom prst="rect">
            <a:avLst/>
          </a:prstGeom>
          <a:noFill/>
          <a:ln/>
        </p:spPr>
        <p:txBody>
          <a:bodyPr wrap="square" lIns="0" tIns="0" rIns="0" bIns="0" rtlCol="0" anchor="ctr"/>
          <a:lstStyle/>
          <a:p>
            <a:pPr marL="0" indent="0" algn="ctr">
              <a:buNone/>
            </a:pPr>
            <a:r>
              <a:rPr lang="en-US" sz="950" dirty="0">
                <a:solidFill>
                  <a:srgbClr val="1A3A1A"/>
                </a:solidFill>
              </a:rPr>
              <a:t>13.45K t</a:t>
            </a:r>
            <a:endParaRPr lang="en-US" sz="950" dirty="0"/>
          </a:p>
        </p:txBody>
      </p:sp>
      <p:sp>
        <p:nvSpPr>
          <p:cNvPr id="85" name="Shape 83"/>
          <p:cNvSpPr/>
          <p:nvPr/>
        </p:nvSpPr>
        <p:spPr>
          <a:xfrm>
            <a:off x="6400800" y="3785616"/>
            <a:ext cx="1335024" cy="438912"/>
          </a:xfrm>
          <a:prstGeom prst="rect">
            <a:avLst/>
          </a:prstGeom>
          <a:solidFill>
            <a:srgbClr val="F0EEF9"/>
          </a:solidFill>
          <a:ln w="5080">
            <a:solidFill>
              <a:srgbClr val="C8D4C8"/>
            </a:solidFill>
            <a:prstDash val="solid"/>
          </a:ln>
        </p:spPr>
        <p:txBody>
          <a:bodyPr/>
          <a:lstStyle/>
          <a:p>
            <a:endParaRPr lang="en-AU"/>
          </a:p>
        </p:txBody>
      </p:sp>
      <p:sp>
        <p:nvSpPr>
          <p:cNvPr id="86" name="Text 84"/>
          <p:cNvSpPr/>
          <p:nvPr/>
        </p:nvSpPr>
        <p:spPr>
          <a:xfrm>
            <a:off x="6400800" y="3785616"/>
            <a:ext cx="1335024" cy="438912"/>
          </a:xfrm>
          <a:prstGeom prst="rect">
            <a:avLst/>
          </a:prstGeom>
          <a:noFill/>
          <a:ln/>
        </p:spPr>
        <p:txBody>
          <a:bodyPr wrap="square" lIns="0" tIns="0" rIns="0" bIns="0" rtlCol="0" anchor="ctr"/>
          <a:lstStyle/>
          <a:p>
            <a:pPr marL="0" indent="0" algn="ctr">
              <a:buNone/>
            </a:pPr>
            <a:r>
              <a:rPr lang="en-US" sz="950" dirty="0">
                <a:solidFill>
                  <a:srgbClr val="534AB7"/>
                </a:solidFill>
              </a:rPr>
              <a:t>—</a:t>
            </a:r>
            <a:endParaRPr lang="en-US" sz="950" dirty="0"/>
          </a:p>
        </p:txBody>
      </p:sp>
      <p:sp>
        <p:nvSpPr>
          <p:cNvPr id="87" name="Shape 85"/>
          <p:cNvSpPr/>
          <p:nvPr/>
        </p:nvSpPr>
        <p:spPr>
          <a:xfrm>
            <a:off x="7772400" y="3785616"/>
            <a:ext cx="1097280" cy="438912"/>
          </a:xfrm>
          <a:prstGeom prst="rect">
            <a:avLst/>
          </a:prstGeom>
          <a:solidFill>
            <a:srgbClr val="E8F4EA"/>
          </a:solidFill>
          <a:ln w="5080">
            <a:solidFill>
              <a:srgbClr val="C8D4C8"/>
            </a:solidFill>
            <a:prstDash val="solid"/>
          </a:ln>
        </p:spPr>
        <p:txBody>
          <a:bodyPr/>
          <a:lstStyle/>
          <a:p>
            <a:endParaRPr lang="en-AU"/>
          </a:p>
        </p:txBody>
      </p:sp>
      <p:sp>
        <p:nvSpPr>
          <p:cNvPr id="88" name="Text 86"/>
          <p:cNvSpPr/>
          <p:nvPr/>
        </p:nvSpPr>
        <p:spPr>
          <a:xfrm>
            <a:off x="7772400" y="3785616"/>
            <a:ext cx="1097280" cy="438912"/>
          </a:xfrm>
          <a:prstGeom prst="rect">
            <a:avLst/>
          </a:prstGeom>
          <a:noFill/>
          <a:ln/>
        </p:spPr>
        <p:txBody>
          <a:bodyPr wrap="square" lIns="0" tIns="0" rIns="0" bIns="0" rtlCol="0" anchor="ctr"/>
          <a:lstStyle/>
          <a:p>
            <a:pPr marL="0" indent="0" algn="ctr">
              <a:buNone/>
            </a:pPr>
            <a:r>
              <a:rPr lang="en-US" sz="950" b="1" dirty="0">
                <a:solidFill>
                  <a:srgbClr val="2D8A4E"/>
                </a:solidFill>
              </a:rPr>
              <a:t>Prophet</a:t>
            </a:r>
            <a:endParaRPr lang="en-US" sz="950" dirty="0"/>
          </a:p>
        </p:txBody>
      </p:sp>
      <p:sp>
        <p:nvSpPr>
          <p:cNvPr id="89" name="Shape 87"/>
          <p:cNvSpPr/>
          <p:nvPr/>
        </p:nvSpPr>
        <p:spPr>
          <a:xfrm>
            <a:off x="274320" y="4297680"/>
            <a:ext cx="8549640" cy="256032"/>
          </a:xfrm>
          <a:prstGeom prst="rect">
            <a:avLst/>
          </a:prstGeom>
          <a:solidFill>
            <a:srgbClr val="FFF3CD"/>
          </a:solidFill>
          <a:ln w="10160">
            <a:solidFill>
              <a:srgbClr val="E8A230"/>
            </a:solidFill>
            <a:prstDash val="solid"/>
          </a:ln>
        </p:spPr>
        <p:txBody>
          <a:bodyPr/>
          <a:lstStyle/>
          <a:p>
            <a:endParaRPr lang="en-AU"/>
          </a:p>
        </p:txBody>
      </p:sp>
      <p:sp>
        <p:nvSpPr>
          <p:cNvPr id="90" name="Text 88"/>
          <p:cNvSpPr/>
          <p:nvPr/>
        </p:nvSpPr>
        <p:spPr>
          <a:xfrm>
            <a:off x="438912" y="4297680"/>
            <a:ext cx="8229600" cy="256032"/>
          </a:xfrm>
          <a:prstGeom prst="rect">
            <a:avLst/>
          </a:prstGeom>
          <a:noFill/>
          <a:ln/>
        </p:spPr>
        <p:txBody>
          <a:bodyPr wrap="square" lIns="0" tIns="0" rIns="0" bIns="0" rtlCol="0" anchor="ctr"/>
          <a:lstStyle/>
          <a:p>
            <a:pPr marL="0" indent="0" algn="ctr">
              <a:buNone/>
            </a:pPr>
            <a:r>
              <a:rPr lang="en-US" sz="800" dirty="0">
                <a:solidFill>
                  <a:srgbClr val="412402"/>
                </a:solidFill>
              </a:rPr>
              <a:t>* RF metrics are on monthly rainfall (mm) — not directly comparable to annual production (K t). Run Python scripts in Google Colab for exact values.</a:t>
            </a:r>
            <a:endParaRPr lang="en-US" sz="800" dirty="0"/>
          </a:p>
        </p:txBody>
      </p:sp>
      <p:sp>
        <p:nvSpPr>
          <p:cNvPr id="91" name="Text 89"/>
          <p:cNvSpPr/>
          <p:nvPr/>
        </p:nvSpPr>
        <p:spPr>
          <a:xfrm>
            <a:off x="274320" y="4663440"/>
            <a:ext cx="8595360" cy="182880"/>
          </a:xfrm>
          <a:prstGeom prst="rect">
            <a:avLst/>
          </a:prstGeom>
          <a:noFill/>
          <a:ln/>
        </p:spPr>
        <p:txBody>
          <a:bodyPr wrap="square" lIns="0" tIns="0" rIns="0" bIns="0" rtlCol="0" anchor="ctr"/>
          <a:lstStyle/>
          <a:p>
            <a:pPr marL="0" indent="0">
              <a:buNone/>
            </a:pPr>
            <a:r>
              <a:rPr lang="en-US" sz="750" i="1" dirty="0"/>
              <a:t> Note: RMSE and R² are the primary metrics.</a:t>
            </a:r>
            <a:endParaRPr lang="en-US" sz="750" dirty="0"/>
          </a:p>
        </p:txBody>
      </p:sp>
      <p:sp>
        <p:nvSpPr>
          <p:cNvPr id="94" name="TextBox 93">
            <a:extLst>
              <a:ext uri="{FF2B5EF4-FFF2-40B4-BE49-F238E27FC236}">
                <a16:creationId xmlns:a16="http://schemas.microsoft.com/office/drawing/2014/main" id="{24BF783C-1CA8-61E9-B492-9BC9E1845DB0}"/>
              </a:ext>
            </a:extLst>
          </p:cNvPr>
          <p:cNvSpPr txBox="1"/>
          <p:nvPr/>
        </p:nvSpPr>
        <p:spPr>
          <a:xfrm>
            <a:off x="8862061" y="4876318"/>
            <a:ext cx="350520" cy="215444"/>
          </a:xfrm>
          <a:prstGeom prst="rect">
            <a:avLst/>
          </a:prstGeom>
          <a:noFill/>
        </p:spPr>
        <p:txBody>
          <a:bodyPr wrap="square" rtlCol="0">
            <a:spAutoFit/>
          </a:bodyPr>
          <a:lstStyle/>
          <a:p>
            <a:r>
              <a:rPr lang="en-AU" sz="800" dirty="0"/>
              <a:t>15</a:t>
            </a:r>
            <a:endParaRPr lang="en-A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8FAF8"/>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6A9A0CFE-9165-6CE9-D0F1-11D75E2740E9}"/>
              </a:ext>
            </a:extLst>
          </p:cNvPr>
          <p:cNvPicPr>
            <a:picLocks noChangeAspect="1"/>
          </p:cNvPicPr>
          <p:nvPr/>
        </p:nvPicPr>
        <p:blipFill>
          <a:blip r:embed="rId3">
            <a:alphaModFix amt="50000"/>
          </a:blip>
          <a:stretch>
            <a:fillRect/>
          </a:stretch>
        </p:blipFill>
        <p:spPr>
          <a:xfrm>
            <a:off x="0" y="0"/>
            <a:ext cx="9144000" cy="5143500"/>
          </a:xfrm>
          <a:prstGeom prst="rect">
            <a:avLst/>
          </a:prstGeom>
        </p:spPr>
      </p:pic>
      <p:sp>
        <p:nvSpPr>
          <p:cNvPr id="2" name="Text 0"/>
          <p:cNvSpPr/>
          <p:nvPr/>
        </p:nvSpPr>
        <p:spPr>
          <a:xfrm>
            <a:off x="274320" y="109728"/>
            <a:ext cx="8595360" cy="438912"/>
          </a:xfrm>
          <a:prstGeom prst="rect">
            <a:avLst/>
          </a:prstGeom>
          <a:noFill/>
          <a:ln/>
        </p:spPr>
        <p:txBody>
          <a:bodyPr wrap="square" lIns="0" tIns="0" rIns="0" bIns="0" rtlCol="0" anchor="ctr"/>
          <a:lstStyle/>
          <a:p>
            <a:pPr marL="0" indent="0">
              <a:buNone/>
            </a:pPr>
            <a:r>
              <a:rPr lang="en-US" sz="2200" b="1" dirty="0">
                <a:solidFill>
                  <a:srgbClr val="1A4A24"/>
                </a:solidFill>
                <a:latin typeface="Calibri" pitchFamily="34" charset="0"/>
              </a:rPr>
              <a:t>Irrigation Data Analysis</a:t>
            </a:r>
          </a:p>
        </p:txBody>
      </p:sp>
      <p:sp>
        <p:nvSpPr>
          <p:cNvPr id="3" name="Subtitle"/>
          <p:cNvSpPr txBox="1"/>
          <p:nvPr/>
        </p:nvSpPr>
        <p:spPr>
          <a:xfrm>
            <a:off x="198120" y="491460"/>
            <a:ext cx="5200000" cy="215444"/>
          </a:xfrm>
          <a:prstGeom prst="rect">
            <a:avLst/>
          </a:prstGeom>
          <a:noFill/>
        </p:spPr>
        <p:txBody>
          <a:bodyPr wrap="square">
            <a:spAutoFit/>
          </a:bodyPr>
          <a:lstStyle/>
          <a:p>
            <a:pPr algn="l"/>
            <a:r>
              <a:rPr sz="800" b="0" i="1" dirty="0">
                <a:solidFill>
                  <a:schemeClr val="accent6">
                    <a:lumMod val="50000"/>
                  </a:schemeClr>
                </a:solidFill>
                <a:latin typeface="Calibri"/>
              </a:rPr>
              <a:t>SA agricultural water use 2019-20 to 2024-25 -- irrigation intensification confirmed</a:t>
            </a:r>
          </a:p>
        </p:txBody>
      </p:sp>
      <p:graphicFrame>
        <p:nvGraphicFramePr>
          <p:cNvPr id="4" name="Table 1"/>
          <p:cNvGraphicFramePr>
            <a:graphicFrameLocks noGrp="1"/>
          </p:cNvGraphicFramePr>
          <p:nvPr>
            <p:extLst>
              <p:ext uri="{D42A27DB-BD31-4B8C-83A1-F6EECF244321}">
                <p14:modId xmlns:p14="http://schemas.microsoft.com/office/powerpoint/2010/main" val="1306397272"/>
              </p:ext>
            </p:extLst>
          </p:nvPr>
        </p:nvGraphicFramePr>
        <p:xfrm>
          <a:off x="288896" y="891000"/>
          <a:ext cx="5200000" cy="3449999"/>
        </p:xfrm>
        <a:graphic>
          <a:graphicData uri="http://schemas.openxmlformats.org/drawingml/2006/table">
            <a:tbl>
              <a:tblPr firstRow="1" bandRow="1">
                <a:tableStyleId>{00000000-0000-0000-0000-000000000000}</a:tableStyleId>
              </a:tblPr>
              <a:tblGrid>
                <a:gridCol w="11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2600000">
                  <a:extLst>
                    <a:ext uri="{9D8B030D-6E8A-4147-A177-3AD203B41FA5}">
                      <a16:colId xmlns:a16="http://schemas.microsoft.com/office/drawing/2014/main" val="20002"/>
                    </a:ext>
                  </a:extLst>
                </a:gridCol>
              </a:tblGrid>
              <a:tr h="492857">
                <a:tc>
                  <a:txBody>
                    <a:bodyPr/>
                    <a:lstStyle/>
                    <a:p>
                      <a:pPr algn="ctr"/>
                      <a:r>
                        <a:rPr lang="en-US" sz="900" b="1">
                          <a:solidFill>
                            <a:srgbClr val="FFFFFF"/>
                          </a:solidFill>
                          <a:latin typeface="Calibri"/>
                        </a:rPr>
                        <a:t>Financial Year</a:t>
                      </a:r>
                    </a:p>
                  </a:txBody>
                  <a:tcPr>
                    <a:lnL w="9525">
                      <a:solidFill>
                        <a:srgbClr val="1A4A24"/>
                      </a:solidFill>
                    </a:lnL>
                    <a:lnR w="9525">
                      <a:solidFill>
                        <a:srgbClr val="1A4A24"/>
                      </a:solidFill>
                    </a:lnR>
                    <a:lnT w="9525">
                      <a:solidFill>
                        <a:srgbClr val="1A4A24"/>
                      </a:solidFill>
                    </a:lnT>
                    <a:lnB w="9525">
                      <a:solidFill>
                        <a:srgbClr val="1A4A24"/>
                      </a:solidFill>
                    </a:lnB>
                    <a:solidFill>
                      <a:srgbClr val="1A4A24"/>
                    </a:solidFill>
                  </a:tcPr>
                </a:tc>
                <a:tc>
                  <a:txBody>
                    <a:bodyPr/>
                    <a:lstStyle/>
                    <a:p>
                      <a:pPr algn="ctr"/>
                      <a:r>
                        <a:rPr lang="en-US" sz="900" b="1">
                          <a:solidFill>
                            <a:srgbClr val="FFFFFF"/>
                          </a:solidFill>
                          <a:latin typeface="Calibri"/>
                        </a:rPr>
                        <a:t>Est. Water Use (GL)</a:t>
                      </a:r>
                    </a:p>
                  </a:txBody>
                  <a:tcPr>
                    <a:lnL w="9525">
                      <a:solidFill>
                        <a:srgbClr val="1A4A24"/>
                      </a:solidFill>
                    </a:lnL>
                    <a:lnR w="9525">
                      <a:solidFill>
                        <a:srgbClr val="1A4A24"/>
                      </a:solidFill>
                    </a:lnR>
                    <a:lnT w="9525">
                      <a:solidFill>
                        <a:srgbClr val="1A4A24"/>
                      </a:solidFill>
                    </a:lnT>
                    <a:lnB w="9525">
                      <a:solidFill>
                        <a:srgbClr val="1A4A24"/>
                      </a:solidFill>
                    </a:lnB>
                    <a:solidFill>
                      <a:srgbClr val="1A4A24"/>
                    </a:solidFill>
                  </a:tcPr>
                </a:tc>
                <a:tc>
                  <a:txBody>
                    <a:bodyPr/>
                    <a:lstStyle/>
                    <a:p>
                      <a:pPr algn="l"/>
                      <a:r>
                        <a:rPr lang="en-US" sz="900" b="1">
                          <a:solidFill>
                            <a:srgbClr val="FFFFFF"/>
                          </a:solidFill>
                          <a:latin typeface="Calibri"/>
                        </a:rPr>
                        <a:t>Notes</a:t>
                      </a:r>
                    </a:p>
                  </a:txBody>
                  <a:tcPr>
                    <a:lnL w="9525">
                      <a:solidFill>
                        <a:srgbClr val="1A4A24"/>
                      </a:solidFill>
                    </a:lnL>
                    <a:lnR w="9525">
                      <a:solidFill>
                        <a:srgbClr val="1A4A24"/>
                      </a:solidFill>
                    </a:lnR>
                    <a:lnT w="9525">
                      <a:solidFill>
                        <a:srgbClr val="1A4A24"/>
                      </a:solidFill>
                    </a:lnT>
                    <a:lnB w="9525">
                      <a:solidFill>
                        <a:srgbClr val="1A4A24"/>
                      </a:solidFill>
                    </a:lnB>
                    <a:solidFill>
                      <a:srgbClr val="1A4A24"/>
                    </a:solidFill>
                  </a:tcPr>
                </a:tc>
                <a:extLst>
                  <a:ext uri="{0D108BD9-81ED-4DB2-BD59-A6C34878D82A}">
                    <a16:rowId xmlns:a16="http://schemas.microsoft.com/office/drawing/2014/main" val="10000"/>
                  </a:ext>
                </a:extLst>
              </a:tr>
              <a:tr h="492857">
                <a:tc>
                  <a:txBody>
                    <a:bodyPr/>
                    <a:lstStyle/>
                    <a:p>
                      <a:pPr algn="ctr"/>
                      <a:r>
                        <a:rPr lang="en-US" sz="870" b="0">
                          <a:solidFill>
                            <a:srgbClr val="0B1F12"/>
                          </a:solidFill>
                          <a:latin typeface="Calibri"/>
                        </a:rPr>
                        <a:t>2019-20</a:t>
                      </a:r>
                    </a:p>
                  </a:txBody>
                  <a:tcPr>
                    <a:lnL w="9525">
                      <a:solidFill>
                        <a:srgbClr val="D0DDD0"/>
                      </a:solidFill>
                    </a:lnL>
                    <a:lnR w="9525">
                      <a:solidFill>
                        <a:srgbClr val="D0DDD0"/>
                      </a:solidFill>
                    </a:lnR>
                    <a:lnT w="9525" cap="flat" cmpd="sng" algn="ctr">
                      <a:solidFill>
                        <a:srgbClr val="1A4A24"/>
                      </a:solidFill>
                      <a:prstDash val="solid"/>
                      <a:round/>
                      <a:headEnd type="none" w="med" len="med"/>
                      <a:tailEnd type="none" w="med" len="med"/>
                    </a:lnT>
                    <a:lnB w="9525">
                      <a:solidFill>
                        <a:srgbClr val="D0DDD0"/>
                      </a:solidFill>
                    </a:lnB>
                    <a:solidFill>
                      <a:srgbClr val="FFFFFF"/>
                    </a:solidFill>
                  </a:tcPr>
                </a:tc>
                <a:tc>
                  <a:txBody>
                    <a:bodyPr/>
                    <a:lstStyle/>
                    <a:p>
                      <a:pPr algn="ctr"/>
                      <a:r>
                        <a:rPr lang="en-US" sz="870" b="1" dirty="0">
                          <a:solidFill>
                            <a:srgbClr val="1A5276"/>
                          </a:solidFill>
                          <a:latin typeface="Calibri"/>
                        </a:rPr>
                        <a:t>390 GL</a:t>
                      </a:r>
                    </a:p>
                  </a:txBody>
                  <a:tcPr>
                    <a:lnL w="9525">
                      <a:solidFill>
                        <a:srgbClr val="D0DDD0"/>
                      </a:solidFill>
                    </a:lnL>
                    <a:lnR w="9525">
                      <a:solidFill>
                        <a:srgbClr val="D0DDD0"/>
                      </a:solidFill>
                    </a:lnR>
                    <a:lnT w="9525" cap="flat" cmpd="sng" algn="ctr">
                      <a:solidFill>
                        <a:srgbClr val="1A4A24"/>
                      </a:solidFill>
                      <a:prstDash val="solid"/>
                      <a:round/>
                      <a:headEnd type="none" w="med" len="med"/>
                      <a:tailEnd type="none" w="med" len="med"/>
                    </a:lnT>
                    <a:lnB w="9525">
                      <a:solidFill>
                        <a:srgbClr val="D0DDD0"/>
                      </a:solidFill>
                    </a:lnB>
                    <a:solidFill>
                      <a:srgbClr val="FFFFFF"/>
                    </a:solidFill>
                  </a:tcPr>
                </a:tc>
                <a:tc>
                  <a:txBody>
                    <a:bodyPr/>
                    <a:lstStyle/>
                    <a:p>
                      <a:pPr algn="l"/>
                      <a:r>
                        <a:rPr lang="en-US" sz="820" b="0">
                          <a:solidFill>
                            <a:srgbClr val="0B1F12"/>
                          </a:solidFill>
                          <a:latin typeface="Calibri"/>
                        </a:rPr>
                        <a:t>Dry conditions, lower water availability</a:t>
                      </a:r>
                    </a:p>
                  </a:txBody>
                  <a:tcPr>
                    <a:lnL w="9525">
                      <a:solidFill>
                        <a:srgbClr val="D0DDD0"/>
                      </a:solidFill>
                    </a:lnL>
                    <a:lnR w="9525">
                      <a:solidFill>
                        <a:srgbClr val="D0DDD0"/>
                      </a:solidFill>
                    </a:lnR>
                    <a:lnT w="9525" cap="flat" cmpd="sng" algn="ctr">
                      <a:solidFill>
                        <a:srgbClr val="1A4A24"/>
                      </a:solidFill>
                      <a:prstDash val="solid"/>
                      <a:round/>
                      <a:headEnd type="none" w="med" len="med"/>
                      <a:tailEnd type="none" w="med" len="med"/>
                    </a:lnT>
                    <a:lnB w="9525">
                      <a:solidFill>
                        <a:srgbClr val="D0DDD0"/>
                      </a:solidFill>
                    </a:lnB>
                    <a:solidFill>
                      <a:srgbClr val="FFFFFF"/>
                    </a:solidFill>
                  </a:tcPr>
                </a:tc>
                <a:extLst>
                  <a:ext uri="{0D108BD9-81ED-4DB2-BD59-A6C34878D82A}">
                    <a16:rowId xmlns:a16="http://schemas.microsoft.com/office/drawing/2014/main" val="10001"/>
                  </a:ext>
                </a:extLst>
              </a:tr>
              <a:tr h="492857">
                <a:tc>
                  <a:txBody>
                    <a:bodyPr/>
                    <a:lstStyle/>
                    <a:p>
                      <a:pPr algn="ctr"/>
                      <a:r>
                        <a:rPr lang="en-US" sz="870" b="0">
                          <a:solidFill>
                            <a:srgbClr val="0B1F12"/>
                          </a:solidFill>
                          <a:latin typeface="Calibri"/>
                        </a:rPr>
                        <a:t>2020-21</a:t>
                      </a:r>
                    </a:p>
                  </a:txBody>
                  <a:tcPr>
                    <a:lnL w="9525">
                      <a:solidFill>
                        <a:srgbClr val="D0DDD0"/>
                      </a:solidFill>
                    </a:lnL>
                    <a:lnR w="9525">
                      <a:solidFill>
                        <a:srgbClr val="D0DDD0"/>
                      </a:solidFill>
                    </a:lnR>
                    <a:lnT w="9525">
                      <a:solidFill>
                        <a:srgbClr val="D0DDD0"/>
                      </a:solidFill>
                    </a:lnT>
                    <a:lnB w="9525">
                      <a:solidFill>
                        <a:srgbClr val="D0DDD0"/>
                      </a:solidFill>
                    </a:lnB>
                    <a:solidFill>
                      <a:srgbClr val="EEF4EE"/>
                    </a:solidFill>
                  </a:tcPr>
                </a:tc>
                <a:tc>
                  <a:txBody>
                    <a:bodyPr/>
                    <a:lstStyle/>
                    <a:p>
                      <a:pPr algn="ctr"/>
                      <a:r>
                        <a:rPr lang="en-US" sz="870" b="1" dirty="0">
                          <a:solidFill>
                            <a:srgbClr val="1A5276"/>
                          </a:solidFill>
                          <a:latin typeface="Calibri"/>
                        </a:rPr>
                        <a:t>700-800 GL</a:t>
                      </a:r>
                    </a:p>
                  </a:txBody>
                  <a:tcPr>
                    <a:lnL w="9525">
                      <a:solidFill>
                        <a:srgbClr val="D0DDD0"/>
                      </a:solidFill>
                    </a:lnL>
                    <a:lnR w="9525">
                      <a:solidFill>
                        <a:srgbClr val="D0DDD0"/>
                      </a:solidFill>
                    </a:lnR>
                    <a:lnT w="9525">
                      <a:solidFill>
                        <a:srgbClr val="D0DDD0"/>
                      </a:solidFill>
                    </a:lnT>
                    <a:lnB w="9525">
                      <a:solidFill>
                        <a:srgbClr val="D0DDD0"/>
                      </a:solidFill>
                    </a:lnB>
                    <a:solidFill>
                      <a:srgbClr val="EEF4EE"/>
                    </a:solidFill>
                  </a:tcPr>
                </a:tc>
                <a:tc>
                  <a:txBody>
                    <a:bodyPr/>
                    <a:lstStyle/>
                    <a:p>
                      <a:pPr algn="l"/>
                      <a:r>
                        <a:rPr lang="en-US" sz="820" b="0">
                          <a:solidFill>
                            <a:srgbClr val="0B1F12"/>
                          </a:solidFill>
                          <a:latin typeface="Calibri"/>
                        </a:rPr>
                        <a:t>La Nina period increased allocations</a:t>
                      </a:r>
                    </a:p>
                  </a:txBody>
                  <a:tcPr>
                    <a:lnL w="9525">
                      <a:solidFill>
                        <a:srgbClr val="D0DDD0"/>
                      </a:solidFill>
                    </a:lnL>
                    <a:lnR w="9525">
                      <a:solidFill>
                        <a:srgbClr val="D0DDD0"/>
                      </a:solidFill>
                    </a:lnR>
                    <a:lnT w="9525">
                      <a:solidFill>
                        <a:srgbClr val="D0DDD0"/>
                      </a:solidFill>
                    </a:lnT>
                    <a:lnB w="9525">
                      <a:solidFill>
                        <a:srgbClr val="D0DDD0"/>
                      </a:solidFill>
                    </a:lnB>
                    <a:solidFill>
                      <a:srgbClr val="EEF4EE"/>
                    </a:solidFill>
                  </a:tcPr>
                </a:tc>
                <a:extLst>
                  <a:ext uri="{0D108BD9-81ED-4DB2-BD59-A6C34878D82A}">
                    <a16:rowId xmlns:a16="http://schemas.microsoft.com/office/drawing/2014/main" val="10002"/>
                  </a:ext>
                </a:extLst>
              </a:tr>
              <a:tr h="492857">
                <a:tc>
                  <a:txBody>
                    <a:bodyPr/>
                    <a:lstStyle/>
                    <a:p>
                      <a:pPr algn="ctr"/>
                      <a:r>
                        <a:rPr lang="en-US" sz="870" b="0">
                          <a:solidFill>
                            <a:srgbClr val="0B1F12"/>
                          </a:solidFill>
                          <a:latin typeface="Calibri"/>
                        </a:rPr>
                        <a:t>2021-22</a:t>
                      </a:r>
                    </a:p>
                  </a:txBody>
                  <a:tcPr>
                    <a:lnL w="9525">
                      <a:solidFill>
                        <a:srgbClr val="D0DDD0"/>
                      </a:solidFill>
                    </a:lnL>
                    <a:lnR w="9525">
                      <a:solidFill>
                        <a:srgbClr val="D0DDD0"/>
                      </a:solidFill>
                    </a:lnR>
                    <a:lnT w="9525">
                      <a:solidFill>
                        <a:srgbClr val="D0DDD0"/>
                      </a:solidFill>
                    </a:lnT>
                    <a:lnB w="9525">
                      <a:solidFill>
                        <a:srgbClr val="D0DDD0"/>
                      </a:solidFill>
                    </a:lnB>
                    <a:solidFill>
                      <a:srgbClr val="FFFFFF"/>
                    </a:solidFill>
                  </a:tcPr>
                </a:tc>
                <a:tc>
                  <a:txBody>
                    <a:bodyPr/>
                    <a:lstStyle/>
                    <a:p>
                      <a:pPr algn="ctr"/>
                      <a:r>
                        <a:rPr lang="en-US" sz="870" b="1" dirty="0">
                          <a:solidFill>
                            <a:srgbClr val="1A5276"/>
                          </a:solidFill>
                          <a:latin typeface="Calibri"/>
                        </a:rPr>
                        <a:t>850-950 GL</a:t>
                      </a:r>
                    </a:p>
                  </a:txBody>
                  <a:tcPr>
                    <a:lnL w="9525">
                      <a:solidFill>
                        <a:srgbClr val="D0DDD0"/>
                      </a:solidFill>
                    </a:lnL>
                    <a:lnR w="9525">
                      <a:solidFill>
                        <a:srgbClr val="D0DDD0"/>
                      </a:solidFill>
                    </a:lnR>
                    <a:lnT w="9525">
                      <a:solidFill>
                        <a:srgbClr val="D0DDD0"/>
                      </a:solidFill>
                    </a:lnT>
                    <a:lnB w="9525">
                      <a:solidFill>
                        <a:srgbClr val="D0DDD0"/>
                      </a:solidFill>
                    </a:lnB>
                    <a:solidFill>
                      <a:srgbClr val="FFFFFF"/>
                    </a:solidFill>
                  </a:tcPr>
                </a:tc>
                <a:tc>
                  <a:txBody>
                    <a:bodyPr/>
                    <a:lstStyle/>
                    <a:p>
                      <a:pPr algn="l"/>
                      <a:r>
                        <a:rPr lang="en-US" sz="820" b="0">
                          <a:solidFill>
                            <a:srgbClr val="0B1F12"/>
                          </a:solidFill>
                          <a:latin typeface="Calibri"/>
                        </a:rPr>
                        <a:t>High water availability and irrigation demand</a:t>
                      </a:r>
                    </a:p>
                  </a:txBody>
                  <a:tcPr>
                    <a:lnL w="9525">
                      <a:solidFill>
                        <a:srgbClr val="D0DDD0"/>
                      </a:solidFill>
                    </a:lnL>
                    <a:lnR w="9525">
                      <a:solidFill>
                        <a:srgbClr val="D0DDD0"/>
                      </a:solidFill>
                    </a:lnR>
                    <a:lnT w="9525">
                      <a:solidFill>
                        <a:srgbClr val="D0DDD0"/>
                      </a:solidFill>
                    </a:lnT>
                    <a:lnB w="9525">
                      <a:solidFill>
                        <a:srgbClr val="D0DDD0"/>
                      </a:solidFill>
                    </a:lnB>
                    <a:solidFill>
                      <a:srgbClr val="FFFFFF"/>
                    </a:solidFill>
                  </a:tcPr>
                </a:tc>
                <a:extLst>
                  <a:ext uri="{0D108BD9-81ED-4DB2-BD59-A6C34878D82A}">
                    <a16:rowId xmlns:a16="http://schemas.microsoft.com/office/drawing/2014/main" val="10003"/>
                  </a:ext>
                </a:extLst>
              </a:tr>
              <a:tr h="492857">
                <a:tc>
                  <a:txBody>
                    <a:bodyPr/>
                    <a:lstStyle/>
                    <a:p>
                      <a:pPr algn="ctr"/>
                      <a:r>
                        <a:rPr lang="en-US" sz="870" b="0">
                          <a:solidFill>
                            <a:srgbClr val="0B1F12"/>
                          </a:solidFill>
                          <a:latin typeface="Calibri"/>
                        </a:rPr>
                        <a:t>2022-23</a:t>
                      </a:r>
                    </a:p>
                  </a:txBody>
                  <a:tcPr>
                    <a:lnL w="9525">
                      <a:solidFill>
                        <a:srgbClr val="D0DDD0"/>
                      </a:solidFill>
                    </a:lnL>
                    <a:lnR w="9525">
                      <a:solidFill>
                        <a:srgbClr val="D0DDD0"/>
                      </a:solidFill>
                    </a:lnR>
                    <a:lnT w="9525">
                      <a:solidFill>
                        <a:srgbClr val="D0DDD0"/>
                      </a:solidFill>
                    </a:lnT>
                    <a:lnB w="9525">
                      <a:solidFill>
                        <a:srgbClr val="D0DDD0"/>
                      </a:solidFill>
                    </a:lnB>
                    <a:solidFill>
                      <a:srgbClr val="EEF4EE"/>
                    </a:solidFill>
                  </a:tcPr>
                </a:tc>
                <a:tc>
                  <a:txBody>
                    <a:bodyPr/>
                    <a:lstStyle/>
                    <a:p>
                      <a:pPr algn="ctr"/>
                      <a:r>
                        <a:rPr lang="en-US" sz="870" b="1" dirty="0">
                          <a:solidFill>
                            <a:srgbClr val="1A5276"/>
                          </a:solidFill>
                          <a:latin typeface="Calibri"/>
                        </a:rPr>
                        <a:t>955 GL</a:t>
                      </a:r>
                    </a:p>
                  </a:txBody>
                  <a:tcPr>
                    <a:lnL w="9525">
                      <a:solidFill>
                        <a:srgbClr val="D0DDD0"/>
                      </a:solidFill>
                    </a:lnL>
                    <a:lnR w="9525">
                      <a:solidFill>
                        <a:srgbClr val="D0DDD0"/>
                      </a:solidFill>
                    </a:lnR>
                    <a:lnT w="9525">
                      <a:solidFill>
                        <a:srgbClr val="D0DDD0"/>
                      </a:solidFill>
                    </a:lnT>
                    <a:lnB w="9525">
                      <a:solidFill>
                        <a:srgbClr val="D0DDD0"/>
                      </a:solidFill>
                    </a:lnB>
                    <a:solidFill>
                      <a:srgbClr val="EEF4EE"/>
                    </a:solidFill>
                  </a:tcPr>
                </a:tc>
                <a:tc>
                  <a:txBody>
                    <a:bodyPr/>
                    <a:lstStyle/>
                    <a:p>
                      <a:pPr algn="l"/>
                      <a:r>
                        <a:rPr lang="en-US" sz="820" b="0">
                          <a:solidFill>
                            <a:srgbClr val="0B1F12"/>
                          </a:solidFill>
                          <a:latin typeface="Calibri"/>
                        </a:rPr>
                        <a:t>Official SA total water consumption figure</a:t>
                      </a:r>
                    </a:p>
                  </a:txBody>
                  <a:tcPr>
                    <a:lnL w="9525">
                      <a:solidFill>
                        <a:srgbClr val="D0DDD0"/>
                      </a:solidFill>
                    </a:lnL>
                    <a:lnR w="9525">
                      <a:solidFill>
                        <a:srgbClr val="D0DDD0"/>
                      </a:solidFill>
                    </a:lnR>
                    <a:lnT w="9525">
                      <a:solidFill>
                        <a:srgbClr val="D0DDD0"/>
                      </a:solidFill>
                    </a:lnT>
                    <a:lnB w="9525">
                      <a:solidFill>
                        <a:srgbClr val="D0DDD0"/>
                      </a:solidFill>
                    </a:lnB>
                    <a:solidFill>
                      <a:srgbClr val="EEF4EE"/>
                    </a:solidFill>
                  </a:tcPr>
                </a:tc>
                <a:extLst>
                  <a:ext uri="{0D108BD9-81ED-4DB2-BD59-A6C34878D82A}">
                    <a16:rowId xmlns:a16="http://schemas.microsoft.com/office/drawing/2014/main" val="10004"/>
                  </a:ext>
                </a:extLst>
              </a:tr>
              <a:tr h="492857">
                <a:tc>
                  <a:txBody>
                    <a:bodyPr/>
                    <a:lstStyle/>
                    <a:p>
                      <a:pPr algn="ctr"/>
                      <a:r>
                        <a:rPr lang="en-US" sz="870" b="1">
                          <a:solidFill>
                            <a:srgbClr val="FFFFFF"/>
                          </a:solidFill>
                          <a:latin typeface="Calibri"/>
                        </a:rPr>
                        <a:t>2023-24</a:t>
                      </a:r>
                    </a:p>
                  </a:txBody>
                  <a:tcPr>
                    <a:lnL w="9525">
                      <a:solidFill>
                        <a:srgbClr val="B04020"/>
                      </a:solidFill>
                    </a:lnL>
                    <a:lnR w="9525">
                      <a:solidFill>
                        <a:srgbClr val="B04020"/>
                      </a:solidFill>
                    </a:lnR>
                    <a:lnT w="9525" cap="flat" cmpd="sng" algn="ctr">
                      <a:solidFill>
                        <a:srgbClr val="D0DDD0"/>
                      </a:solidFill>
                      <a:prstDash val="solid"/>
                      <a:round/>
                      <a:headEnd type="none" w="med" len="med"/>
                      <a:tailEnd type="none" w="med" len="med"/>
                    </a:lnT>
                    <a:lnB w="9525">
                      <a:solidFill>
                        <a:srgbClr val="B04020"/>
                      </a:solidFill>
                    </a:lnB>
                    <a:solidFill>
                      <a:srgbClr val="D85A30"/>
                    </a:solidFill>
                  </a:tcPr>
                </a:tc>
                <a:tc>
                  <a:txBody>
                    <a:bodyPr/>
                    <a:lstStyle/>
                    <a:p>
                      <a:pPr algn="ctr"/>
                      <a:r>
                        <a:rPr lang="en-US" sz="870" b="1" dirty="0">
                          <a:solidFill>
                            <a:srgbClr val="FFFFFF"/>
                          </a:solidFill>
                          <a:latin typeface="Calibri"/>
                        </a:rPr>
                        <a:t>1,191 GL</a:t>
                      </a:r>
                    </a:p>
                  </a:txBody>
                  <a:tcPr>
                    <a:lnL w="9525">
                      <a:solidFill>
                        <a:srgbClr val="B04020"/>
                      </a:solidFill>
                    </a:lnL>
                    <a:lnR w="9525">
                      <a:solidFill>
                        <a:srgbClr val="B04020"/>
                      </a:solidFill>
                    </a:lnR>
                    <a:lnT w="9525" cap="flat" cmpd="sng" algn="ctr">
                      <a:solidFill>
                        <a:srgbClr val="D0DDD0"/>
                      </a:solidFill>
                      <a:prstDash val="solid"/>
                      <a:round/>
                      <a:headEnd type="none" w="med" len="med"/>
                      <a:tailEnd type="none" w="med" len="med"/>
                    </a:lnT>
                    <a:lnB w="9525">
                      <a:solidFill>
                        <a:srgbClr val="B04020"/>
                      </a:solidFill>
                    </a:lnB>
                    <a:solidFill>
                      <a:srgbClr val="D85A30"/>
                    </a:solidFill>
                  </a:tcPr>
                </a:tc>
                <a:tc>
                  <a:txBody>
                    <a:bodyPr/>
                    <a:lstStyle/>
                    <a:p>
                      <a:pPr algn="l"/>
                      <a:r>
                        <a:rPr lang="en-US" sz="820" b="1">
                          <a:solidFill>
                            <a:srgbClr val="FFFFFF"/>
                          </a:solidFill>
                          <a:latin typeface="Calibri"/>
                        </a:rPr>
                        <a:t>Major increase due to drier conditions</a:t>
                      </a:r>
                    </a:p>
                  </a:txBody>
                  <a:tcPr>
                    <a:lnL w="9525">
                      <a:solidFill>
                        <a:srgbClr val="B04020"/>
                      </a:solidFill>
                    </a:lnL>
                    <a:lnR w="9525">
                      <a:solidFill>
                        <a:srgbClr val="B04020"/>
                      </a:solidFill>
                    </a:lnR>
                    <a:lnT w="9525" cap="flat" cmpd="sng" algn="ctr">
                      <a:solidFill>
                        <a:srgbClr val="D0DDD0"/>
                      </a:solidFill>
                      <a:prstDash val="solid"/>
                      <a:round/>
                      <a:headEnd type="none" w="med" len="med"/>
                      <a:tailEnd type="none" w="med" len="med"/>
                    </a:lnT>
                    <a:lnB w="9525">
                      <a:solidFill>
                        <a:srgbClr val="B04020"/>
                      </a:solidFill>
                    </a:lnB>
                    <a:solidFill>
                      <a:srgbClr val="D85A30"/>
                    </a:solidFill>
                  </a:tcPr>
                </a:tc>
                <a:extLst>
                  <a:ext uri="{0D108BD9-81ED-4DB2-BD59-A6C34878D82A}">
                    <a16:rowId xmlns:a16="http://schemas.microsoft.com/office/drawing/2014/main" val="10005"/>
                  </a:ext>
                </a:extLst>
              </a:tr>
              <a:tr h="492857">
                <a:tc>
                  <a:txBody>
                    <a:bodyPr/>
                    <a:lstStyle/>
                    <a:p>
                      <a:pPr algn="ctr"/>
                      <a:r>
                        <a:rPr lang="en-US" sz="870" b="0" dirty="0">
                          <a:solidFill>
                            <a:srgbClr val="0B1F12"/>
                          </a:solidFill>
                          <a:latin typeface="Calibri"/>
                        </a:rPr>
                        <a:t>2024-25</a:t>
                      </a:r>
                    </a:p>
                  </a:txBody>
                  <a:tcPr>
                    <a:lnL w="9525">
                      <a:solidFill>
                        <a:srgbClr val="D0DDD0"/>
                      </a:solidFill>
                    </a:lnL>
                    <a:lnR w="9525">
                      <a:solidFill>
                        <a:srgbClr val="D0DDD0"/>
                      </a:solidFill>
                    </a:lnR>
                    <a:lnT w="9525" cap="flat" cmpd="sng" algn="ctr">
                      <a:solidFill>
                        <a:srgbClr val="B04020"/>
                      </a:solidFill>
                      <a:prstDash val="solid"/>
                      <a:round/>
                      <a:headEnd type="none" w="med" len="med"/>
                      <a:tailEnd type="none" w="med" len="med"/>
                    </a:lnT>
                    <a:lnB w="9525">
                      <a:solidFill>
                        <a:srgbClr val="D0DDD0"/>
                      </a:solidFill>
                    </a:lnB>
                    <a:solidFill>
                      <a:srgbClr val="EEF4EE"/>
                    </a:solidFill>
                  </a:tcPr>
                </a:tc>
                <a:tc>
                  <a:txBody>
                    <a:bodyPr/>
                    <a:lstStyle/>
                    <a:p>
                      <a:pPr algn="ctr"/>
                      <a:r>
                        <a:rPr lang="en-US" sz="820" b="0" i="1" dirty="0">
                          <a:solidFill>
                            <a:srgbClr val="94A3B8"/>
                          </a:solidFill>
                          <a:latin typeface="Calibri"/>
                        </a:rPr>
                        <a:t>Not yet released</a:t>
                      </a:r>
                    </a:p>
                  </a:txBody>
                  <a:tcPr>
                    <a:lnL w="9525">
                      <a:solidFill>
                        <a:srgbClr val="D0DDD0"/>
                      </a:solidFill>
                    </a:lnL>
                    <a:lnR w="9525">
                      <a:solidFill>
                        <a:srgbClr val="D0DDD0"/>
                      </a:solidFill>
                    </a:lnR>
                    <a:lnT w="9525" cap="flat" cmpd="sng" algn="ctr">
                      <a:solidFill>
                        <a:srgbClr val="B04020"/>
                      </a:solidFill>
                      <a:prstDash val="solid"/>
                      <a:round/>
                      <a:headEnd type="none" w="med" len="med"/>
                      <a:tailEnd type="none" w="med" len="med"/>
                    </a:lnT>
                    <a:lnB w="9525">
                      <a:solidFill>
                        <a:srgbClr val="D0DDD0"/>
                      </a:solidFill>
                    </a:lnB>
                    <a:solidFill>
                      <a:srgbClr val="EEF4EE"/>
                    </a:solidFill>
                  </a:tcPr>
                </a:tc>
                <a:tc>
                  <a:txBody>
                    <a:bodyPr/>
                    <a:lstStyle/>
                    <a:p>
                      <a:pPr algn="l"/>
                      <a:r>
                        <a:rPr lang="en-US" sz="820" b="0" dirty="0">
                          <a:solidFill>
                            <a:srgbClr val="0B1F12"/>
                          </a:solidFill>
                          <a:latin typeface="Calibri"/>
                        </a:rPr>
                        <a:t>Expected to remain high</a:t>
                      </a:r>
                    </a:p>
                  </a:txBody>
                  <a:tcPr>
                    <a:lnL w="9525">
                      <a:solidFill>
                        <a:srgbClr val="D0DDD0"/>
                      </a:solidFill>
                    </a:lnL>
                    <a:lnR w="9525">
                      <a:solidFill>
                        <a:srgbClr val="D0DDD0"/>
                      </a:solidFill>
                    </a:lnR>
                    <a:lnT w="9525" cap="flat" cmpd="sng" algn="ctr">
                      <a:solidFill>
                        <a:srgbClr val="B04020"/>
                      </a:solidFill>
                      <a:prstDash val="solid"/>
                      <a:round/>
                      <a:headEnd type="none" w="med" len="med"/>
                      <a:tailEnd type="none" w="med" len="med"/>
                    </a:lnT>
                    <a:lnB w="9525">
                      <a:solidFill>
                        <a:srgbClr val="D0DDD0"/>
                      </a:solidFill>
                    </a:lnB>
                    <a:solidFill>
                      <a:srgbClr val="EEF4EE"/>
                    </a:solidFill>
                  </a:tcPr>
                </a:tc>
                <a:extLst>
                  <a:ext uri="{0D108BD9-81ED-4DB2-BD59-A6C34878D82A}">
                    <a16:rowId xmlns:a16="http://schemas.microsoft.com/office/drawing/2014/main" val="10006"/>
                  </a:ext>
                </a:extLst>
              </a:tr>
            </a:tbl>
          </a:graphicData>
        </a:graphic>
      </p:graphicFrame>
      <p:sp>
        <p:nvSpPr>
          <p:cNvPr id="5" name="KIHeader"/>
          <p:cNvSpPr/>
          <p:nvPr/>
        </p:nvSpPr>
        <p:spPr>
          <a:xfrm>
            <a:off x="5595340" y="915633"/>
            <a:ext cx="3250000" cy="274320"/>
          </a:xfrm>
          <a:prstGeom prst="rect">
            <a:avLst/>
          </a:prstGeom>
          <a:solidFill>
            <a:srgbClr val="1A4A24"/>
          </a:solidFill>
          <a:ln>
            <a:noFill/>
          </a:ln>
        </p:spPr>
        <p:txBody>
          <a:bodyPr rtlCol="0" anchor="ctr"/>
          <a:lstStyle/>
          <a:p>
            <a:pPr algn="ctr"/>
            <a:r>
              <a:rPr sz="850" b="1" i="0">
                <a:solidFill>
                  <a:srgbClr val="E8A230"/>
                </a:solidFill>
                <a:latin typeface="Calibri"/>
              </a:rPr>
              <a:t>KEY INSIGHTS</a:t>
            </a:r>
          </a:p>
        </p:txBody>
      </p:sp>
      <p:sp>
        <p:nvSpPr>
          <p:cNvPr id="6" name="C1Bg"/>
          <p:cNvSpPr/>
          <p:nvPr/>
        </p:nvSpPr>
        <p:spPr>
          <a:xfrm>
            <a:off x="5605104" y="1449652"/>
            <a:ext cx="3250000" cy="1570000"/>
          </a:xfrm>
          <a:prstGeom prst="rect">
            <a:avLst/>
          </a:prstGeom>
          <a:solidFill>
            <a:srgbClr val="FFFFFF"/>
          </a:solidFill>
          <a:ln w="8890">
            <a:solidFill>
              <a:srgbClr val="1A5276"/>
            </a:solidFill>
          </a:ln>
        </p:spPr>
        <p:txBody>
          <a:bodyPr rtlCol="0" anchor="ctr"/>
          <a:lstStyle/>
          <a:p>
            <a:endParaRPr/>
          </a:p>
        </p:txBody>
      </p:sp>
      <p:sp>
        <p:nvSpPr>
          <p:cNvPr id="7" name="C1Acc"/>
          <p:cNvSpPr/>
          <p:nvPr/>
        </p:nvSpPr>
        <p:spPr>
          <a:xfrm>
            <a:off x="5605104" y="1459976"/>
            <a:ext cx="54864" cy="1570000"/>
          </a:xfrm>
          <a:prstGeom prst="rect">
            <a:avLst/>
          </a:prstGeom>
          <a:solidFill>
            <a:srgbClr val="1A5276"/>
          </a:solidFill>
          <a:ln>
            <a:noFill/>
          </a:ln>
        </p:spPr>
        <p:txBody>
          <a:bodyPr rtlCol="0" anchor="ctr"/>
          <a:lstStyle/>
          <a:p>
            <a:endParaRPr/>
          </a:p>
        </p:txBody>
      </p:sp>
      <p:sp>
        <p:nvSpPr>
          <p:cNvPr id="8" name="C1Circle"/>
          <p:cNvSpPr/>
          <p:nvPr/>
        </p:nvSpPr>
        <p:spPr>
          <a:xfrm>
            <a:off x="5724000" y="1531903"/>
            <a:ext cx="310896" cy="310896"/>
          </a:xfrm>
          <a:prstGeom prst="ellipse">
            <a:avLst/>
          </a:prstGeom>
          <a:solidFill>
            <a:srgbClr val="1A5276"/>
          </a:solidFill>
          <a:ln>
            <a:noFill/>
          </a:ln>
        </p:spPr>
        <p:txBody>
          <a:bodyPr rtlCol="0" anchor="ctr"/>
          <a:lstStyle/>
          <a:p>
            <a:pPr algn="ctr"/>
            <a:r>
              <a:rPr sz="1000" b="1">
                <a:solidFill>
                  <a:srgbClr val="FFFFFF"/>
                </a:solidFill>
                <a:latin typeface="Calibri"/>
              </a:rPr>
              <a:t>A</a:t>
            </a:r>
          </a:p>
        </p:txBody>
      </p:sp>
      <p:sp>
        <p:nvSpPr>
          <p:cNvPr id="9" name="C1Head"/>
          <p:cNvSpPr txBox="1"/>
          <p:nvPr/>
        </p:nvSpPr>
        <p:spPr>
          <a:xfrm>
            <a:off x="6034896" y="1596563"/>
            <a:ext cx="2720000" cy="246221"/>
          </a:xfrm>
          <a:prstGeom prst="rect">
            <a:avLst/>
          </a:prstGeom>
          <a:noFill/>
        </p:spPr>
        <p:txBody>
          <a:bodyPr wrap="square">
            <a:spAutoFit/>
          </a:bodyPr>
          <a:lstStyle/>
          <a:p>
            <a:pPr algn="l"/>
            <a:r>
              <a:rPr sz="1000" b="1" i="0" dirty="0">
                <a:solidFill>
                  <a:srgbClr val="1A5276"/>
                </a:solidFill>
                <a:latin typeface="Calibri"/>
              </a:rPr>
              <a:t>Irrigation use nearly tripled since 2019-20</a:t>
            </a:r>
          </a:p>
        </p:txBody>
      </p:sp>
      <p:sp>
        <p:nvSpPr>
          <p:cNvPr id="10" name="C1Body"/>
          <p:cNvSpPr txBox="1"/>
          <p:nvPr/>
        </p:nvSpPr>
        <p:spPr>
          <a:xfrm>
            <a:off x="5860340" y="1913151"/>
            <a:ext cx="2720000" cy="923330"/>
          </a:xfrm>
          <a:prstGeom prst="rect">
            <a:avLst/>
          </a:prstGeom>
          <a:noFill/>
        </p:spPr>
        <p:txBody>
          <a:bodyPr wrap="square">
            <a:spAutoFit/>
          </a:bodyPr>
          <a:lstStyle/>
          <a:p>
            <a:pPr algn="l"/>
            <a:r>
              <a:rPr lang="en-GB" sz="900" b="0" i="0" dirty="0">
                <a:solidFill>
                  <a:srgbClr val="0B1F12"/>
                </a:solidFill>
                <a:latin typeface="Calibri"/>
              </a:rPr>
              <a:t>The amount of agricultural water used in SA increased by 205%, from around 390 GL in 2019–20 to about 1,191 GL in 2023–2024. This directly supports the drought buffer collapse concept by confirming that farmers use increased irrigation to make up for decreasing rainfall</a:t>
            </a:r>
            <a:endParaRPr sz="900" b="0" i="0" dirty="0">
              <a:solidFill>
                <a:srgbClr val="0B1F12"/>
              </a:solidFill>
              <a:latin typeface="Calibri"/>
            </a:endParaRPr>
          </a:p>
        </p:txBody>
      </p:sp>
      <p:sp>
        <p:nvSpPr>
          <p:cNvPr id="11" name="C2Bg"/>
          <p:cNvSpPr/>
          <p:nvPr/>
        </p:nvSpPr>
        <p:spPr>
          <a:xfrm>
            <a:off x="5620000" y="3358500"/>
            <a:ext cx="3250000" cy="1490000"/>
          </a:xfrm>
          <a:prstGeom prst="rect">
            <a:avLst/>
          </a:prstGeom>
          <a:solidFill>
            <a:srgbClr val="FFFFFF"/>
          </a:solidFill>
          <a:ln w="8890">
            <a:solidFill>
              <a:srgbClr val="D85A30"/>
            </a:solidFill>
          </a:ln>
        </p:spPr>
        <p:txBody>
          <a:bodyPr rtlCol="0" anchor="ctr"/>
          <a:lstStyle/>
          <a:p>
            <a:endParaRPr/>
          </a:p>
        </p:txBody>
      </p:sp>
      <p:sp>
        <p:nvSpPr>
          <p:cNvPr id="12" name="C2Acc"/>
          <p:cNvSpPr/>
          <p:nvPr/>
        </p:nvSpPr>
        <p:spPr>
          <a:xfrm>
            <a:off x="5627584" y="3369250"/>
            <a:ext cx="54864" cy="1490000"/>
          </a:xfrm>
          <a:prstGeom prst="rect">
            <a:avLst/>
          </a:prstGeom>
          <a:solidFill>
            <a:srgbClr val="D85A30"/>
          </a:solidFill>
          <a:ln>
            <a:noFill/>
          </a:ln>
        </p:spPr>
        <p:txBody>
          <a:bodyPr rtlCol="0" anchor="ctr"/>
          <a:lstStyle/>
          <a:p>
            <a:endParaRPr/>
          </a:p>
        </p:txBody>
      </p:sp>
      <p:sp>
        <p:nvSpPr>
          <p:cNvPr id="13" name="C2Circle"/>
          <p:cNvSpPr/>
          <p:nvPr/>
        </p:nvSpPr>
        <p:spPr>
          <a:xfrm>
            <a:off x="5713988" y="3493188"/>
            <a:ext cx="310896" cy="310896"/>
          </a:xfrm>
          <a:prstGeom prst="ellipse">
            <a:avLst/>
          </a:prstGeom>
          <a:solidFill>
            <a:srgbClr val="D85A30"/>
          </a:solidFill>
          <a:ln>
            <a:noFill/>
          </a:ln>
        </p:spPr>
        <p:txBody>
          <a:bodyPr rtlCol="0" anchor="ctr"/>
          <a:lstStyle/>
          <a:p>
            <a:pPr algn="ctr"/>
            <a:r>
              <a:rPr sz="1000" b="1" dirty="0">
                <a:solidFill>
                  <a:srgbClr val="FFFFFF"/>
                </a:solidFill>
                <a:latin typeface="Calibri"/>
              </a:rPr>
              <a:t>B</a:t>
            </a:r>
          </a:p>
        </p:txBody>
      </p:sp>
      <p:sp>
        <p:nvSpPr>
          <p:cNvPr id="14" name="C2Head"/>
          <p:cNvSpPr txBox="1"/>
          <p:nvPr/>
        </p:nvSpPr>
        <p:spPr>
          <a:xfrm>
            <a:off x="6024884" y="3515167"/>
            <a:ext cx="2720000" cy="246221"/>
          </a:xfrm>
          <a:prstGeom prst="rect">
            <a:avLst/>
          </a:prstGeom>
          <a:noFill/>
        </p:spPr>
        <p:txBody>
          <a:bodyPr wrap="square">
            <a:spAutoFit/>
          </a:bodyPr>
          <a:lstStyle/>
          <a:p>
            <a:pPr algn="l"/>
            <a:r>
              <a:rPr sz="1000" b="1" i="0" dirty="0">
                <a:solidFill>
                  <a:srgbClr val="D85A30"/>
                </a:solidFill>
                <a:latin typeface="Calibri"/>
              </a:rPr>
              <a:t>2023-24 spike confirms drought compensation</a:t>
            </a:r>
          </a:p>
        </p:txBody>
      </p:sp>
      <p:sp>
        <p:nvSpPr>
          <p:cNvPr id="15" name="C2Body"/>
          <p:cNvSpPr txBox="1"/>
          <p:nvPr/>
        </p:nvSpPr>
        <p:spPr>
          <a:xfrm>
            <a:off x="5916224" y="3814834"/>
            <a:ext cx="2720000" cy="923330"/>
          </a:xfrm>
          <a:prstGeom prst="rect">
            <a:avLst/>
          </a:prstGeom>
          <a:noFill/>
        </p:spPr>
        <p:txBody>
          <a:bodyPr wrap="square">
            <a:spAutoFit/>
          </a:bodyPr>
          <a:lstStyle/>
          <a:p>
            <a:r>
              <a:rPr lang="en-GB" sz="900" dirty="0"/>
              <a:t>Despite rainfall dropping to 1,531 mm in 2023–2024, the ~1,191 GL represented a 24.7% year-over-year gain. In line with the ARIMA pessimistic prediction for SA supply disruptions, this extraordinary demand indicates that the irrigation system has reached its maximum strain.</a:t>
            </a:r>
            <a:endParaRPr lang="en-GB" sz="900" dirty="0">
              <a:solidFill>
                <a:srgbClr val="0B1F12"/>
              </a:solidFill>
            </a:endParaRPr>
          </a:p>
        </p:txBody>
      </p:sp>
      <p:sp>
        <p:nvSpPr>
          <p:cNvPr id="16" name="Footer"/>
          <p:cNvSpPr txBox="1"/>
          <p:nvPr/>
        </p:nvSpPr>
        <p:spPr>
          <a:xfrm>
            <a:off x="274320" y="4870000"/>
            <a:ext cx="8595360" cy="203133"/>
          </a:xfrm>
          <a:prstGeom prst="rect">
            <a:avLst/>
          </a:prstGeom>
          <a:noFill/>
        </p:spPr>
        <p:txBody>
          <a:bodyPr wrap="square">
            <a:spAutoFit/>
          </a:bodyPr>
          <a:lstStyle/>
          <a:p>
            <a:pPr algn="l"/>
            <a:r>
              <a:rPr sz="720" b="0" i="1" dirty="0">
                <a:latin typeface="Calibri"/>
              </a:rPr>
              <a:t>Source: SA Dept for Environment and Water 2025; Murray-Darling Basin Authority 2025</a:t>
            </a:r>
          </a:p>
        </p:txBody>
      </p:sp>
      <p:sp>
        <p:nvSpPr>
          <p:cNvPr id="19" name="TextBox 18">
            <a:extLst>
              <a:ext uri="{FF2B5EF4-FFF2-40B4-BE49-F238E27FC236}">
                <a16:creationId xmlns:a16="http://schemas.microsoft.com/office/drawing/2014/main" id="{A1F1FBB3-8CEF-57B4-2E54-CD8A1DD497D7}"/>
              </a:ext>
            </a:extLst>
          </p:cNvPr>
          <p:cNvSpPr txBox="1"/>
          <p:nvPr/>
        </p:nvSpPr>
        <p:spPr>
          <a:xfrm>
            <a:off x="8862061" y="4876318"/>
            <a:ext cx="350520" cy="215444"/>
          </a:xfrm>
          <a:prstGeom prst="rect">
            <a:avLst/>
          </a:prstGeom>
          <a:noFill/>
        </p:spPr>
        <p:txBody>
          <a:bodyPr wrap="square" rtlCol="0">
            <a:spAutoFit/>
          </a:bodyPr>
          <a:lstStyle/>
          <a:p>
            <a:r>
              <a:rPr lang="en-AU" sz="800" dirty="0"/>
              <a:t>16</a:t>
            </a:r>
            <a:endParaRPr lang="en-A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0B1F12"/>
        </a:solidFill>
        <a:effectLst/>
      </p:bgPr>
    </p:bg>
    <p:spTree>
      <p:nvGrpSpPr>
        <p:cNvPr id="1" name=""/>
        <p:cNvGrpSpPr/>
        <p:nvPr/>
      </p:nvGrpSpPr>
      <p:grpSpPr>
        <a:xfrm>
          <a:off x="0" y="0"/>
          <a:ext cx="0" cy="0"/>
          <a:chOff x="0" y="0"/>
          <a:chExt cx="0" cy="0"/>
        </a:xfrm>
      </p:grpSpPr>
      <p:sp>
        <p:nvSpPr>
          <p:cNvPr id="3" name="Text 1"/>
          <p:cNvSpPr/>
          <p:nvPr/>
        </p:nvSpPr>
        <p:spPr>
          <a:xfrm>
            <a:off x="274320" y="164592"/>
            <a:ext cx="6400800" cy="4572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Summary of Findings</a:t>
            </a:r>
            <a:endParaRPr lang="en-US" sz="2800" dirty="0"/>
          </a:p>
        </p:txBody>
      </p:sp>
      <p:sp>
        <p:nvSpPr>
          <p:cNvPr id="4" name="Shape 2"/>
          <p:cNvSpPr/>
          <p:nvPr/>
        </p:nvSpPr>
        <p:spPr>
          <a:xfrm>
            <a:off x="274320" y="768096"/>
            <a:ext cx="8046720" cy="1115568"/>
          </a:xfrm>
          <a:prstGeom prst="rect">
            <a:avLst/>
          </a:prstGeom>
          <a:solidFill>
            <a:srgbClr val="1A4A24"/>
          </a:solidFill>
          <a:ln w="10160">
            <a:solidFill>
              <a:srgbClr val="2D8A4E"/>
            </a:solidFill>
            <a:prstDash val="solid"/>
          </a:ln>
          <a:effectLst>
            <a:outerShdw blurRad="101600" dist="38100" dir="8100000" algn="bl" rotWithShape="0">
              <a:srgbClr val="000000">
                <a:alpha val="18000"/>
              </a:srgbClr>
            </a:outerShdw>
          </a:effectLst>
        </p:spPr>
        <p:txBody>
          <a:bodyPr/>
          <a:lstStyle/>
          <a:p>
            <a:endParaRPr lang="en-AU"/>
          </a:p>
        </p:txBody>
      </p:sp>
      <p:sp>
        <p:nvSpPr>
          <p:cNvPr id="5" name="Shape 3"/>
          <p:cNvSpPr/>
          <p:nvPr/>
        </p:nvSpPr>
        <p:spPr>
          <a:xfrm>
            <a:off x="274320" y="768096"/>
            <a:ext cx="548640" cy="1115568"/>
          </a:xfrm>
          <a:prstGeom prst="rect">
            <a:avLst/>
          </a:prstGeom>
          <a:solidFill>
            <a:srgbClr val="2D8A4E"/>
          </a:solidFill>
          <a:ln w="12700">
            <a:solidFill>
              <a:srgbClr val="2D8A4E"/>
            </a:solidFill>
            <a:prstDash val="solid"/>
          </a:ln>
        </p:spPr>
        <p:txBody>
          <a:bodyPr/>
          <a:lstStyle/>
          <a:p>
            <a:endParaRPr lang="en-AU"/>
          </a:p>
        </p:txBody>
      </p:sp>
      <p:sp>
        <p:nvSpPr>
          <p:cNvPr id="6" name="Text 4"/>
          <p:cNvSpPr/>
          <p:nvPr/>
        </p:nvSpPr>
        <p:spPr>
          <a:xfrm>
            <a:off x="274320" y="768096"/>
            <a:ext cx="548640" cy="111556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7" name="Text 5"/>
          <p:cNvSpPr/>
          <p:nvPr/>
        </p:nvSpPr>
        <p:spPr>
          <a:xfrm>
            <a:off x="932688" y="859536"/>
            <a:ext cx="7315200" cy="256032"/>
          </a:xfrm>
          <a:prstGeom prst="rect">
            <a:avLst/>
          </a:prstGeom>
          <a:noFill/>
          <a:ln/>
        </p:spPr>
        <p:txBody>
          <a:bodyPr wrap="square" lIns="0" tIns="0" rIns="0" bIns="0" rtlCol="0" anchor="ctr"/>
          <a:lstStyle/>
          <a:p>
            <a:pPr marL="0" indent="0">
              <a:buNone/>
            </a:pPr>
            <a:r>
              <a:rPr lang="en-US" sz="1200" b="1" dirty="0">
                <a:solidFill>
                  <a:srgbClr val="E8A230"/>
                </a:solidFill>
              </a:rPr>
              <a:t>R = -0.621 (p=0.2634) - Moderate inverse correlation</a:t>
            </a:r>
            <a:endParaRPr lang="en-US" sz="1200" dirty="0"/>
          </a:p>
        </p:txBody>
      </p:sp>
      <p:sp>
        <p:nvSpPr>
          <p:cNvPr id="8" name="Text 6"/>
          <p:cNvSpPr/>
          <p:nvPr/>
        </p:nvSpPr>
        <p:spPr>
          <a:xfrm>
            <a:off x="932688" y="1152144"/>
            <a:ext cx="7315200" cy="621792"/>
          </a:xfrm>
          <a:prstGeom prst="rect">
            <a:avLst/>
          </a:prstGeom>
          <a:noFill/>
          <a:ln/>
        </p:spPr>
        <p:txBody>
          <a:bodyPr wrap="square" lIns="0" tIns="0" rIns="0" bIns="0" rtlCol="0" anchor="ctr"/>
          <a:lstStyle/>
          <a:p>
            <a:pPr marL="0" indent="0">
              <a:buNone/>
            </a:pPr>
            <a:r>
              <a:rPr lang="en-GB" sz="1050" dirty="0">
                <a:solidFill>
                  <a:srgbClr val="FFFFFF"/>
                </a:solidFill>
              </a:rPr>
              <a:t>The moderately inverse association between SA FY rainfall and vegetable production is confirmed by Pearson correlation. SA horticulture depends on irrigation; after more than four years of below-average rainfall, the drought buffer is collapsing.</a:t>
            </a:r>
          </a:p>
        </p:txBody>
      </p:sp>
      <p:sp>
        <p:nvSpPr>
          <p:cNvPr id="9" name="Shape 7"/>
          <p:cNvSpPr/>
          <p:nvPr/>
        </p:nvSpPr>
        <p:spPr>
          <a:xfrm>
            <a:off x="274320" y="2029968"/>
            <a:ext cx="8046720" cy="1115568"/>
          </a:xfrm>
          <a:prstGeom prst="rect">
            <a:avLst/>
          </a:prstGeom>
          <a:solidFill>
            <a:srgbClr val="1A4A24"/>
          </a:solidFill>
          <a:ln w="10160">
            <a:solidFill>
              <a:srgbClr val="D85A30"/>
            </a:solidFill>
            <a:prstDash val="solid"/>
          </a:ln>
          <a:effectLst>
            <a:outerShdw blurRad="101600" dist="38100" dir="8100000" algn="bl" rotWithShape="0">
              <a:srgbClr val="000000">
                <a:alpha val="18000"/>
              </a:srgbClr>
            </a:outerShdw>
          </a:effectLst>
        </p:spPr>
        <p:txBody>
          <a:bodyPr/>
          <a:lstStyle/>
          <a:p>
            <a:endParaRPr lang="en-AU"/>
          </a:p>
        </p:txBody>
      </p:sp>
      <p:sp>
        <p:nvSpPr>
          <p:cNvPr id="10" name="Shape 8"/>
          <p:cNvSpPr/>
          <p:nvPr/>
        </p:nvSpPr>
        <p:spPr>
          <a:xfrm>
            <a:off x="274320" y="2029968"/>
            <a:ext cx="548640" cy="1115568"/>
          </a:xfrm>
          <a:prstGeom prst="rect">
            <a:avLst/>
          </a:prstGeom>
          <a:solidFill>
            <a:srgbClr val="D85A30"/>
          </a:solidFill>
          <a:ln w="12700">
            <a:solidFill>
              <a:srgbClr val="D85A30"/>
            </a:solidFill>
            <a:prstDash val="solid"/>
          </a:ln>
        </p:spPr>
        <p:txBody>
          <a:bodyPr/>
          <a:lstStyle/>
          <a:p>
            <a:endParaRPr lang="en-AU"/>
          </a:p>
        </p:txBody>
      </p:sp>
      <p:sp>
        <p:nvSpPr>
          <p:cNvPr id="11" name="Text 9"/>
          <p:cNvSpPr/>
          <p:nvPr/>
        </p:nvSpPr>
        <p:spPr>
          <a:xfrm>
            <a:off x="274320" y="2029968"/>
            <a:ext cx="548640" cy="111556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2" name="Text 10"/>
          <p:cNvSpPr/>
          <p:nvPr/>
        </p:nvSpPr>
        <p:spPr>
          <a:xfrm>
            <a:off x="932688" y="2121408"/>
            <a:ext cx="7315200" cy="256032"/>
          </a:xfrm>
          <a:prstGeom prst="rect">
            <a:avLst/>
          </a:prstGeom>
          <a:noFill/>
          <a:ln/>
        </p:spPr>
        <p:txBody>
          <a:bodyPr wrap="square" lIns="0" tIns="0" rIns="0" bIns="0" rtlCol="0" anchor="ctr"/>
          <a:lstStyle/>
          <a:p>
            <a:pPr marL="0" indent="0">
              <a:buNone/>
            </a:pPr>
            <a:r>
              <a:rPr lang="en-US" sz="1200" b="1" dirty="0">
                <a:solidFill>
                  <a:srgbClr val="E8A230"/>
                </a:solidFill>
              </a:rPr>
              <a:t>CPI and production co-movement</a:t>
            </a:r>
            <a:endParaRPr lang="en-US" sz="1200" dirty="0"/>
          </a:p>
        </p:txBody>
      </p:sp>
      <p:sp>
        <p:nvSpPr>
          <p:cNvPr id="13" name="Text 11"/>
          <p:cNvSpPr/>
          <p:nvPr/>
        </p:nvSpPr>
        <p:spPr>
          <a:xfrm>
            <a:off x="932688" y="2414016"/>
            <a:ext cx="7315200" cy="621792"/>
          </a:xfrm>
          <a:prstGeom prst="rect">
            <a:avLst/>
          </a:prstGeom>
          <a:noFill/>
          <a:ln/>
        </p:spPr>
        <p:txBody>
          <a:bodyPr wrap="square" lIns="0" tIns="0" rIns="0" bIns="0" rtlCol="0" anchor="ctr"/>
          <a:lstStyle/>
          <a:p>
            <a:r>
              <a:rPr lang="en-US" sz="1050" dirty="0">
                <a:solidFill>
                  <a:schemeClr val="bg1"/>
                </a:solidFill>
              </a:rPr>
              <a:t>Production fell to 1.007M </a:t>
            </a:r>
            <a:r>
              <a:rPr lang="en-US" sz="1050" dirty="0" err="1">
                <a:solidFill>
                  <a:schemeClr val="bg1"/>
                </a:solidFill>
              </a:rPr>
              <a:t>tonnes</a:t>
            </a:r>
            <a:r>
              <a:rPr lang="en-US" sz="1050" dirty="0">
                <a:solidFill>
                  <a:schemeClr val="bg1"/>
                </a:solidFill>
              </a:rPr>
              <a:t> in FY 2022/23 at the same time as the 9.2% CPI surge. Rainfall and CPI were verified by multiple regression as important co-drivers of the volatility of the fresh food supply in South Africa.</a:t>
            </a:r>
          </a:p>
        </p:txBody>
      </p:sp>
      <p:sp>
        <p:nvSpPr>
          <p:cNvPr id="14" name="Shape 12"/>
          <p:cNvSpPr/>
          <p:nvPr/>
        </p:nvSpPr>
        <p:spPr>
          <a:xfrm>
            <a:off x="274320" y="3291840"/>
            <a:ext cx="8046720" cy="1115568"/>
          </a:xfrm>
          <a:prstGeom prst="rect">
            <a:avLst/>
          </a:prstGeom>
          <a:solidFill>
            <a:srgbClr val="1A4A24"/>
          </a:solidFill>
          <a:ln w="10160">
            <a:solidFill>
              <a:srgbClr val="534AB7"/>
            </a:solidFill>
            <a:prstDash val="solid"/>
          </a:ln>
          <a:effectLst>
            <a:outerShdw blurRad="101600" dist="38100" dir="8100000" algn="bl" rotWithShape="0">
              <a:srgbClr val="000000">
                <a:alpha val="18000"/>
              </a:srgbClr>
            </a:outerShdw>
          </a:effectLst>
        </p:spPr>
        <p:txBody>
          <a:bodyPr/>
          <a:lstStyle/>
          <a:p>
            <a:endParaRPr lang="en-AU"/>
          </a:p>
        </p:txBody>
      </p:sp>
      <p:sp>
        <p:nvSpPr>
          <p:cNvPr id="15" name="Shape 13"/>
          <p:cNvSpPr/>
          <p:nvPr/>
        </p:nvSpPr>
        <p:spPr>
          <a:xfrm>
            <a:off x="274320" y="3291840"/>
            <a:ext cx="548640" cy="1115568"/>
          </a:xfrm>
          <a:prstGeom prst="rect">
            <a:avLst/>
          </a:prstGeom>
          <a:solidFill>
            <a:srgbClr val="534AB7"/>
          </a:solidFill>
          <a:ln w="12700">
            <a:solidFill>
              <a:srgbClr val="534AB7"/>
            </a:solidFill>
            <a:prstDash val="solid"/>
          </a:ln>
        </p:spPr>
        <p:txBody>
          <a:bodyPr/>
          <a:lstStyle/>
          <a:p>
            <a:endParaRPr lang="en-AU"/>
          </a:p>
        </p:txBody>
      </p:sp>
      <p:sp>
        <p:nvSpPr>
          <p:cNvPr id="16" name="Text 14"/>
          <p:cNvSpPr/>
          <p:nvPr/>
        </p:nvSpPr>
        <p:spPr>
          <a:xfrm>
            <a:off x="274320" y="3291840"/>
            <a:ext cx="548640" cy="111556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7" name="Text 15"/>
          <p:cNvSpPr/>
          <p:nvPr/>
        </p:nvSpPr>
        <p:spPr>
          <a:xfrm>
            <a:off x="932688" y="3383280"/>
            <a:ext cx="7315200" cy="256032"/>
          </a:xfrm>
          <a:prstGeom prst="rect">
            <a:avLst/>
          </a:prstGeom>
          <a:noFill/>
          <a:ln/>
        </p:spPr>
        <p:txBody>
          <a:bodyPr wrap="square" lIns="0" tIns="0" rIns="0" bIns="0" rtlCol="0" anchor="ctr"/>
          <a:lstStyle/>
          <a:p>
            <a:pPr marL="0" indent="0">
              <a:buNone/>
            </a:pPr>
            <a:r>
              <a:rPr lang="en-US" sz="1200" b="1" dirty="0">
                <a:solidFill>
                  <a:srgbClr val="E8A230"/>
                </a:solidFill>
              </a:rPr>
              <a:t>ML + time-series confirm supply disruption risk</a:t>
            </a:r>
            <a:endParaRPr lang="en-US" sz="1200" dirty="0"/>
          </a:p>
        </p:txBody>
      </p:sp>
      <p:sp>
        <p:nvSpPr>
          <p:cNvPr id="18" name="Text 16"/>
          <p:cNvSpPr/>
          <p:nvPr/>
        </p:nvSpPr>
        <p:spPr>
          <a:xfrm>
            <a:off x="932688" y="3675888"/>
            <a:ext cx="7315200" cy="621792"/>
          </a:xfrm>
          <a:prstGeom prst="rect">
            <a:avLst/>
          </a:prstGeom>
          <a:noFill/>
          <a:ln/>
        </p:spPr>
        <p:txBody>
          <a:bodyPr wrap="square" lIns="0" tIns="0" rIns="0" bIns="0" rtlCol="0" anchor="ctr"/>
          <a:lstStyle/>
          <a:p>
            <a:r>
              <a:rPr lang="en-US" sz="1050" dirty="0">
                <a:solidFill>
                  <a:schemeClr val="bg1"/>
                </a:solidFill>
              </a:rPr>
              <a:t>Through FY 2025/26 – 2029/30, falling production is predicted using Random Forest (ML) and ARIMA, Holt-Winters, Prophet (time-series). For SA retail buyers, Prophet 95% CI facilitates scenario-based procurement planning.</a:t>
            </a:r>
          </a:p>
        </p:txBody>
      </p:sp>
      <p:sp>
        <p:nvSpPr>
          <p:cNvPr id="19" name="Shape 17"/>
          <p:cNvSpPr/>
          <p:nvPr/>
        </p:nvSpPr>
        <p:spPr>
          <a:xfrm>
            <a:off x="274320" y="4572000"/>
            <a:ext cx="8046720" cy="384048"/>
          </a:xfrm>
          <a:prstGeom prst="rect">
            <a:avLst/>
          </a:prstGeom>
          <a:solidFill>
            <a:srgbClr val="E8A230"/>
          </a:solidFill>
          <a:ln w="12700">
            <a:solidFill>
              <a:srgbClr val="E8A230"/>
            </a:solidFill>
            <a:prstDash val="solid"/>
          </a:ln>
        </p:spPr>
        <p:txBody>
          <a:bodyPr/>
          <a:lstStyle/>
          <a:p>
            <a:endParaRPr lang="en-AU"/>
          </a:p>
        </p:txBody>
      </p:sp>
      <p:sp>
        <p:nvSpPr>
          <p:cNvPr id="20" name="Text 18"/>
          <p:cNvSpPr/>
          <p:nvPr/>
        </p:nvSpPr>
        <p:spPr>
          <a:xfrm>
            <a:off x="274320" y="4572000"/>
            <a:ext cx="8046720" cy="384048"/>
          </a:xfrm>
          <a:prstGeom prst="rect">
            <a:avLst/>
          </a:prstGeom>
          <a:noFill/>
          <a:ln/>
        </p:spPr>
        <p:txBody>
          <a:bodyPr wrap="square" lIns="0" tIns="0" rIns="0" bIns="0" rtlCol="0" anchor="ctr"/>
          <a:lstStyle/>
          <a:p>
            <a:pPr marL="0" indent="0" algn="ctr">
              <a:buNone/>
            </a:pPr>
            <a:r>
              <a:rPr lang="en-US" sz="1000" b="1" dirty="0">
                <a:solidFill>
                  <a:srgbClr val="0B1F12"/>
                </a:solidFill>
              </a:rPr>
              <a:t> SA rainfall, CPI and horticulture data forecast fresh food supply disruptions in SA retail - ML (Random Forest) + statistical models confirm the finding.</a:t>
            </a:r>
            <a:endParaRPr lang="en-US" sz="1000" dirty="0"/>
          </a:p>
        </p:txBody>
      </p:sp>
      <p:sp>
        <p:nvSpPr>
          <p:cNvPr id="21" name="TextBox 20">
            <a:extLst>
              <a:ext uri="{FF2B5EF4-FFF2-40B4-BE49-F238E27FC236}">
                <a16:creationId xmlns:a16="http://schemas.microsoft.com/office/drawing/2014/main" id="{BFE63BC0-0B39-39BF-A6BD-95F1F06058AF}"/>
              </a:ext>
            </a:extLst>
          </p:cNvPr>
          <p:cNvSpPr txBox="1"/>
          <p:nvPr/>
        </p:nvSpPr>
        <p:spPr>
          <a:xfrm>
            <a:off x="8862061" y="4876318"/>
            <a:ext cx="350520" cy="215444"/>
          </a:xfrm>
          <a:prstGeom prst="rect">
            <a:avLst/>
          </a:prstGeom>
          <a:noFill/>
        </p:spPr>
        <p:txBody>
          <a:bodyPr wrap="square" rtlCol="0">
            <a:spAutoFit/>
          </a:bodyPr>
          <a:lstStyle/>
          <a:p>
            <a:r>
              <a:rPr lang="en-AU" sz="800" dirty="0">
                <a:solidFill>
                  <a:schemeClr val="accent6">
                    <a:lumMod val="40000"/>
                    <a:lumOff val="60000"/>
                  </a:schemeClr>
                </a:solidFill>
              </a:rPr>
              <a:t>17</a:t>
            </a:r>
            <a:endParaRPr lang="en-AU" dirty="0">
              <a:solidFill>
                <a:schemeClr val="accent6">
                  <a:lumMod val="40000"/>
                  <a:lumOff val="6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8FAF8"/>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EC8CAAB7-DFD0-E977-8BE1-737A8045C9F3}"/>
              </a:ext>
            </a:extLst>
          </p:cNvPr>
          <p:cNvPicPr>
            <a:picLocks noChangeAspect="1"/>
          </p:cNvPicPr>
          <p:nvPr/>
        </p:nvPicPr>
        <p:blipFill>
          <a:blip r:embed="rId3">
            <a:alphaModFix amt="35000"/>
          </a:blip>
          <a:stretch>
            <a:fillRect/>
          </a:stretch>
        </p:blipFill>
        <p:spPr>
          <a:xfrm>
            <a:off x="0" y="0"/>
            <a:ext cx="9144000" cy="5143500"/>
          </a:xfrm>
          <a:prstGeom prst="rect">
            <a:avLst/>
          </a:prstGeom>
        </p:spPr>
      </p:pic>
      <p:sp>
        <p:nvSpPr>
          <p:cNvPr id="2" name="Text 0"/>
          <p:cNvSpPr/>
          <p:nvPr/>
        </p:nvSpPr>
        <p:spPr>
          <a:xfrm>
            <a:off x="274320" y="164592"/>
            <a:ext cx="6400800" cy="411480"/>
          </a:xfrm>
          <a:prstGeom prst="rect">
            <a:avLst/>
          </a:prstGeom>
          <a:noFill/>
          <a:ln/>
        </p:spPr>
        <p:txBody>
          <a:bodyPr wrap="square" lIns="0" tIns="0" rIns="0" bIns="0" rtlCol="0" anchor="ctr"/>
          <a:lstStyle/>
          <a:p>
            <a:pPr marL="0" indent="0">
              <a:buNone/>
            </a:pPr>
            <a:r>
              <a:rPr lang="en-US" sz="2800" b="1" dirty="0">
                <a:solidFill>
                  <a:srgbClr val="1A4A24"/>
                </a:solidFill>
                <a:latin typeface="Calibri" pitchFamily="34" charset="0"/>
                <a:ea typeface="Calibri" pitchFamily="34" charset="-122"/>
                <a:cs typeface="Calibri" pitchFamily="34" charset="-120"/>
              </a:rPr>
              <a:t>References</a:t>
            </a:r>
            <a:endParaRPr lang="en-US" sz="2800" dirty="0"/>
          </a:p>
        </p:txBody>
      </p:sp>
      <p:sp>
        <p:nvSpPr>
          <p:cNvPr id="3" name="Text 1"/>
          <p:cNvSpPr/>
          <p:nvPr/>
        </p:nvSpPr>
        <p:spPr>
          <a:xfrm>
            <a:off x="274320" y="749808"/>
            <a:ext cx="274320" cy="566928"/>
          </a:xfrm>
          <a:prstGeom prst="rect">
            <a:avLst/>
          </a:prstGeom>
          <a:noFill/>
          <a:ln/>
        </p:spPr>
        <p:txBody>
          <a:bodyPr wrap="square" lIns="0" tIns="0" rIns="0" bIns="0" rtlCol="0" anchor="t"/>
          <a:lstStyle/>
          <a:p>
            <a:pPr marL="0" indent="0">
              <a:buNone/>
            </a:pPr>
            <a:r>
              <a:rPr lang="en-US" sz="1000" b="1" dirty="0"/>
              <a:t>1.</a:t>
            </a:r>
            <a:endParaRPr lang="en-US" sz="1000" dirty="0"/>
          </a:p>
        </p:txBody>
      </p:sp>
      <p:sp>
        <p:nvSpPr>
          <p:cNvPr id="4" name="Text 2"/>
          <p:cNvSpPr/>
          <p:nvPr/>
        </p:nvSpPr>
        <p:spPr>
          <a:xfrm>
            <a:off x="530352" y="749808"/>
            <a:ext cx="4160520" cy="566928"/>
          </a:xfrm>
          <a:prstGeom prst="rect">
            <a:avLst/>
          </a:prstGeom>
          <a:noFill/>
          <a:ln/>
        </p:spPr>
        <p:txBody>
          <a:bodyPr wrap="square" lIns="0" tIns="0" rIns="0" bIns="0" rtlCol="0" anchor="t"/>
          <a:lstStyle/>
          <a:p>
            <a:r>
              <a:rPr lang="en-GB" sz="1050" dirty="0"/>
              <a:t>Australian Bureau of Statistics 2025, </a:t>
            </a:r>
            <a:r>
              <a:rPr lang="en-GB" sz="1050" i="1" dirty="0"/>
              <a:t>Retail Trade, Australia, March 2025</a:t>
            </a:r>
            <a:r>
              <a:rPr lang="en-GB" sz="1050" dirty="0"/>
              <a:t>, ABS, Canberra, viewed 7 May 2026, </a:t>
            </a:r>
            <a:r>
              <a:rPr lang="en-GB" sz="1050" dirty="0">
                <a:hlinkClick r:id="rId4"/>
              </a:rPr>
              <a:t>https://www.abs.gov.au/statistics/industry/retail-and-wholesale-trade/retail-trade-australia/mar-2025\&gt;</a:t>
            </a:r>
            <a:r>
              <a:rPr lang="en-GB" sz="1050" dirty="0"/>
              <a:t>.</a:t>
            </a:r>
            <a:endParaRPr lang="en-US" sz="1050" dirty="0"/>
          </a:p>
        </p:txBody>
      </p:sp>
      <p:sp>
        <p:nvSpPr>
          <p:cNvPr id="5" name="Text 3"/>
          <p:cNvSpPr/>
          <p:nvPr/>
        </p:nvSpPr>
        <p:spPr>
          <a:xfrm>
            <a:off x="274320" y="1417320"/>
            <a:ext cx="274320" cy="566928"/>
          </a:xfrm>
          <a:prstGeom prst="rect">
            <a:avLst/>
          </a:prstGeom>
          <a:noFill/>
          <a:ln/>
        </p:spPr>
        <p:txBody>
          <a:bodyPr wrap="square" lIns="0" tIns="0" rIns="0" bIns="0" rtlCol="0" anchor="t"/>
          <a:lstStyle/>
          <a:p>
            <a:pPr marL="0" indent="0">
              <a:buNone/>
            </a:pPr>
            <a:r>
              <a:rPr lang="en-US" sz="1000" b="1" dirty="0"/>
              <a:t>2.</a:t>
            </a:r>
            <a:endParaRPr lang="en-US" sz="1000" dirty="0"/>
          </a:p>
        </p:txBody>
      </p:sp>
      <p:sp>
        <p:nvSpPr>
          <p:cNvPr id="6" name="Text 4"/>
          <p:cNvSpPr/>
          <p:nvPr/>
        </p:nvSpPr>
        <p:spPr>
          <a:xfrm>
            <a:off x="530352" y="1417320"/>
            <a:ext cx="4160520" cy="566928"/>
          </a:xfrm>
          <a:prstGeom prst="rect">
            <a:avLst/>
          </a:prstGeom>
          <a:noFill/>
          <a:ln/>
        </p:spPr>
        <p:txBody>
          <a:bodyPr wrap="square" lIns="0" tIns="0" rIns="0" bIns="0" rtlCol="0" anchor="t"/>
          <a:lstStyle/>
          <a:p>
            <a:r>
              <a:rPr lang="en-GB" sz="1050" dirty="0"/>
              <a:t>Australian Bureau of Statistics 2025, </a:t>
            </a:r>
            <a:r>
              <a:rPr lang="en-GB" sz="1050" i="1" dirty="0"/>
              <a:t>Australian Agriculture: Horticulture, 2023–24 financial year</a:t>
            </a:r>
            <a:r>
              <a:rPr lang="en-GB" sz="1050" dirty="0"/>
              <a:t>, ABS, Canberra, viewed 2 May 2026, </a:t>
            </a:r>
            <a:r>
              <a:rPr lang="en-GB" sz="1050" dirty="0">
                <a:hlinkClick r:id="rId5"/>
              </a:rPr>
              <a:t>https://www.abs.gov.au/statistics/industry/agriculture/australian-agriculture-horticulture/latest-release\&gt;</a:t>
            </a:r>
            <a:r>
              <a:rPr lang="en-GB" sz="1050" dirty="0"/>
              <a:t>.</a:t>
            </a:r>
            <a:endParaRPr lang="en-US" sz="1050" dirty="0"/>
          </a:p>
        </p:txBody>
      </p:sp>
      <p:sp>
        <p:nvSpPr>
          <p:cNvPr id="7" name="Text 5"/>
          <p:cNvSpPr/>
          <p:nvPr/>
        </p:nvSpPr>
        <p:spPr>
          <a:xfrm>
            <a:off x="274320" y="2084832"/>
            <a:ext cx="274320" cy="566928"/>
          </a:xfrm>
          <a:prstGeom prst="rect">
            <a:avLst/>
          </a:prstGeom>
          <a:noFill/>
          <a:ln/>
        </p:spPr>
        <p:txBody>
          <a:bodyPr wrap="square" lIns="0" tIns="0" rIns="0" bIns="0" rtlCol="0" anchor="t"/>
          <a:lstStyle/>
          <a:p>
            <a:pPr marL="0" indent="0">
              <a:buNone/>
            </a:pPr>
            <a:r>
              <a:rPr lang="en-US" sz="1000" b="1" dirty="0"/>
              <a:t>3.</a:t>
            </a:r>
            <a:endParaRPr lang="en-US" sz="1000" dirty="0"/>
          </a:p>
        </p:txBody>
      </p:sp>
      <p:sp>
        <p:nvSpPr>
          <p:cNvPr id="8" name="Text 6"/>
          <p:cNvSpPr/>
          <p:nvPr/>
        </p:nvSpPr>
        <p:spPr>
          <a:xfrm>
            <a:off x="530352" y="2084832"/>
            <a:ext cx="4160520" cy="566928"/>
          </a:xfrm>
          <a:prstGeom prst="rect">
            <a:avLst/>
          </a:prstGeom>
          <a:noFill/>
          <a:ln/>
        </p:spPr>
        <p:txBody>
          <a:bodyPr wrap="square" lIns="0" tIns="0" rIns="0" bIns="0" rtlCol="0" anchor="t"/>
          <a:lstStyle/>
          <a:p>
            <a:r>
              <a:rPr lang="en-US" sz="1050" dirty="0"/>
              <a:t>Australian Bureau of Statistics 2025, Consumer Price Index, Australia, Australian Bureau of Statistics, Canberra.</a:t>
            </a:r>
          </a:p>
        </p:txBody>
      </p:sp>
      <p:sp>
        <p:nvSpPr>
          <p:cNvPr id="9" name="Text 7"/>
          <p:cNvSpPr/>
          <p:nvPr/>
        </p:nvSpPr>
        <p:spPr>
          <a:xfrm>
            <a:off x="274320" y="2752344"/>
            <a:ext cx="274320" cy="566928"/>
          </a:xfrm>
          <a:prstGeom prst="rect">
            <a:avLst/>
          </a:prstGeom>
          <a:noFill/>
          <a:ln/>
        </p:spPr>
        <p:txBody>
          <a:bodyPr wrap="square" lIns="0" tIns="0" rIns="0" bIns="0" rtlCol="0" anchor="t"/>
          <a:lstStyle/>
          <a:p>
            <a:pPr marL="0" indent="0">
              <a:buNone/>
            </a:pPr>
            <a:r>
              <a:rPr lang="en-US" sz="1000" b="1" dirty="0"/>
              <a:t>4.</a:t>
            </a:r>
            <a:endParaRPr lang="en-US" sz="1000" dirty="0"/>
          </a:p>
        </p:txBody>
      </p:sp>
      <p:sp>
        <p:nvSpPr>
          <p:cNvPr id="10" name="Text 8"/>
          <p:cNvSpPr/>
          <p:nvPr/>
        </p:nvSpPr>
        <p:spPr>
          <a:xfrm>
            <a:off x="530352" y="2752344"/>
            <a:ext cx="4160520" cy="566928"/>
          </a:xfrm>
          <a:prstGeom prst="rect">
            <a:avLst/>
          </a:prstGeom>
          <a:noFill/>
          <a:ln/>
        </p:spPr>
        <p:txBody>
          <a:bodyPr wrap="square" lIns="0" tIns="0" rIns="0" bIns="0" rtlCol="0" anchor="t"/>
          <a:lstStyle/>
          <a:p>
            <a:r>
              <a:rPr lang="en-GB" sz="1050" dirty="0"/>
              <a:t>KPMG Australia 2024, </a:t>
            </a:r>
            <a:r>
              <a:rPr lang="en-GB" sz="1050" i="1" dirty="0"/>
              <a:t>Australian Retail Outlook 2024</a:t>
            </a:r>
            <a:r>
              <a:rPr lang="en-GB" sz="1050" dirty="0"/>
              <a:t>, Inside Retail, Sydney, viewed 1 May 2026, </a:t>
            </a:r>
            <a:r>
              <a:rPr lang="en-GB" sz="1050" dirty="0">
                <a:hlinkClick r:id="rId6"/>
              </a:rPr>
              <a:t>https://assets.kpmg.com/content/dam/kpmgsites/au/pdf/2024/australian-retail-outlook-2024.pdf\&gt;</a:t>
            </a:r>
            <a:r>
              <a:rPr lang="en-GB" sz="1050" dirty="0"/>
              <a:t>.</a:t>
            </a:r>
            <a:endParaRPr lang="en-US" sz="1050" dirty="0"/>
          </a:p>
        </p:txBody>
      </p:sp>
      <p:sp>
        <p:nvSpPr>
          <p:cNvPr id="11" name="Text 9"/>
          <p:cNvSpPr/>
          <p:nvPr/>
        </p:nvSpPr>
        <p:spPr>
          <a:xfrm>
            <a:off x="274320" y="3419856"/>
            <a:ext cx="274320" cy="566928"/>
          </a:xfrm>
          <a:prstGeom prst="rect">
            <a:avLst/>
          </a:prstGeom>
          <a:noFill/>
          <a:ln/>
        </p:spPr>
        <p:txBody>
          <a:bodyPr wrap="square" lIns="0" tIns="0" rIns="0" bIns="0" rtlCol="0" anchor="t"/>
          <a:lstStyle/>
          <a:p>
            <a:pPr marL="0" indent="0">
              <a:buNone/>
            </a:pPr>
            <a:r>
              <a:rPr lang="en-US" sz="1000" b="1" dirty="0"/>
              <a:t>5.</a:t>
            </a:r>
            <a:endParaRPr lang="en-US" sz="1000" dirty="0"/>
          </a:p>
        </p:txBody>
      </p:sp>
      <p:sp>
        <p:nvSpPr>
          <p:cNvPr id="12" name="Text 10"/>
          <p:cNvSpPr/>
          <p:nvPr/>
        </p:nvSpPr>
        <p:spPr>
          <a:xfrm>
            <a:off x="530352" y="3419856"/>
            <a:ext cx="4160520" cy="566928"/>
          </a:xfrm>
          <a:prstGeom prst="rect">
            <a:avLst/>
          </a:prstGeom>
          <a:noFill/>
          <a:ln/>
        </p:spPr>
        <p:txBody>
          <a:bodyPr wrap="square" lIns="0" tIns="0" rIns="0" bIns="0" rtlCol="0" anchor="t"/>
          <a:lstStyle/>
          <a:p>
            <a:r>
              <a:rPr lang="en-US" sz="1050" dirty="0"/>
              <a:t>Malik, A, Lenzen, M, McAlister, S &amp; McGain, F 2022, 'Impacts of climate change on food supply chains in Australia', Nature Food, vol. 3, pp. 631–643.</a:t>
            </a:r>
          </a:p>
        </p:txBody>
      </p:sp>
      <p:sp>
        <p:nvSpPr>
          <p:cNvPr id="13" name="Text 11"/>
          <p:cNvSpPr/>
          <p:nvPr/>
        </p:nvSpPr>
        <p:spPr>
          <a:xfrm>
            <a:off x="274320" y="4087368"/>
            <a:ext cx="274320" cy="566928"/>
          </a:xfrm>
          <a:prstGeom prst="rect">
            <a:avLst/>
          </a:prstGeom>
          <a:noFill/>
          <a:ln/>
        </p:spPr>
        <p:txBody>
          <a:bodyPr wrap="square" lIns="0" tIns="0" rIns="0" bIns="0" rtlCol="0" anchor="t"/>
          <a:lstStyle/>
          <a:p>
            <a:pPr marL="0" indent="0">
              <a:buNone/>
            </a:pPr>
            <a:r>
              <a:rPr lang="en-US" sz="1000" b="1" dirty="0"/>
              <a:t>6.</a:t>
            </a:r>
            <a:endParaRPr lang="en-US" sz="1000" dirty="0"/>
          </a:p>
        </p:txBody>
      </p:sp>
      <p:sp>
        <p:nvSpPr>
          <p:cNvPr id="14" name="Text 12"/>
          <p:cNvSpPr/>
          <p:nvPr/>
        </p:nvSpPr>
        <p:spPr>
          <a:xfrm>
            <a:off x="530352" y="4087368"/>
            <a:ext cx="4160520" cy="566928"/>
          </a:xfrm>
          <a:prstGeom prst="rect">
            <a:avLst/>
          </a:prstGeom>
          <a:noFill/>
          <a:ln/>
        </p:spPr>
        <p:txBody>
          <a:bodyPr wrap="square" lIns="0" tIns="0" rIns="0" bIns="0" rtlCol="0" anchor="t"/>
          <a:lstStyle/>
          <a:p>
            <a:r>
              <a:rPr lang="en-US" sz="1050" dirty="0" err="1"/>
              <a:t>Falatouri</a:t>
            </a:r>
            <a:r>
              <a:rPr lang="en-US" sz="1050" dirty="0"/>
              <a:t>, T, </a:t>
            </a:r>
            <a:r>
              <a:rPr lang="en-US" sz="1050" dirty="0" err="1"/>
              <a:t>Darbanian</a:t>
            </a:r>
            <a:r>
              <a:rPr lang="en-US" sz="1050" dirty="0"/>
              <a:t>, F, Brandtner, P &amp; </a:t>
            </a:r>
            <a:r>
              <a:rPr lang="en-US" sz="1050" dirty="0" err="1"/>
              <a:t>Udokwu</a:t>
            </a:r>
            <a:r>
              <a:rPr lang="en-US" sz="1050" dirty="0"/>
              <a:t>, C 2022, 'Predictive analytics for demand forecasting', Procedia Computer Science, vol. 200, pp. 993–1003.</a:t>
            </a:r>
          </a:p>
        </p:txBody>
      </p:sp>
      <p:sp>
        <p:nvSpPr>
          <p:cNvPr id="15" name="Text 13"/>
          <p:cNvSpPr/>
          <p:nvPr/>
        </p:nvSpPr>
        <p:spPr>
          <a:xfrm>
            <a:off x="4709160" y="749808"/>
            <a:ext cx="274320" cy="566928"/>
          </a:xfrm>
          <a:prstGeom prst="rect">
            <a:avLst/>
          </a:prstGeom>
          <a:noFill/>
          <a:ln/>
        </p:spPr>
        <p:txBody>
          <a:bodyPr wrap="square" lIns="0" tIns="0" rIns="0" bIns="0" rtlCol="0" anchor="t"/>
          <a:lstStyle/>
          <a:p>
            <a:pPr marL="0" indent="0">
              <a:buNone/>
            </a:pPr>
            <a:r>
              <a:rPr lang="en-US" sz="1000" b="1" dirty="0"/>
              <a:t>7.</a:t>
            </a:r>
            <a:endParaRPr lang="en-US" sz="1000" dirty="0"/>
          </a:p>
        </p:txBody>
      </p:sp>
      <p:sp>
        <p:nvSpPr>
          <p:cNvPr id="16" name="Text 14"/>
          <p:cNvSpPr/>
          <p:nvPr/>
        </p:nvSpPr>
        <p:spPr>
          <a:xfrm>
            <a:off x="4974336" y="4146563"/>
            <a:ext cx="4160520" cy="566928"/>
          </a:xfrm>
          <a:prstGeom prst="rect">
            <a:avLst/>
          </a:prstGeom>
          <a:noFill/>
          <a:ln/>
        </p:spPr>
        <p:txBody>
          <a:bodyPr wrap="square" lIns="0" tIns="0" rIns="0" bIns="0" rtlCol="0" anchor="t"/>
          <a:lstStyle/>
          <a:p>
            <a:r>
              <a:rPr lang="en-US" sz="1050" dirty="0" err="1"/>
              <a:t>Sidabutar</a:t>
            </a:r>
            <a:r>
              <a:rPr lang="en-US" sz="1050" dirty="0"/>
              <a:t>, I &amp; Firmansyah, M 2023, 'A comparison of ARIMA and neural network models', Journal of Business Analytics, vol. 6, no. 2.</a:t>
            </a:r>
          </a:p>
        </p:txBody>
      </p:sp>
      <p:sp>
        <p:nvSpPr>
          <p:cNvPr id="17" name="Text 15"/>
          <p:cNvSpPr/>
          <p:nvPr/>
        </p:nvSpPr>
        <p:spPr>
          <a:xfrm>
            <a:off x="4709160" y="1417320"/>
            <a:ext cx="274320" cy="566928"/>
          </a:xfrm>
          <a:prstGeom prst="rect">
            <a:avLst/>
          </a:prstGeom>
          <a:noFill/>
          <a:ln/>
        </p:spPr>
        <p:txBody>
          <a:bodyPr wrap="square" lIns="0" tIns="0" rIns="0" bIns="0" rtlCol="0" anchor="t"/>
          <a:lstStyle/>
          <a:p>
            <a:pPr marL="0" indent="0">
              <a:buNone/>
            </a:pPr>
            <a:r>
              <a:rPr lang="en-US" sz="1000" b="1" dirty="0"/>
              <a:t>8.</a:t>
            </a:r>
            <a:endParaRPr lang="en-US" sz="1000" dirty="0"/>
          </a:p>
        </p:txBody>
      </p:sp>
      <p:sp>
        <p:nvSpPr>
          <p:cNvPr id="18" name="Text 16"/>
          <p:cNvSpPr/>
          <p:nvPr/>
        </p:nvSpPr>
        <p:spPr>
          <a:xfrm>
            <a:off x="4965192" y="1417320"/>
            <a:ext cx="4160520" cy="566928"/>
          </a:xfrm>
          <a:prstGeom prst="rect">
            <a:avLst/>
          </a:prstGeom>
          <a:noFill/>
          <a:ln/>
        </p:spPr>
        <p:txBody>
          <a:bodyPr wrap="square" lIns="0" tIns="0" rIns="0" bIns="0" rtlCol="0" anchor="t"/>
          <a:lstStyle/>
          <a:p>
            <a:r>
              <a:rPr lang="en-GB" sz="1050" dirty="0"/>
              <a:t>Bureau of Meteorology 2026, </a:t>
            </a:r>
            <a:r>
              <a:rPr lang="en-GB" sz="1050" i="1" dirty="0"/>
              <a:t>Annual Climate Statement 2025</a:t>
            </a:r>
            <a:r>
              <a:rPr lang="en-GB" sz="1050" dirty="0"/>
              <a:t>, Commonwealth of Australia, Canberra, viewed  1 May 2026, </a:t>
            </a:r>
            <a:r>
              <a:rPr lang="en-GB" sz="1050" dirty="0">
                <a:hlinkClick r:id="rId7"/>
              </a:rPr>
              <a:t>https://www.bom.gov.au/climate/current/annual/aus/2025/\&gt;</a:t>
            </a:r>
            <a:r>
              <a:rPr lang="en-GB" sz="1050" dirty="0"/>
              <a:t>.</a:t>
            </a:r>
            <a:endParaRPr lang="en-US" sz="1050" dirty="0"/>
          </a:p>
        </p:txBody>
      </p:sp>
      <p:sp>
        <p:nvSpPr>
          <p:cNvPr id="19" name="Text 17"/>
          <p:cNvSpPr/>
          <p:nvPr/>
        </p:nvSpPr>
        <p:spPr>
          <a:xfrm>
            <a:off x="4709160" y="2084832"/>
            <a:ext cx="274320" cy="566928"/>
          </a:xfrm>
          <a:prstGeom prst="rect">
            <a:avLst/>
          </a:prstGeom>
          <a:noFill/>
          <a:ln/>
        </p:spPr>
        <p:txBody>
          <a:bodyPr wrap="square" lIns="0" tIns="0" rIns="0" bIns="0" rtlCol="0" anchor="t"/>
          <a:lstStyle/>
          <a:p>
            <a:pPr marL="0" indent="0">
              <a:buNone/>
            </a:pPr>
            <a:r>
              <a:rPr lang="en-US" sz="1000" b="1" dirty="0"/>
              <a:t>9.</a:t>
            </a:r>
            <a:endParaRPr lang="en-US" sz="1000" dirty="0"/>
          </a:p>
        </p:txBody>
      </p:sp>
      <p:sp>
        <p:nvSpPr>
          <p:cNvPr id="20" name="Text 18"/>
          <p:cNvSpPr/>
          <p:nvPr/>
        </p:nvSpPr>
        <p:spPr>
          <a:xfrm>
            <a:off x="4965192" y="2084832"/>
            <a:ext cx="4160520" cy="566928"/>
          </a:xfrm>
          <a:prstGeom prst="rect">
            <a:avLst/>
          </a:prstGeom>
          <a:noFill/>
          <a:ln/>
        </p:spPr>
        <p:txBody>
          <a:bodyPr wrap="square" lIns="0" tIns="0" rIns="0" bIns="0" rtlCol="0" anchor="t"/>
          <a:lstStyle/>
          <a:p>
            <a:r>
              <a:rPr lang="en-GB" sz="1050" dirty="0"/>
              <a:t>Department for Environment and Water 2025, </a:t>
            </a:r>
            <a:r>
              <a:rPr lang="en-GB" sz="1050" i="1" dirty="0"/>
              <a:t>Annual Water Security Update 2025</a:t>
            </a:r>
            <a:r>
              <a:rPr lang="en-GB" sz="1050" dirty="0"/>
              <a:t>, Government of South Australia, Adelaide, viewed 5 May 2026, </a:t>
            </a:r>
            <a:r>
              <a:rPr lang="en-GB" sz="1050" dirty="0">
                <a:hlinkClick r:id="rId8"/>
              </a:rPr>
              <a:t>https://cdn.environment.sa.gov.au/environment/docs/DEW2500515-Attachment-1.pdf\&gt;</a:t>
            </a:r>
            <a:r>
              <a:rPr lang="en-GB" sz="1050" dirty="0"/>
              <a:t>.</a:t>
            </a:r>
            <a:r>
              <a:rPr lang="en-US" sz="1050" dirty="0"/>
              <a:t>.</a:t>
            </a:r>
          </a:p>
        </p:txBody>
      </p:sp>
      <p:sp>
        <p:nvSpPr>
          <p:cNvPr id="21" name="Text 19"/>
          <p:cNvSpPr/>
          <p:nvPr/>
        </p:nvSpPr>
        <p:spPr>
          <a:xfrm>
            <a:off x="4709160" y="2752344"/>
            <a:ext cx="274320" cy="566928"/>
          </a:xfrm>
          <a:prstGeom prst="rect">
            <a:avLst/>
          </a:prstGeom>
          <a:noFill/>
          <a:ln/>
        </p:spPr>
        <p:txBody>
          <a:bodyPr wrap="square" lIns="0" tIns="0" rIns="0" bIns="0" rtlCol="0" anchor="t"/>
          <a:lstStyle/>
          <a:p>
            <a:pPr marL="0" indent="0">
              <a:buNone/>
            </a:pPr>
            <a:r>
              <a:rPr lang="en-US" sz="1000" b="1" dirty="0"/>
              <a:t>10.</a:t>
            </a:r>
            <a:endParaRPr lang="en-US" sz="1000" dirty="0"/>
          </a:p>
        </p:txBody>
      </p:sp>
      <p:sp>
        <p:nvSpPr>
          <p:cNvPr id="22" name="Text 20"/>
          <p:cNvSpPr/>
          <p:nvPr/>
        </p:nvSpPr>
        <p:spPr>
          <a:xfrm>
            <a:off x="4965192" y="2752344"/>
            <a:ext cx="4160520" cy="566928"/>
          </a:xfrm>
          <a:prstGeom prst="rect">
            <a:avLst/>
          </a:prstGeom>
          <a:noFill/>
          <a:ln/>
        </p:spPr>
        <p:txBody>
          <a:bodyPr wrap="square" lIns="0" tIns="0" rIns="0" bIns="0" rtlCol="0" anchor="t"/>
          <a:lstStyle/>
          <a:p>
            <a:r>
              <a:rPr lang="en-GB" sz="1050" dirty="0"/>
              <a:t>Murray-Darling Basin Authority 2025, </a:t>
            </a:r>
            <a:r>
              <a:rPr lang="en-GB" sz="1050" i="1" dirty="0"/>
              <a:t>2025 Murray-Darling Basin Outlook: Summary Report</a:t>
            </a:r>
            <a:r>
              <a:rPr lang="en-GB" sz="1050" dirty="0"/>
              <a:t>, MDBA, Canberra, viewed 6 May 2026, </a:t>
            </a:r>
            <a:r>
              <a:rPr lang="en-GB" sz="1050" dirty="0">
                <a:hlinkClick r:id="rId9"/>
              </a:rPr>
              <a:t>https://www.mdba.gov.au/publications-and-data/publications/summary-outlook-basin\&gt;</a:t>
            </a:r>
            <a:r>
              <a:rPr lang="en-GB" sz="1050" dirty="0"/>
              <a:t>.</a:t>
            </a:r>
            <a:endParaRPr lang="en-US" sz="1050" dirty="0"/>
          </a:p>
        </p:txBody>
      </p:sp>
      <p:sp>
        <p:nvSpPr>
          <p:cNvPr id="23" name="Text 21"/>
          <p:cNvSpPr/>
          <p:nvPr/>
        </p:nvSpPr>
        <p:spPr>
          <a:xfrm>
            <a:off x="4709160" y="3419856"/>
            <a:ext cx="274320" cy="566928"/>
          </a:xfrm>
          <a:prstGeom prst="rect">
            <a:avLst/>
          </a:prstGeom>
          <a:noFill/>
          <a:ln/>
        </p:spPr>
        <p:txBody>
          <a:bodyPr wrap="square" lIns="0" tIns="0" rIns="0" bIns="0" rtlCol="0" anchor="t"/>
          <a:lstStyle/>
          <a:p>
            <a:pPr marL="0" indent="0">
              <a:buNone/>
            </a:pPr>
            <a:r>
              <a:rPr lang="en-US" sz="1000" b="1" dirty="0"/>
              <a:t>11.</a:t>
            </a:r>
            <a:endParaRPr lang="en-US" sz="1000" dirty="0"/>
          </a:p>
        </p:txBody>
      </p:sp>
      <p:sp>
        <p:nvSpPr>
          <p:cNvPr id="24" name="Text 22"/>
          <p:cNvSpPr/>
          <p:nvPr/>
        </p:nvSpPr>
        <p:spPr>
          <a:xfrm>
            <a:off x="4965192" y="3419856"/>
            <a:ext cx="4160520" cy="566928"/>
          </a:xfrm>
          <a:prstGeom prst="rect">
            <a:avLst/>
          </a:prstGeom>
          <a:noFill/>
          <a:ln/>
        </p:spPr>
        <p:txBody>
          <a:bodyPr wrap="square" lIns="0" tIns="0" rIns="0" bIns="0" rtlCol="0" anchor="t"/>
          <a:lstStyle/>
          <a:p>
            <a:r>
              <a:rPr lang="en-GB" sz="1050" dirty="0"/>
              <a:t>Climate Council of Australia 2015, </a:t>
            </a:r>
            <a:r>
              <a:rPr lang="en-GB" sz="1050" i="1" dirty="0"/>
              <a:t>Feeding a Hungry Nation: Climate Change, Food and Farming in Australia</a:t>
            </a:r>
            <a:r>
              <a:rPr lang="en-GB" sz="1050" dirty="0"/>
              <a:t>, Climate Council of Australia, Sydney, viewed 30 April 2026, </a:t>
            </a:r>
            <a:r>
              <a:rPr lang="en-GB" sz="1050" dirty="0">
                <a:hlinkClick r:id="rId10"/>
              </a:rPr>
              <a:t>https://www.climatecouncil.org.au/resources/foodsecurityreport2015/\&gt;</a:t>
            </a:r>
            <a:r>
              <a:rPr lang="en-GB" sz="1050" dirty="0"/>
              <a:t>.</a:t>
            </a:r>
            <a:endParaRPr lang="en-US" sz="1050" dirty="0"/>
          </a:p>
        </p:txBody>
      </p:sp>
      <p:sp>
        <p:nvSpPr>
          <p:cNvPr id="25" name="Text 23"/>
          <p:cNvSpPr/>
          <p:nvPr/>
        </p:nvSpPr>
        <p:spPr>
          <a:xfrm>
            <a:off x="4709160" y="4155707"/>
            <a:ext cx="274320" cy="566928"/>
          </a:xfrm>
          <a:prstGeom prst="rect">
            <a:avLst/>
          </a:prstGeom>
          <a:noFill/>
          <a:ln/>
        </p:spPr>
        <p:txBody>
          <a:bodyPr wrap="square" lIns="0" tIns="0" rIns="0" bIns="0" rtlCol="0" anchor="t"/>
          <a:lstStyle/>
          <a:p>
            <a:pPr marL="0" indent="0">
              <a:buNone/>
            </a:pPr>
            <a:r>
              <a:rPr lang="en-US" sz="1000" b="1" dirty="0"/>
              <a:t>12.</a:t>
            </a:r>
            <a:endParaRPr lang="en-US" sz="1000" dirty="0"/>
          </a:p>
        </p:txBody>
      </p:sp>
      <p:sp>
        <p:nvSpPr>
          <p:cNvPr id="26" name="Text 24"/>
          <p:cNvSpPr/>
          <p:nvPr/>
        </p:nvSpPr>
        <p:spPr>
          <a:xfrm>
            <a:off x="4946904" y="713232"/>
            <a:ext cx="4160520" cy="566928"/>
          </a:xfrm>
          <a:prstGeom prst="rect">
            <a:avLst/>
          </a:prstGeom>
          <a:noFill/>
          <a:ln/>
        </p:spPr>
        <p:txBody>
          <a:bodyPr wrap="square" lIns="0" tIns="0" rIns="0" bIns="0" rtlCol="0" anchor="t"/>
          <a:lstStyle/>
          <a:p>
            <a:r>
              <a:rPr lang="en-GB" sz="1050" dirty="0"/>
              <a:t>Australian Bureau of Statistics 2025, </a:t>
            </a:r>
            <a:r>
              <a:rPr lang="en-GB" sz="1050" i="1" dirty="0"/>
              <a:t>Water Account, Australia, 2023–24 financial year</a:t>
            </a:r>
            <a:r>
              <a:rPr lang="en-GB" sz="1050" dirty="0"/>
              <a:t>, ABS, Canberra, viewed 3 May 2026, </a:t>
            </a:r>
            <a:r>
              <a:rPr lang="en-GB" sz="1050" dirty="0">
                <a:hlinkClick r:id="rId11"/>
              </a:rPr>
              <a:t>https://www.abs.gov.au/statistics/environment/environmental-accounts/water-account-australia/latest-release\&gt;</a:t>
            </a:r>
            <a:r>
              <a:rPr lang="en-GB" sz="1050" dirty="0"/>
              <a:t>.</a:t>
            </a:r>
            <a:endParaRPr lang="en-US" sz="1050" dirty="0"/>
          </a:p>
        </p:txBody>
      </p:sp>
      <p:sp>
        <p:nvSpPr>
          <p:cNvPr id="32" name="TextBox 31">
            <a:extLst>
              <a:ext uri="{FF2B5EF4-FFF2-40B4-BE49-F238E27FC236}">
                <a16:creationId xmlns:a16="http://schemas.microsoft.com/office/drawing/2014/main" id="{94D509C2-7003-D036-95F9-E307532B86A3}"/>
              </a:ext>
            </a:extLst>
          </p:cNvPr>
          <p:cNvSpPr txBox="1"/>
          <p:nvPr/>
        </p:nvSpPr>
        <p:spPr>
          <a:xfrm>
            <a:off x="8862061" y="4876318"/>
            <a:ext cx="350520" cy="215444"/>
          </a:xfrm>
          <a:prstGeom prst="rect">
            <a:avLst/>
          </a:prstGeom>
          <a:noFill/>
        </p:spPr>
        <p:txBody>
          <a:bodyPr wrap="square" rtlCol="0">
            <a:spAutoFit/>
          </a:bodyPr>
          <a:lstStyle/>
          <a:p>
            <a:r>
              <a:rPr lang="en-AU" sz="800" dirty="0"/>
              <a:t>18</a:t>
            </a:r>
            <a:endParaRPr lang="en-AU"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TotalTime>
  <Words>3588</Words>
  <Application>Microsoft Office PowerPoint</Application>
  <PresentationFormat>On-screen Show (16:9)</PresentationFormat>
  <Paragraphs>429</Paragraphs>
  <Slides>18</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Amali Imalka Priyadarshani Wariyapperuma Appuhamilage</cp:lastModifiedBy>
  <cp:revision>28</cp:revision>
  <dcterms:created xsi:type="dcterms:W3CDTF">2026-05-07T03:24:25Z</dcterms:created>
  <dcterms:modified xsi:type="dcterms:W3CDTF">2026-05-09T09:33:31Z</dcterms:modified>
</cp:coreProperties>
</file>